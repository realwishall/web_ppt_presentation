
<file path=[Content_Types].xml><?xml version="1.0" encoding="utf-8"?>
<Types xmlns="http://schemas.openxmlformats.org/package/2006/content-types">
  <Default Extension="gif" ContentType="image/gif"/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 autoCompressPictures="0" bookmarkIdSeed="2">
  <p:sldMasterIdLst>
    <p:sldMasterId id="2147483793" r:id="rId4"/>
  </p:sldMasterIdLst>
  <p:notesMasterIdLst>
    <p:notesMasterId r:id="rId34"/>
  </p:notesMasterIdLst>
  <p:handoutMasterIdLst>
    <p:handoutMasterId r:id="rId35"/>
  </p:handoutMasterIdLst>
  <p:sldIdLst>
    <p:sldId id="527" r:id="rId5"/>
    <p:sldId id="1702" r:id="rId6"/>
    <p:sldId id="1703" r:id="rId7"/>
    <p:sldId id="1691" r:id="rId8"/>
    <p:sldId id="1697" r:id="rId9"/>
    <p:sldId id="1681" r:id="rId10"/>
    <p:sldId id="1682" r:id="rId11"/>
    <p:sldId id="1683" r:id="rId12"/>
    <p:sldId id="1692" r:id="rId13"/>
    <p:sldId id="1670" r:id="rId14"/>
    <p:sldId id="1704" r:id="rId15"/>
    <p:sldId id="1676" r:id="rId16"/>
    <p:sldId id="1695" r:id="rId17"/>
    <p:sldId id="1685" r:id="rId18"/>
    <p:sldId id="1678" r:id="rId19"/>
    <p:sldId id="1677" r:id="rId20"/>
    <p:sldId id="1684" r:id="rId21"/>
    <p:sldId id="1679" r:id="rId22"/>
    <p:sldId id="1688" r:id="rId23"/>
    <p:sldId id="1686" r:id="rId24"/>
    <p:sldId id="1705" r:id="rId25"/>
    <p:sldId id="1667" r:id="rId26"/>
    <p:sldId id="1666" r:id="rId27"/>
    <p:sldId id="1719" r:id="rId28"/>
    <p:sldId id="1721" r:id="rId29"/>
    <p:sldId id="1722" r:id="rId30"/>
    <p:sldId id="1723" r:id="rId31"/>
    <p:sldId id="1724" r:id="rId32"/>
    <p:sldId id="1725" r:id="rId33"/>
  </p:sldIdLst>
  <p:sldSz cx="12192000" cy="6858000"/>
  <p:notesSz cx="7102475" cy="102330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73" autoAdjust="0"/>
    <p:restoredTop sz="94249" autoAdjust="0"/>
  </p:normalViewPr>
  <p:slideViewPr>
    <p:cSldViewPr snapToGrid="0" showGuides="1">
      <p:cViewPr varScale="1">
        <p:scale>
          <a:sx n="78" d="100"/>
          <a:sy n="78" d="100"/>
        </p:scale>
        <p:origin x="744" y="7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59" d="100"/>
          <a:sy n="59" d="100"/>
        </p:scale>
        <p:origin x="3254" y="67"/>
      </p:cViewPr>
      <p:guideLst>
        <p:guide orient="horz" pos="3223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69671B-947A-44A3-A764-A91E66D469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31" tIns="49513" rIns="99031" bIns="49513" rtlCol="0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B23CC-4610-41C4-A0CF-67A30700C4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096" y="0"/>
            <a:ext cx="3077739" cy="513428"/>
          </a:xfrm>
          <a:prstGeom prst="rect">
            <a:avLst/>
          </a:prstGeom>
        </p:spPr>
        <p:txBody>
          <a:bodyPr vert="horz" lIns="99031" tIns="49513" rIns="99031" bIns="49513" rtlCol="0"/>
          <a:lstStyle>
            <a:lvl1pPr algn="r">
              <a:defRPr sz="1300"/>
            </a:lvl1pPr>
          </a:lstStyle>
          <a:p>
            <a:fld id="{C07299BE-0F96-4D8C-8AC3-AFAE1A841C66}" type="datetimeFigureOut">
              <a:rPr lang="en-US" smtClean="0"/>
              <a:t>3/24/2026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4FC55-2324-40BC-8420-15EC835D95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19602"/>
            <a:ext cx="3077739" cy="513427"/>
          </a:xfrm>
          <a:prstGeom prst="rect">
            <a:avLst/>
          </a:prstGeom>
        </p:spPr>
        <p:txBody>
          <a:bodyPr vert="horz" lIns="99031" tIns="49513" rIns="99031" bIns="49513" rtlCol="0" anchor="b"/>
          <a:lstStyle>
            <a:lvl1pPr algn="l">
              <a:defRPr sz="13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EC604-E5A5-4A58-AC5A-211F83D37C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096" y="9719602"/>
            <a:ext cx="3077739" cy="513427"/>
          </a:xfrm>
          <a:prstGeom prst="rect">
            <a:avLst/>
          </a:prstGeom>
        </p:spPr>
        <p:txBody>
          <a:bodyPr vert="horz" lIns="99031" tIns="49513" rIns="99031" bIns="49513" rtlCol="0" anchor="b"/>
          <a:lstStyle>
            <a:lvl1pPr algn="r">
              <a:defRPr sz="1300"/>
            </a:lvl1pPr>
          </a:lstStyle>
          <a:p>
            <a:fld id="{9E3B048B-0EBA-466F-928F-37073F3BFB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507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3428"/>
          </a:xfrm>
          <a:prstGeom prst="rect">
            <a:avLst/>
          </a:prstGeom>
        </p:spPr>
        <p:txBody>
          <a:bodyPr vert="horz" lIns="99031" tIns="49513" rIns="99031" bIns="49513" rtlCol="0"/>
          <a:lstStyle>
            <a:lvl1pPr algn="l">
              <a:defRPr sz="13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6" y="0"/>
            <a:ext cx="3077739" cy="513428"/>
          </a:xfrm>
          <a:prstGeom prst="rect">
            <a:avLst/>
          </a:prstGeom>
        </p:spPr>
        <p:txBody>
          <a:bodyPr vert="horz" lIns="99031" tIns="49513" rIns="99031" bIns="49513" rtlCol="0"/>
          <a:lstStyle>
            <a:lvl1pPr algn="r">
              <a:defRPr sz="1300"/>
            </a:lvl1pPr>
          </a:lstStyle>
          <a:p>
            <a:fld id="{454692AC-01A2-4EFF-966B-504F28E82D7A}" type="datetimeFigureOut">
              <a:rPr lang="en-US" noProof="0" smtClean="0"/>
              <a:t>3/24/2026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31" tIns="49513" rIns="99031" bIns="49513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924643"/>
            <a:ext cx="5681980" cy="4029254"/>
          </a:xfrm>
          <a:prstGeom prst="rect">
            <a:avLst/>
          </a:prstGeom>
        </p:spPr>
        <p:txBody>
          <a:bodyPr vert="horz" lIns="99031" tIns="49513" rIns="99031" bIns="49513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19602"/>
            <a:ext cx="3077739" cy="513427"/>
          </a:xfrm>
          <a:prstGeom prst="rect">
            <a:avLst/>
          </a:prstGeom>
        </p:spPr>
        <p:txBody>
          <a:bodyPr vert="horz" lIns="99031" tIns="49513" rIns="99031" bIns="49513" rtlCol="0" anchor="b"/>
          <a:lstStyle>
            <a:lvl1pPr algn="l">
              <a:defRPr sz="13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6" y="9719602"/>
            <a:ext cx="3077739" cy="513427"/>
          </a:xfrm>
          <a:prstGeom prst="rect">
            <a:avLst/>
          </a:prstGeom>
        </p:spPr>
        <p:txBody>
          <a:bodyPr vert="horz" lIns="99031" tIns="49513" rIns="99031" bIns="49513" rtlCol="0" anchor="b"/>
          <a:lstStyle>
            <a:lvl1pPr algn="r">
              <a:defRPr sz="1300"/>
            </a:lvl1pPr>
          </a:lstStyle>
          <a:p>
            <a:fld id="{4AED498D-6977-40EC-8E5E-7EB644D5E75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2264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457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F6620-902F-F1E8-D0D9-1D9196272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8CA7F7-AC5E-3278-7CC6-F660B609B9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A5E90-3E1F-7DAC-54BA-12ABCBA92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0FF17D-A900-F81A-AA83-8AC465EB2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2EFD5-5C38-B817-C796-04A3FDD4E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70014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B79B0-CB93-70C3-596B-42055B47E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7A89E-B411-A694-AA1E-55912893F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5091C-C81E-5AF1-AC2A-BD76B7480A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1C22A-E147-A0CA-E175-E36E046DF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8CC307-0F83-39C9-B790-DB6BA850B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3142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F7005-4F94-C14A-B08D-06E06F2B6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634A4-2496-A1D1-E0B5-F67E51292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C6CF5-C17A-E459-C756-62DC72406F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E126F-FF1F-2E4B-3D1B-8FDB96520B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1BDC35-902C-3E86-5533-00AD0BD81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4612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050B0-50F6-F9B9-F101-B92373B60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81E354-2DEF-881F-8F7F-35443EE567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A1D1B4-128C-FE76-2B34-49AD13709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C9B0F6-6220-D266-70E5-84B39CD751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E63F2-9487-B5BE-D84B-2114351C1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BCFFE2-DFBB-CFC7-7D3C-49DF357A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7496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26E2D-1AAC-05C0-F0A3-E276C86D0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9AFBC7-71DA-75A4-228D-B853B459B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4F27FE-F1F2-F525-74F7-44F0445F7A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498466-24EA-A1E4-F44D-96D6A8F6B7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3FA844-4070-FC83-2D70-55A12EE14F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B553BA-3A43-E72F-0FB2-67054AC44B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43EDD4-2330-F41D-27BB-F7D1B2B63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6A832F-BD38-688A-C952-C0DE85213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3670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9EAED-C54A-4E99-F5AC-1FBF9E541A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993DBF-970B-7D6F-E63E-1DDE012F03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564642-B2B6-70F5-E497-A00578846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5643AB-ADAB-A588-1016-09784CA8B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9931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CA4D4E-BDB6-1AE6-BDC3-3A468305C34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42083D-ED91-6AB8-7EC8-33DCC75D5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ACF1BE-E01D-3D32-F08F-A9F91DDB6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3165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6202F-BF1C-5F3D-5181-CE939F811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190BD2-2F2F-FC72-F3F3-F35DB7BEBF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70F44-1A0A-3E7B-6207-27502332F4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74CBC6-3820-365E-3ED3-4BFB50F722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43FD0-6798-91FF-6140-BB7D9058D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060421-A9DC-27AE-BA13-E4D230FAC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6743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FCD38-AACF-3C14-09E8-5CB12FE1A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3F5C9D-296F-A771-C92B-9F34E4250C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E70184-0A80-2879-18F6-7191F7195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EE481-E6B6-6A4D-7D09-D9F77134E8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CB1FE4-CB11-12F3-3D25-58ABC9006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0651D5-E1C1-9C56-D0C5-DCC467CE4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2048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0599A-8562-7673-8C71-A2546DFD3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C74FB-EC60-84BD-0B19-889B48783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03CBD-FA1F-863E-84E6-4C758688EC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28992C-6526-E8FB-26D1-515DEE88B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F3850-9CE1-E28F-C08C-0AAA523AA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783336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53BA0B-D795-5618-E8D1-2B9A19270A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847677-FB61-704E-CE6B-F037DE6D54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A825B-9248-EA7B-3259-E72FD34D7C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E475EB-670C-A0F8-D93A-600158E93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47FAD-4D4E-141B-FE0C-48C1330AC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9F0DE35-44CE-403C-9E04-F3AB7E0C6513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26027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3568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F119E1A-8310-F8FE-C575-2EB29045D925}"/>
              </a:ext>
            </a:extLst>
          </p:cNvPr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2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2F6693F-7DF4-2BFE-2257-60414133E79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31217" y="0"/>
            <a:ext cx="960783" cy="94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39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4" r:id="rId1"/>
    <p:sldLayoutId id="2147483795" r:id="rId2"/>
    <p:sldLayoutId id="2147483796" r:id="rId3"/>
    <p:sldLayoutId id="2147483797" r:id="rId4"/>
    <p:sldLayoutId id="2147483798" r:id="rId5"/>
    <p:sldLayoutId id="2147483799" r:id="rId6"/>
    <p:sldLayoutId id="2147483800" r:id="rId7"/>
    <p:sldLayoutId id="2147483801" r:id="rId8"/>
    <p:sldLayoutId id="2147483802" r:id="rId9"/>
    <p:sldLayoutId id="2147483803" r:id="rId10"/>
    <p:sldLayoutId id="2147483804" r:id="rId11"/>
    <p:sldLayoutId id="2147483805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41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13.png"/><Relationship Id="rId4" Type="http://schemas.openxmlformats.org/officeDocument/2006/relationships/image" Target="../media/image6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81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04.png"/><Relationship Id="rId4" Type="http://schemas.openxmlformats.org/officeDocument/2006/relationships/image" Target="../media/image4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2.png"/><Relationship Id="rId7" Type="http://schemas.openxmlformats.org/officeDocument/2006/relationships/image" Target="../media/image11.png"/><Relationship Id="rId2" Type="http://schemas.openxmlformats.org/officeDocument/2006/relationships/image" Target="../media/image6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0.png"/><Relationship Id="rId5" Type="http://schemas.openxmlformats.org/officeDocument/2006/relationships/image" Target="../media/image93.png"/><Relationship Id="rId4" Type="http://schemas.openxmlformats.org/officeDocument/2006/relationships/image" Target="../media/image8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11.png"/><Relationship Id="rId7" Type="http://schemas.microsoft.com/office/2017/06/relationships/model3d" Target="../media/model3d2.glb"/><Relationship Id="rId2" Type="http://schemas.openxmlformats.org/officeDocument/2006/relationships/image" Target="../media/image711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microsoft.com/office/2017/06/relationships/model3d" Target="../media/model3d1.glb"/><Relationship Id="rId4" Type="http://schemas.openxmlformats.org/officeDocument/2006/relationships/image" Target="../media/image92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20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" Type="http://schemas.openxmlformats.org/officeDocument/2006/relationships/image" Target="../media/image25.png"/><Relationship Id="rId16" Type="http://schemas.openxmlformats.org/officeDocument/2006/relationships/image" Target="../media/image5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18" Type="http://schemas.openxmlformats.org/officeDocument/2006/relationships/image" Target="../media/image67.png"/><Relationship Id="rId21" Type="http://schemas.openxmlformats.org/officeDocument/2006/relationships/image" Target="../media/image42.png"/><Relationship Id="rId7" Type="http://schemas.openxmlformats.org/officeDocument/2006/relationships/image" Target="../media/image400.png"/><Relationship Id="rId12" Type="http://schemas.openxmlformats.org/officeDocument/2006/relationships/image" Target="../media/image61.png"/><Relationship Id="rId17" Type="http://schemas.openxmlformats.org/officeDocument/2006/relationships/image" Target="../media/image66.png"/><Relationship Id="rId16" Type="http://schemas.openxmlformats.org/officeDocument/2006/relationships/image" Target="../media/image65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0.png"/><Relationship Id="rId11" Type="http://schemas.openxmlformats.org/officeDocument/2006/relationships/image" Target="../media/image60.png"/><Relationship Id="rId15" Type="http://schemas.openxmlformats.org/officeDocument/2006/relationships/image" Target="../media/image64.png"/><Relationship Id="rId23" Type="http://schemas.openxmlformats.org/officeDocument/2006/relationships/image" Target="../media/image44.png"/><Relationship Id="rId10" Type="http://schemas.openxmlformats.org/officeDocument/2006/relationships/image" Target="../media/image59.png"/><Relationship Id="rId19" Type="http://schemas.openxmlformats.org/officeDocument/2006/relationships/image" Target="../media/image68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Relationship Id="rId22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image" Target="../media/image29.png"/><Relationship Id="rId21" Type="http://schemas.openxmlformats.org/officeDocument/2006/relationships/image" Target="../media/image42.png"/><Relationship Id="rId7" Type="http://schemas.openxmlformats.org/officeDocument/2006/relationships/image" Target="../media/image69.png"/><Relationship Id="rId12" Type="http://schemas.openxmlformats.org/officeDocument/2006/relationships/image" Target="../media/image28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70.png"/><Relationship Id="rId11" Type="http://schemas.openxmlformats.org/officeDocument/2006/relationships/image" Target="../media/image73.png"/><Relationship Id="rId15" Type="http://schemas.openxmlformats.org/officeDocument/2006/relationships/image" Target="../media/image30.png"/><Relationship Id="rId23" Type="http://schemas.openxmlformats.org/officeDocument/2006/relationships/image" Target="../media/image44.png"/><Relationship Id="rId10" Type="http://schemas.openxmlformats.org/officeDocument/2006/relationships/image" Target="../media/image27.png"/><Relationship Id="rId9" Type="http://schemas.openxmlformats.org/officeDocument/2006/relationships/image" Target="../media/image26.png"/><Relationship Id="rId14" Type="http://schemas.openxmlformats.org/officeDocument/2006/relationships/image" Target="../media/image76.png"/><Relationship Id="rId22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75.png"/><Relationship Id="rId18" Type="http://schemas.openxmlformats.org/officeDocument/2006/relationships/image" Target="../media/image25.png"/><Relationship Id="rId3" Type="http://schemas.openxmlformats.org/officeDocument/2006/relationships/image" Target="../media/image32.png"/><Relationship Id="rId21" Type="http://schemas.openxmlformats.org/officeDocument/2006/relationships/image" Target="../media/image44.png"/><Relationship Id="rId7" Type="http://schemas.openxmlformats.org/officeDocument/2006/relationships/image" Target="../media/image36.png"/><Relationship Id="rId12" Type="http://schemas.openxmlformats.org/officeDocument/2006/relationships/image" Target="../media/image74.png"/><Relationship Id="rId17" Type="http://schemas.openxmlformats.org/officeDocument/2006/relationships/image" Target="../media/image80.png"/><Relationship Id="rId2" Type="http://schemas.openxmlformats.org/officeDocument/2006/relationships/image" Target="../media/image31.png"/><Relationship Id="rId16" Type="http://schemas.openxmlformats.org/officeDocument/2006/relationships/image" Target="../media/image79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5.png"/><Relationship Id="rId11" Type="http://schemas.openxmlformats.org/officeDocument/2006/relationships/image" Target="../media/image72.png"/><Relationship Id="rId5" Type="http://schemas.openxmlformats.org/officeDocument/2006/relationships/image" Target="../media/image34.png"/><Relationship Id="rId15" Type="http://schemas.openxmlformats.org/officeDocument/2006/relationships/image" Target="../media/image78.png"/><Relationship Id="rId10" Type="http://schemas.openxmlformats.org/officeDocument/2006/relationships/image" Target="../media/image71.png"/><Relationship Id="rId19" Type="http://schemas.openxmlformats.org/officeDocument/2006/relationships/image" Target="../media/image42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7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7" Type="http://schemas.openxmlformats.org/officeDocument/2006/relationships/image" Target="../media/image68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70.png"/><Relationship Id="rId11" Type="http://schemas.openxmlformats.org/officeDocument/2006/relationships/image" Target="../media/image44.png"/><Relationship Id="rId10" Type="http://schemas.openxmlformats.org/officeDocument/2006/relationships/image" Target="../media/image43.png"/><Relationship Id="rId9" Type="http://schemas.openxmlformats.org/officeDocument/2006/relationships/image" Target="../media/image4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0.png"/><Relationship Id="rId2" Type="http://schemas.openxmlformats.org/officeDocument/2006/relationships/image" Target="../media/image690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0.png"/><Relationship Id="rId13" Type="http://schemas.openxmlformats.org/officeDocument/2006/relationships/image" Target="../media/image821.png"/><Relationship Id="rId3" Type="http://schemas.openxmlformats.org/officeDocument/2006/relationships/image" Target="../media/image720.png"/><Relationship Id="rId7" Type="http://schemas.openxmlformats.org/officeDocument/2006/relationships/image" Target="../media/image760.png"/><Relationship Id="rId12" Type="http://schemas.openxmlformats.org/officeDocument/2006/relationships/image" Target="../media/image810.png"/><Relationship Id="rId2" Type="http://schemas.openxmlformats.org/officeDocument/2006/relationships/image" Target="../media/image710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50.png"/><Relationship Id="rId11" Type="http://schemas.openxmlformats.org/officeDocument/2006/relationships/image" Target="../media/image800.png"/><Relationship Id="rId5" Type="http://schemas.openxmlformats.org/officeDocument/2006/relationships/image" Target="../media/image740.png"/><Relationship Id="rId10" Type="http://schemas.openxmlformats.org/officeDocument/2006/relationships/image" Target="../media/image791.png"/><Relationship Id="rId4" Type="http://schemas.openxmlformats.org/officeDocument/2006/relationships/image" Target="../media/image730.png"/><Relationship Id="rId9" Type="http://schemas.openxmlformats.org/officeDocument/2006/relationships/image" Target="../media/image78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0.png"/><Relationship Id="rId2" Type="http://schemas.openxmlformats.org/officeDocument/2006/relationships/image" Target="../media/image78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4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0.png"/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0.png"/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092" name="Picture 4" descr="Describe the production and propagation of electromagnetic ..."/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8237484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AB512D56-3115-4658-A559-1918ADBF37B8}"/>
              </a:ext>
            </a:extLst>
          </p:cNvPr>
          <p:cNvSpPr txBox="1">
            <a:spLocks/>
          </p:cNvSpPr>
          <p:nvPr/>
        </p:nvSpPr>
        <p:spPr>
          <a:xfrm>
            <a:off x="3521075" y="3886198"/>
            <a:ext cx="7137263" cy="12801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8000" kern="1200" spc="-5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800" dirty="0">
                <a:solidFill>
                  <a:srgbClr val="FFFFFF"/>
                </a:solidFill>
              </a:rPr>
              <a:t>EM Wave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9548BE92-E817-4C9A-B197-64FAE3ED7D63}"/>
              </a:ext>
            </a:extLst>
          </p:cNvPr>
          <p:cNvSpPr txBox="1">
            <a:spLocks/>
          </p:cNvSpPr>
          <p:nvPr/>
        </p:nvSpPr>
        <p:spPr>
          <a:xfrm>
            <a:off x="8289580" y="5166359"/>
            <a:ext cx="3073745" cy="11887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None/>
              <a:defRPr sz="2400" kern="1200" cap="all" spc="200" baseline="0">
                <a:solidFill>
                  <a:schemeClr val="accent1">
                    <a:lumMod val="40000"/>
                    <a:lumOff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dirty="0"/>
              <a:t>info</a:t>
            </a:r>
          </a:p>
        </p:txBody>
      </p:sp>
    </p:spTree>
    <p:extLst>
      <p:ext uri="{BB962C8B-B14F-4D97-AF65-F5344CB8AC3E}">
        <p14:creationId xmlns:p14="http://schemas.microsoft.com/office/powerpoint/2010/main" val="10037166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EC6C89E-4AA7-6BF0-E9EA-F71985051D4D}"/>
              </a:ext>
            </a:extLst>
          </p:cNvPr>
          <p:cNvSpPr/>
          <p:nvPr/>
        </p:nvSpPr>
        <p:spPr>
          <a:xfrm>
            <a:off x="0" y="99530"/>
            <a:ext cx="10815496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Some basic wave knowledge is good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03DD63D-C353-CC49-5F02-7EC95B67F2C5}"/>
                  </a:ext>
                </a:extLst>
              </p:cNvPr>
              <p:cNvSpPr txBox="1"/>
              <p:nvPr/>
            </p:nvSpPr>
            <p:spPr>
              <a:xfrm>
                <a:off x="791500" y="1022860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𝑊𝑎𝑣𝑒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𝑒𝑞𝑢𝑎𝑡𝑖𝑜𝑛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03DD63D-C353-CC49-5F02-7EC95B67F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500" y="1022860"/>
                <a:ext cx="914400" cy="523220"/>
              </a:xfrm>
              <a:prstGeom prst="rect">
                <a:avLst/>
              </a:prstGeom>
              <a:blipFill>
                <a:blip r:embed="rId2"/>
                <a:stretch>
                  <a:fillRect r="-172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92F1C12-B5B0-F9C5-86D9-937B8C231166}"/>
                  </a:ext>
                </a:extLst>
              </p:cNvPr>
              <p:cNvSpPr txBox="1"/>
              <p:nvPr/>
            </p:nvSpPr>
            <p:spPr>
              <a:xfrm>
                <a:off x="791500" y="1562512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𝐻𝑜𝑤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𝑖𝑑𝑒𝑛𝑡𝑖𝑓𝑦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92F1C12-B5B0-F9C5-86D9-937B8C2311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500" y="1562512"/>
                <a:ext cx="914400" cy="523220"/>
              </a:xfrm>
              <a:prstGeom prst="rect">
                <a:avLst/>
              </a:prstGeom>
              <a:blipFill>
                <a:blip r:embed="rId3"/>
                <a:stretch>
                  <a:fillRect r="-22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9C7445-FF8A-853A-528A-F1110A067C77}"/>
                  </a:ext>
                </a:extLst>
              </p:cNvPr>
              <p:cNvSpPr txBox="1"/>
              <p:nvPr/>
            </p:nvSpPr>
            <p:spPr>
              <a:xfrm>
                <a:off x="791500" y="2102164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𝐻𝑜𝑤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𝑖𝑑𝑒𝑛𝑡𝑖𝑓𝑦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79C7445-FF8A-853A-528A-F1110A067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500" y="2102164"/>
                <a:ext cx="914400" cy="523220"/>
              </a:xfrm>
              <a:prstGeom prst="rect">
                <a:avLst/>
              </a:prstGeom>
              <a:blipFill>
                <a:blip r:embed="rId4"/>
                <a:stretch>
                  <a:fillRect r="-2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8C7CBBE-938A-E387-DE07-285F43302DC4}"/>
                  </a:ext>
                </a:extLst>
              </p:cNvPr>
              <p:cNvSpPr txBox="1"/>
              <p:nvPr/>
            </p:nvSpPr>
            <p:spPr>
              <a:xfrm>
                <a:off x="791500" y="2641816"/>
                <a:ext cx="217784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𝑊h𝑎𝑡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8C7CBBE-938A-E387-DE07-285F43302D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500" y="2641816"/>
                <a:ext cx="217784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A589726-8D39-00E0-4AF3-777DD7BBFEA3}"/>
                  </a:ext>
                </a:extLst>
              </p:cNvPr>
              <p:cNvSpPr txBox="1"/>
              <p:nvPr/>
            </p:nvSpPr>
            <p:spPr>
              <a:xfrm>
                <a:off x="791500" y="3181468"/>
                <a:ext cx="182388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A589726-8D39-00E0-4AF3-777DD7BBFE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500" y="3181468"/>
                <a:ext cx="182388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FF4DB7D-A669-5FF3-8BDD-75E4F9C3CFA1}"/>
                  </a:ext>
                </a:extLst>
              </p:cNvPr>
              <p:cNvSpPr txBox="1"/>
              <p:nvPr/>
            </p:nvSpPr>
            <p:spPr>
              <a:xfrm>
                <a:off x="791500" y="3704688"/>
                <a:ext cx="182388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𝐻𝑜𝑤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𝑡𝑜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𝑠𝑒𝑒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𝑤𝑎𝑣𝑒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𝑑𝑖𝑟𝑒𝑐𝑡𝑖𝑜𝑛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FF4DB7D-A669-5FF3-8BDD-75E4F9C3CF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500" y="3704688"/>
                <a:ext cx="1823884" cy="523220"/>
              </a:xfrm>
              <a:prstGeom prst="rect">
                <a:avLst/>
              </a:prstGeom>
              <a:blipFill>
                <a:blip r:embed="rId7"/>
                <a:stretch>
                  <a:fillRect r="-1354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7C6AE9D-C2E9-FD07-CC6E-3A3C8AA20C75}"/>
                  </a:ext>
                </a:extLst>
              </p:cNvPr>
              <p:cNvSpPr txBox="1"/>
              <p:nvPr/>
            </p:nvSpPr>
            <p:spPr>
              <a:xfrm>
                <a:off x="791499" y="4187200"/>
                <a:ext cx="10318953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𝑊𝑎𝑣𝑒</m:t>
                    </m:r>
                    <m:r>
                      <a:rPr lang="en-I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𝑝𝑎𝑟𝑎𝑚𝑒𝑡𝑒𝑟</m:t>
                    </m:r>
                    <m:r>
                      <a:rPr lang="en-I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I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𝑙𝑖𝑘𝑒</m:t>
                    </m:r>
                    <m:r>
                      <a:rPr lang="en-I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</a:rPr>
                  <a:t>Time period, Frequency, Wavelength, Propagation constant, 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7C6AE9D-C2E9-FD07-CC6E-3A3C8AA20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499" y="4187200"/>
                <a:ext cx="10318953" cy="954107"/>
              </a:xfrm>
              <a:prstGeom prst="rect">
                <a:avLst/>
              </a:prstGeom>
              <a:blipFill>
                <a:blip r:embed="rId8"/>
                <a:stretch>
                  <a:fillRect l="-1240" t="-6410" b="-179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54007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C8C1502-A1D7-FC83-AB24-C36A0E48C867}"/>
              </a:ext>
            </a:extLst>
          </p:cNvPr>
          <p:cNvSpPr/>
          <p:nvPr/>
        </p:nvSpPr>
        <p:spPr>
          <a:xfrm>
            <a:off x="0" y="2762865"/>
            <a:ext cx="63628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Displacement current</a:t>
            </a:r>
          </a:p>
        </p:txBody>
      </p:sp>
    </p:spTree>
    <p:extLst>
      <p:ext uri="{BB962C8B-B14F-4D97-AF65-F5344CB8AC3E}">
        <p14:creationId xmlns:p14="http://schemas.microsoft.com/office/powerpoint/2010/main" val="1490892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A4FAD-E077-4779-F002-12F80A1EF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91CC757-9B42-0D4C-6783-3B6B3FB5D3C9}"/>
              </a:ext>
            </a:extLst>
          </p:cNvPr>
          <p:cNvSpPr/>
          <p:nvPr/>
        </p:nvSpPr>
        <p:spPr>
          <a:xfrm>
            <a:off x="0" y="0"/>
            <a:ext cx="636289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Displacement current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3752C1B-66F3-DDDE-E06A-4C3D630E3F3B}"/>
              </a:ext>
            </a:extLst>
          </p:cNvPr>
          <p:cNvSpPr/>
          <p:nvPr/>
        </p:nvSpPr>
        <p:spPr>
          <a:xfrm>
            <a:off x="5887098" y="1458013"/>
            <a:ext cx="1145963" cy="45719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7BE6337F-A801-699A-C557-D4BB1E58461B}"/>
              </a:ext>
            </a:extLst>
          </p:cNvPr>
          <p:cNvGrpSpPr/>
          <p:nvPr/>
        </p:nvGrpSpPr>
        <p:grpSpPr>
          <a:xfrm>
            <a:off x="5847646" y="803950"/>
            <a:ext cx="801787" cy="1364732"/>
            <a:chOff x="5847646" y="803950"/>
            <a:chExt cx="801787" cy="1364732"/>
          </a:xfrm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B97418CA-D8C7-DB4F-CDEE-99B9C333EC75}"/>
                </a:ext>
              </a:extLst>
            </p:cNvPr>
            <p:cNvSpPr/>
            <p:nvPr/>
          </p:nvSpPr>
          <p:spPr>
            <a:xfrm>
              <a:off x="6419125" y="803950"/>
              <a:ext cx="230308" cy="1364732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8575">
              <a:solidFill>
                <a:schemeClr val="bg1"/>
              </a:solidFill>
            </a:ln>
            <a:effectLst>
              <a:glow rad="1016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677C8131-BF08-88A9-B484-D4B237F0AE4D}"/>
                </a:ext>
              </a:extLst>
            </p:cNvPr>
            <p:cNvSpPr/>
            <p:nvPr/>
          </p:nvSpPr>
          <p:spPr>
            <a:xfrm>
              <a:off x="5847646" y="1458013"/>
              <a:ext cx="690266" cy="4571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57" name="Oval 56">
            <a:extLst>
              <a:ext uri="{FF2B5EF4-FFF2-40B4-BE49-F238E27FC236}">
                <a16:creationId xmlns:a16="http://schemas.microsoft.com/office/drawing/2014/main" id="{92D594A5-6EF1-BEA9-5EFF-B8E62C0D948E}"/>
              </a:ext>
            </a:extLst>
          </p:cNvPr>
          <p:cNvSpPr/>
          <p:nvPr/>
        </p:nvSpPr>
        <p:spPr>
          <a:xfrm>
            <a:off x="6419125" y="3557134"/>
            <a:ext cx="230308" cy="1364732"/>
          </a:xfrm>
          <a:prstGeom prst="ellipse">
            <a:avLst/>
          </a:prstGeom>
          <a:noFill/>
          <a:ln w="28575">
            <a:solidFill>
              <a:schemeClr val="bg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881E8156-0070-EFED-1C95-5DF4915D8884}"/>
              </a:ext>
            </a:extLst>
          </p:cNvPr>
          <p:cNvSpPr/>
          <p:nvPr/>
        </p:nvSpPr>
        <p:spPr>
          <a:xfrm>
            <a:off x="6532880" y="3286409"/>
            <a:ext cx="1047967" cy="1854877"/>
          </a:xfrm>
          <a:custGeom>
            <a:avLst/>
            <a:gdLst>
              <a:gd name="connsiteX0" fmla="*/ 0 w 1047967"/>
              <a:gd name="connsiteY0" fmla="*/ 289911 h 1854877"/>
              <a:gd name="connsiteX1" fmla="*/ 548640 w 1047967"/>
              <a:gd name="connsiteY1" fmla="*/ 5431 h 1854877"/>
              <a:gd name="connsiteX2" fmla="*/ 995680 w 1047967"/>
              <a:gd name="connsiteY2" fmla="*/ 513431 h 1854877"/>
              <a:gd name="connsiteX3" fmla="*/ 965200 w 1047967"/>
              <a:gd name="connsiteY3" fmla="*/ 1620871 h 1854877"/>
              <a:gd name="connsiteX4" fmla="*/ 335280 w 1047967"/>
              <a:gd name="connsiteY4" fmla="*/ 1854551 h 1854877"/>
              <a:gd name="connsiteX5" fmla="*/ 10160 w 1047967"/>
              <a:gd name="connsiteY5" fmla="*/ 1661511 h 1854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7967" h="1854877">
                <a:moveTo>
                  <a:pt x="0" y="289911"/>
                </a:moveTo>
                <a:cubicBezTo>
                  <a:pt x="191346" y="129044"/>
                  <a:pt x="382693" y="-31822"/>
                  <a:pt x="548640" y="5431"/>
                </a:cubicBezTo>
                <a:cubicBezTo>
                  <a:pt x="714587" y="42684"/>
                  <a:pt x="926253" y="244191"/>
                  <a:pt x="995680" y="513431"/>
                </a:cubicBezTo>
                <a:cubicBezTo>
                  <a:pt x="1065107" y="782671"/>
                  <a:pt x="1075267" y="1397351"/>
                  <a:pt x="965200" y="1620871"/>
                </a:cubicBezTo>
                <a:cubicBezTo>
                  <a:pt x="855133" y="1844391"/>
                  <a:pt x="494453" y="1847778"/>
                  <a:pt x="335280" y="1854551"/>
                </a:cubicBezTo>
                <a:cubicBezTo>
                  <a:pt x="176107" y="1861324"/>
                  <a:pt x="93133" y="1761417"/>
                  <a:pt x="10160" y="1661511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30316BC-FFAB-2FF6-DE07-3DFC2CBEA3BC}"/>
              </a:ext>
            </a:extLst>
          </p:cNvPr>
          <p:cNvSpPr txBox="1"/>
          <p:nvPr/>
        </p:nvSpPr>
        <p:spPr>
          <a:xfrm>
            <a:off x="82653" y="1022786"/>
            <a:ext cx="53721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800" dirty="0">
                <a:solidFill>
                  <a:schemeClr val="bg1"/>
                </a:solidFill>
              </a:rPr>
              <a:t>Let us consider an </a:t>
            </a:r>
            <a:r>
              <a:rPr lang="en-IN" sz="2800" dirty="0">
                <a:solidFill>
                  <a:srgbClr val="FFFF00"/>
                </a:solidFill>
              </a:rPr>
              <a:t>Ampere loop around a plate of capacitor.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35DCBB1-B3A5-52AD-C6F9-41A73D826FD7}"/>
                  </a:ext>
                </a:extLst>
              </p:cNvPr>
              <p:cNvSpPr txBox="1"/>
              <p:nvPr/>
            </p:nvSpPr>
            <p:spPr>
              <a:xfrm>
                <a:off x="50435" y="1958443"/>
                <a:ext cx="3503646" cy="12225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subHide m:val="on"/>
                          <m:supHide m:val="on"/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𝑑𝑙</m:t>
                          </m:r>
                        </m:e>
                      </m:nary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35DCBB1-B3A5-52AD-C6F9-41A73D826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35" y="1958443"/>
                <a:ext cx="3503646" cy="122251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72D97FF-C346-7565-05C2-07D3BF70CF7D}"/>
                  </a:ext>
                </a:extLst>
              </p:cNvPr>
              <p:cNvSpPr txBox="1"/>
              <p:nvPr/>
            </p:nvSpPr>
            <p:spPr>
              <a:xfrm>
                <a:off x="2397760" y="2246726"/>
                <a:ext cx="14487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072D97FF-C346-7565-05C2-07D3BF70CF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7760" y="2246726"/>
                <a:ext cx="1448755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TextBox 62">
            <a:extLst>
              <a:ext uri="{FF2B5EF4-FFF2-40B4-BE49-F238E27FC236}">
                <a16:creationId xmlns:a16="http://schemas.microsoft.com/office/drawing/2014/main" id="{C09C1759-0D7E-3D6B-2C1F-A932B28F360E}"/>
              </a:ext>
            </a:extLst>
          </p:cNvPr>
          <p:cNvSpPr txBox="1"/>
          <p:nvPr/>
        </p:nvSpPr>
        <p:spPr>
          <a:xfrm>
            <a:off x="76128" y="2880686"/>
            <a:ext cx="537213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2800" dirty="0">
                <a:solidFill>
                  <a:schemeClr val="bg1"/>
                </a:solidFill>
              </a:rPr>
              <a:t>Now same boundary but different surface as shown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A06EB1BC-D625-C8B6-3418-DFAAE9F0FA04}"/>
                  </a:ext>
                </a:extLst>
              </p:cNvPr>
              <p:cNvSpPr txBox="1"/>
              <p:nvPr/>
            </p:nvSpPr>
            <p:spPr>
              <a:xfrm>
                <a:off x="0" y="3860052"/>
                <a:ext cx="3503646" cy="12225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subHide m:val="on"/>
                          <m:supHide m:val="on"/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𝑑𝑙</m:t>
                          </m:r>
                        </m:e>
                      </m:nary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A06EB1BC-D625-C8B6-3418-DFAAE9F0FA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860052"/>
                <a:ext cx="3503646" cy="122251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EEDD722-EF6B-E739-77C0-2BB2231DEC7C}"/>
                  </a:ext>
                </a:extLst>
              </p:cNvPr>
              <p:cNvSpPr txBox="1"/>
              <p:nvPr/>
            </p:nvSpPr>
            <p:spPr>
              <a:xfrm>
                <a:off x="2347325" y="4148335"/>
                <a:ext cx="144875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EEDD722-EF6B-E739-77C0-2BB2231DEC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7325" y="4148335"/>
                <a:ext cx="144875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Rectangle 66">
            <a:extLst>
              <a:ext uri="{FF2B5EF4-FFF2-40B4-BE49-F238E27FC236}">
                <a16:creationId xmlns:a16="http://schemas.microsoft.com/office/drawing/2014/main" id="{DCF21F85-8E6F-A5FB-BBB7-1AFC93626DD6}"/>
              </a:ext>
            </a:extLst>
          </p:cNvPr>
          <p:cNvSpPr/>
          <p:nvPr/>
        </p:nvSpPr>
        <p:spPr>
          <a:xfrm>
            <a:off x="4084842" y="2482211"/>
            <a:ext cx="1604927" cy="37702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39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?</a:t>
            </a:r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99D0969B-B1B8-518D-4363-2643AC030B6C}"/>
              </a:ext>
            </a:extLst>
          </p:cNvPr>
          <p:cNvGrpSpPr/>
          <p:nvPr/>
        </p:nvGrpSpPr>
        <p:grpSpPr>
          <a:xfrm>
            <a:off x="5847646" y="1003100"/>
            <a:ext cx="3948724" cy="2242397"/>
            <a:chOff x="5847646" y="1003100"/>
            <a:chExt cx="3948724" cy="2242397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9C110EB9-4AF2-7711-EEF0-5A218F9B7665}"/>
                </a:ext>
              </a:extLst>
            </p:cNvPr>
            <p:cNvGrpSpPr/>
            <p:nvPr/>
          </p:nvGrpSpPr>
          <p:grpSpPr>
            <a:xfrm>
              <a:off x="5847646" y="1003100"/>
              <a:ext cx="3948724" cy="2242397"/>
              <a:chOff x="769414" y="1363773"/>
              <a:chExt cx="4576024" cy="2598627"/>
            </a:xfrm>
          </p:grpSpPr>
          <p:sp>
            <p:nvSpPr>
              <p:cNvPr id="3" name="Oval 2">
                <a:extLst>
                  <a:ext uri="{FF2B5EF4-FFF2-40B4-BE49-F238E27FC236}">
                    <a16:creationId xmlns:a16="http://schemas.microsoft.com/office/drawing/2014/main" id="{D56A33EB-C1BD-405C-F061-E848848FBBDF}"/>
                  </a:ext>
                </a:extLst>
              </p:cNvPr>
              <p:cNvSpPr/>
              <p:nvPr/>
            </p:nvSpPr>
            <p:spPr>
              <a:xfrm>
                <a:off x="2044532" y="1363774"/>
                <a:ext cx="270588" cy="1054359"/>
              </a:xfrm>
              <a:prstGeom prst="ellips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B8F072C6-C3CF-78A4-45FC-2DBEA8B3A550}"/>
                  </a:ext>
                </a:extLst>
              </p:cNvPr>
              <p:cNvSpPr/>
              <p:nvPr/>
            </p:nvSpPr>
            <p:spPr>
              <a:xfrm rot="10800000">
                <a:off x="3602338" y="1363773"/>
                <a:ext cx="270588" cy="1054359"/>
              </a:xfrm>
              <a:prstGeom prst="ellipse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5CB09A0-6686-FD4E-60D1-A42BFBA08301}"/>
                  </a:ext>
                </a:extLst>
              </p:cNvPr>
              <p:cNvSpPr/>
              <p:nvPr/>
            </p:nvSpPr>
            <p:spPr>
              <a:xfrm rot="10800000">
                <a:off x="3861872" y="1890952"/>
                <a:ext cx="1483566" cy="65315"/>
              </a:xfrm>
              <a:prstGeom prst="rect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DCFF5AA-3D6B-9CC9-4D7B-440EF4907036}"/>
                  </a:ext>
                </a:extLst>
              </p:cNvPr>
              <p:cNvSpPr/>
              <p:nvPr/>
            </p:nvSpPr>
            <p:spPr>
              <a:xfrm>
                <a:off x="769414" y="1950097"/>
                <a:ext cx="45719" cy="1614198"/>
              </a:xfrm>
              <a:prstGeom prst="rect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A0BD0AE-743D-370E-735E-A436DC4E3507}"/>
                  </a:ext>
                </a:extLst>
              </p:cNvPr>
              <p:cNvSpPr/>
              <p:nvPr/>
            </p:nvSpPr>
            <p:spPr>
              <a:xfrm>
                <a:off x="769414" y="3498980"/>
                <a:ext cx="2654507" cy="65315"/>
              </a:xfrm>
              <a:prstGeom prst="rect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3B1862D-7D7D-6F02-EB32-8AE470CBF89C}"/>
                  </a:ext>
                </a:extLst>
              </p:cNvPr>
              <p:cNvSpPr/>
              <p:nvPr/>
            </p:nvSpPr>
            <p:spPr>
              <a:xfrm rot="10800000">
                <a:off x="3737633" y="3498981"/>
                <a:ext cx="1590144" cy="65314"/>
              </a:xfrm>
              <a:prstGeom prst="rect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9B25CF47-AA8D-6863-2618-F91E1F591A19}"/>
                  </a:ext>
                </a:extLst>
              </p:cNvPr>
              <p:cNvSpPr/>
              <p:nvPr/>
            </p:nvSpPr>
            <p:spPr>
              <a:xfrm>
                <a:off x="5275459" y="1890952"/>
                <a:ext cx="52982" cy="1673344"/>
              </a:xfrm>
              <a:prstGeom prst="rect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12ED437-2149-BE0B-1151-0B70E60E003C}"/>
                  </a:ext>
                </a:extLst>
              </p:cNvPr>
              <p:cNvSpPr/>
              <p:nvPr/>
            </p:nvSpPr>
            <p:spPr>
              <a:xfrm>
                <a:off x="3423921" y="3077857"/>
                <a:ext cx="45719" cy="884543"/>
              </a:xfrm>
              <a:prstGeom prst="rect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97DEB3E-6EAC-B95B-3BC1-7FF5CDAA6E09}"/>
                  </a:ext>
                </a:extLst>
              </p:cNvPr>
              <p:cNvSpPr/>
              <p:nvPr/>
            </p:nvSpPr>
            <p:spPr>
              <a:xfrm>
                <a:off x="3691914" y="3316617"/>
                <a:ext cx="45719" cy="523863"/>
              </a:xfrm>
              <a:prstGeom prst="rect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</p:grpSp>
        <p:sp>
          <p:nvSpPr>
            <p:cNvPr id="70" name="Arrow: Right 69">
              <a:extLst>
                <a:ext uri="{FF2B5EF4-FFF2-40B4-BE49-F238E27FC236}">
                  <a16:creationId xmlns:a16="http://schemas.microsoft.com/office/drawing/2014/main" id="{7911DE56-67DD-657D-170A-7DA4C5DAC849}"/>
                </a:ext>
              </a:extLst>
            </p:cNvPr>
            <p:cNvSpPr/>
            <p:nvPr/>
          </p:nvSpPr>
          <p:spPr>
            <a:xfrm>
              <a:off x="5961298" y="1351306"/>
              <a:ext cx="383627" cy="259132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D49FAC7-4F93-535B-9F55-2563424D9D40}"/>
              </a:ext>
            </a:extLst>
          </p:cNvPr>
          <p:cNvGrpSpPr/>
          <p:nvPr/>
        </p:nvGrpSpPr>
        <p:grpSpPr>
          <a:xfrm>
            <a:off x="5744654" y="3756284"/>
            <a:ext cx="4051716" cy="2242397"/>
            <a:chOff x="5744654" y="3756284"/>
            <a:chExt cx="4051716" cy="2242397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C4FF8BC2-63E8-2A3D-D9B6-EF10B644F71B}"/>
                </a:ext>
              </a:extLst>
            </p:cNvPr>
            <p:cNvGrpSpPr/>
            <p:nvPr/>
          </p:nvGrpSpPr>
          <p:grpSpPr>
            <a:xfrm>
              <a:off x="5744654" y="3756284"/>
              <a:ext cx="4051716" cy="2242397"/>
              <a:chOff x="5744654" y="3756284"/>
              <a:chExt cx="4051716" cy="2242397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C3AC5872-640F-156A-7079-595E8139998D}"/>
                  </a:ext>
                </a:extLst>
              </p:cNvPr>
              <p:cNvSpPr/>
              <p:nvPr/>
            </p:nvSpPr>
            <p:spPr>
              <a:xfrm>
                <a:off x="5847646" y="4211197"/>
                <a:ext cx="690266" cy="45719"/>
              </a:xfrm>
              <a:prstGeom prst="rect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73" name="Group 72">
                <a:extLst>
                  <a:ext uri="{FF2B5EF4-FFF2-40B4-BE49-F238E27FC236}">
                    <a16:creationId xmlns:a16="http://schemas.microsoft.com/office/drawing/2014/main" id="{28BC8521-AAE4-7F5F-CFD0-05C254EA0373}"/>
                  </a:ext>
                </a:extLst>
              </p:cNvPr>
              <p:cNvGrpSpPr/>
              <p:nvPr/>
            </p:nvGrpSpPr>
            <p:grpSpPr>
              <a:xfrm>
                <a:off x="5744654" y="3756284"/>
                <a:ext cx="4051716" cy="2242397"/>
                <a:chOff x="5744654" y="3756284"/>
                <a:chExt cx="4051716" cy="2242397"/>
              </a:xfrm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36115835-1A59-423A-2428-BEF289E93946}"/>
                    </a:ext>
                  </a:extLst>
                </p:cNvPr>
                <p:cNvGrpSpPr/>
                <p:nvPr/>
              </p:nvGrpSpPr>
              <p:grpSpPr>
                <a:xfrm>
                  <a:off x="5847646" y="3756284"/>
                  <a:ext cx="3948724" cy="2242397"/>
                  <a:chOff x="769414" y="1363773"/>
                  <a:chExt cx="4576024" cy="2598627"/>
                </a:xfrm>
              </p:grpSpPr>
              <p:sp>
                <p:nvSpPr>
                  <p:cNvPr id="46" name="Oval 45">
                    <a:extLst>
                      <a:ext uri="{FF2B5EF4-FFF2-40B4-BE49-F238E27FC236}">
                        <a16:creationId xmlns:a16="http://schemas.microsoft.com/office/drawing/2014/main" id="{C94955E5-32DF-01D2-D77A-9446E2CC2697}"/>
                      </a:ext>
                    </a:extLst>
                  </p:cNvPr>
                  <p:cNvSpPr/>
                  <p:nvPr/>
                </p:nvSpPr>
                <p:spPr>
                  <a:xfrm>
                    <a:off x="2044532" y="1363774"/>
                    <a:ext cx="270588" cy="1054359"/>
                  </a:xfrm>
                  <a:prstGeom prst="ellipse">
                    <a:avLst/>
                  </a:prstGeom>
                </p:spPr>
                <p:style>
                  <a:lnRef idx="2">
                    <a:schemeClr val="accent5">
                      <a:shade val="15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47" name="Oval 46">
                    <a:extLst>
                      <a:ext uri="{FF2B5EF4-FFF2-40B4-BE49-F238E27FC236}">
                        <a16:creationId xmlns:a16="http://schemas.microsoft.com/office/drawing/2014/main" id="{AD8C22EB-591B-66B2-0755-6F3F8EF2427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602338" y="1363773"/>
                    <a:ext cx="270588" cy="1054359"/>
                  </a:xfrm>
                  <a:prstGeom prst="ellipse">
                    <a:avLst/>
                  </a:prstGeom>
                </p:spPr>
                <p:style>
                  <a:lnRef idx="2">
                    <a:schemeClr val="accent5">
                      <a:shade val="15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48" name="Rectangle 47">
                    <a:extLst>
                      <a:ext uri="{FF2B5EF4-FFF2-40B4-BE49-F238E27FC236}">
                        <a16:creationId xmlns:a16="http://schemas.microsoft.com/office/drawing/2014/main" id="{2F9D7592-CB3C-5843-1628-7963094D3D04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861872" y="1890952"/>
                    <a:ext cx="1483566" cy="65315"/>
                  </a:xfrm>
                  <a:prstGeom prst="rect">
                    <a:avLst/>
                  </a:prstGeom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49" name="Rectangle 48">
                    <a:extLst>
                      <a:ext uri="{FF2B5EF4-FFF2-40B4-BE49-F238E27FC236}">
                        <a16:creationId xmlns:a16="http://schemas.microsoft.com/office/drawing/2014/main" id="{F50A1798-8E15-0621-4E9A-7AC0648529CE}"/>
                      </a:ext>
                    </a:extLst>
                  </p:cNvPr>
                  <p:cNvSpPr/>
                  <p:nvPr/>
                </p:nvSpPr>
                <p:spPr>
                  <a:xfrm>
                    <a:off x="769414" y="1950097"/>
                    <a:ext cx="45719" cy="1614198"/>
                  </a:xfrm>
                  <a:prstGeom prst="rect">
                    <a:avLst/>
                  </a:prstGeom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50" name="Rectangle 49">
                    <a:extLst>
                      <a:ext uri="{FF2B5EF4-FFF2-40B4-BE49-F238E27FC236}">
                        <a16:creationId xmlns:a16="http://schemas.microsoft.com/office/drawing/2014/main" id="{117863B2-F0A2-2104-F88B-A7332591E5A6}"/>
                      </a:ext>
                    </a:extLst>
                  </p:cNvPr>
                  <p:cNvSpPr/>
                  <p:nvPr/>
                </p:nvSpPr>
                <p:spPr>
                  <a:xfrm>
                    <a:off x="769414" y="3498980"/>
                    <a:ext cx="2654507" cy="65315"/>
                  </a:xfrm>
                  <a:prstGeom prst="rect">
                    <a:avLst/>
                  </a:prstGeom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51" name="Rectangle 50">
                    <a:extLst>
                      <a:ext uri="{FF2B5EF4-FFF2-40B4-BE49-F238E27FC236}">
                        <a16:creationId xmlns:a16="http://schemas.microsoft.com/office/drawing/2014/main" id="{F1231564-6995-D96D-2304-B11EF9F8F331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737633" y="3498981"/>
                    <a:ext cx="1590144" cy="65314"/>
                  </a:xfrm>
                  <a:prstGeom prst="rect">
                    <a:avLst/>
                  </a:prstGeom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53" name="Rectangle 52">
                    <a:extLst>
                      <a:ext uri="{FF2B5EF4-FFF2-40B4-BE49-F238E27FC236}">
                        <a16:creationId xmlns:a16="http://schemas.microsoft.com/office/drawing/2014/main" id="{0B4A6C39-8045-7F10-EA67-89F8413D5658}"/>
                      </a:ext>
                    </a:extLst>
                  </p:cNvPr>
                  <p:cNvSpPr/>
                  <p:nvPr/>
                </p:nvSpPr>
                <p:spPr>
                  <a:xfrm>
                    <a:off x="5275459" y="1890952"/>
                    <a:ext cx="52982" cy="1673344"/>
                  </a:xfrm>
                  <a:prstGeom prst="rect">
                    <a:avLst/>
                  </a:prstGeom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A356CF59-B10F-98FE-9CFB-7503CD235529}"/>
                      </a:ext>
                    </a:extLst>
                  </p:cNvPr>
                  <p:cNvSpPr/>
                  <p:nvPr/>
                </p:nvSpPr>
                <p:spPr>
                  <a:xfrm>
                    <a:off x="3423921" y="3077857"/>
                    <a:ext cx="45719" cy="884543"/>
                  </a:xfrm>
                  <a:prstGeom prst="rect">
                    <a:avLst/>
                  </a:prstGeom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55" name="Rectangle 54">
                    <a:extLst>
                      <a:ext uri="{FF2B5EF4-FFF2-40B4-BE49-F238E27FC236}">
                        <a16:creationId xmlns:a16="http://schemas.microsoft.com/office/drawing/2014/main" id="{C0CC3C1C-3889-4158-B93C-98F7F0E15433}"/>
                      </a:ext>
                    </a:extLst>
                  </p:cNvPr>
                  <p:cNvSpPr/>
                  <p:nvPr/>
                </p:nvSpPr>
                <p:spPr>
                  <a:xfrm>
                    <a:off x="3691914" y="3316617"/>
                    <a:ext cx="45719" cy="523863"/>
                  </a:xfrm>
                  <a:prstGeom prst="rect">
                    <a:avLst/>
                  </a:prstGeom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</p:grpSp>
            <p:sp>
              <p:nvSpPr>
                <p:cNvPr id="72" name="Arrow: Right 71">
                  <a:extLst>
                    <a:ext uri="{FF2B5EF4-FFF2-40B4-BE49-F238E27FC236}">
                      <a16:creationId xmlns:a16="http://schemas.microsoft.com/office/drawing/2014/main" id="{63177378-E2E7-D67B-ED7A-4443C9979514}"/>
                    </a:ext>
                  </a:extLst>
                </p:cNvPr>
                <p:cNvSpPr/>
                <p:nvPr/>
              </p:nvSpPr>
              <p:spPr>
                <a:xfrm rot="16200000">
                  <a:off x="5702052" y="4708710"/>
                  <a:ext cx="336691" cy="251487"/>
                </a:xfrm>
                <a:prstGeom prst="rightArrow">
                  <a:avLst/>
                </a:prstGeom>
              </p:spPr>
              <p:style>
                <a:lnRef idx="1">
                  <a:schemeClr val="accent4"/>
                </a:lnRef>
                <a:fillRef idx="3">
                  <a:schemeClr val="accent4"/>
                </a:fillRef>
                <a:effectRef idx="2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41950C6D-EC4F-52DA-0156-B3F6C4812284}"/>
                </a:ext>
              </a:extLst>
            </p:cNvPr>
            <p:cNvSpPr/>
            <p:nvPr/>
          </p:nvSpPr>
          <p:spPr>
            <a:xfrm>
              <a:off x="6665053" y="4211197"/>
              <a:ext cx="368008" cy="45720"/>
            </a:xfrm>
            <a:prstGeom prst="rect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2923858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57" grpId="0" animBg="1"/>
      <p:bldP spid="59" grpId="0" animBg="1"/>
      <p:bldP spid="60" grpId="0"/>
      <p:bldP spid="61" grpId="0"/>
      <p:bldP spid="62" grpId="0"/>
      <p:bldP spid="63" grpId="0"/>
      <p:bldP spid="65" grpId="0"/>
      <p:bldP spid="66" grpId="0"/>
      <p:bldP spid="6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5B758-6CB7-CBCE-29D9-B759E5A7D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66">
            <a:extLst>
              <a:ext uri="{FF2B5EF4-FFF2-40B4-BE49-F238E27FC236}">
                <a16:creationId xmlns:a16="http://schemas.microsoft.com/office/drawing/2014/main" id="{DB3D949D-566D-C7A5-C65B-2FD5D127AB61}"/>
              </a:ext>
            </a:extLst>
          </p:cNvPr>
          <p:cNvSpPr/>
          <p:nvPr/>
        </p:nvSpPr>
        <p:spPr>
          <a:xfrm>
            <a:off x="12867681" y="-20422671"/>
            <a:ext cx="22540340" cy="6164764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>
                    <a:alpha val="0"/>
                  </a:srgbClr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?</a:t>
            </a: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EFCE104-762B-47A3-F358-680425F74390}"/>
              </a:ext>
            </a:extLst>
          </p:cNvPr>
          <p:cNvGrpSpPr/>
          <p:nvPr/>
        </p:nvGrpSpPr>
        <p:grpSpPr>
          <a:xfrm>
            <a:off x="387953" y="79590"/>
            <a:ext cx="6270171" cy="523220"/>
            <a:chOff x="5533902" y="1020432"/>
            <a:chExt cx="6270171" cy="523220"/>
          </a:xfrm>
        </p:grpSpPr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8C32C35C-8997-5F9F-7851-47EF976A2872}"/>
                </a:ext>
              </a:extLst>
            </p:cNvPr>
            <p:cNvSpPr/>
            <p:nvPr/>
          </p:nvSpPr>
          <p:spPr>
            <a:xfrm>
              <a:off x="5533902" y="1168956"/>
              <a:ext cx="195942" cy="195942"/>
            </a:xfrm>
            <a:prstGeom prst="ellipse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55C71A5-4579-E1A2-15D3-CD3B98E386C7}"/>
                </a:ext>
              </a:extLst>
            </p:cNvPr>
            <p:cNvSpPr txBox="1"/>
            <p:nvPr/>
          </p:nvSpPr>
          <p:spPr>
            <a:xfrm>
              <a:off x="5803323" y="1020432"/>
              <a:ext cx="60007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800" dirty="0">
                  <a:solidFill>
                    <a:schemeClr val="bg1"/>
                  </a:solidFill>
                </a:rPr>
                <a:t>So there is current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6827B8FB-1AC1-6E39-D927-D5D854E08FB3}"/>
              </a:ext>
            </a:extLst>
          </p:cNvPr>
          <p:cNvGrpSpPr/>
          <p:nvPr/>
        </p:nvGrpSpPr>
        <p:grpSpPr>
          <a:xfrm>
            <a:off x="387953" y="557939"/>
            <a:ext cx="6270171" cy="523220"/>
            <a:chOff x="5533902" y="1020432"/>
            <a:chExt cx="6270171" cy="52322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07A0958-FEC9-6BD3-258C-53B9B8F1D932}"/>
                </a:ext>
              </a:extLst>
            </p:cNvPr>
            <p:cNvSpPr/>
            <p:nvPr/>
          </p:nvSpPr>
          <p:spPr>
            <a:xfrm>
              <a:off x="5533902" y="1168956"/>
              <a:ext cx="195942" cy="195942"/>
            </a:xfrm>
            <a:prstGeom prst="ellipse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105FA2E-1D27-B7EC-E8A7-2E9001144957}"/>
                </a:ext>
              </a:extLst>
            </p:cNvPr>
            <p:cNvSpPr txBox="1"/>
            <p:nvPr/>
          </p:nvSpPr>
          <p:spPr>
            <a:xfrm>
              <a:off x="5803323" y="1020432"/>
              <a:ext cx="60007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800" dirty="0">
                  <a:solidFill>
                    <a:schemeClr val="bg1"/>
                  </a:solidFill>
                </a:rPr>
                <a:t>Whose cause is not flowing charge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A73F4070-320A-E2A0-E2D6-CAB01E3F5E8D}"/>
              </a:ext>
            </a:extLst>
          </p:cNvPr>
          <p:cNvGrpSpPr/>
          <p:nvPr/>
        </p:nvGrpSpPr>
        <p:grpSpPr>
          <a:xfrm>
            <a:off x="397002" y="1099133"/>
            <a:ext cx="6270171" cy="523220"/>
            <a:chOff x="5533902" y="1020432"/>
            <a:chExt cx="6270171" cy="523220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F8D6B255-2EF9-6BEA-440F-C8CEB3484176}"/>
                </a:ext>
              </a:extLst>
            </p:cNvPr>
            <p:cNvSpPr/>
            <p:nvPr/>
          </p:nvSpPr>
          <p:spPr>
            <a:xfrm>
              <a:off x="5533902" y="1168956"/>
              <a:ext cx="195942" cy="195942"/>
            </a:xfrm>
            <a:prstGeom prst="ellipse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3048236-863C-ADA5-D9AD-95ACAA8D2B2F}"/>
                </a:ext>
              </a:extLst>
            </p:cNvPr>
            <p:cNvSpPr txBox="1"/>
            <p:nvPr/>
          </p:nvSpPr>
          <p:spPr>
            <a:xfrm>
              <a:off x="5803323" y="1020432"/>
              <a:ext cx="60007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800" dirty="0">
                  <a:solidFill>
                    <a:schemeClr val="bg1"/>
                  </a:solidFill>
                </a:rPr>
                <a:t>Whose cause is changing electric flux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A4964FE-947A-6B99-5A22-EF3867D7F281}"/>
              </a:ext>
            </a:extLst>
          </p:cNvPr>
          <p:cNvGrpSpPr/>
          <p:nvPr/>
        </p:nvGrpSpPr>
        <p:grpSpPr>
          <a:xfrm>
            <a:off x="403773" y="1666142"/>
            <a:ext cx="6270171" cy="523220"/>
            <a:chOff x="5533902" y="1020432"/>
            <a:chExt cx="6270171" cy="52322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67EC15D-E343-4E5A-7F25-08F7B032DB68}"/>
                </a:ext>
              </a:extLst>
            </p:cNvPr>
            <p:cNvSpPr/>
            <p:nvPr/>
          </p:nvSpPr>
          <p:spPr>
            <a:xfrm>
              <a:off x="5533902" y="1168956"/>
              <a:ext cx="195942" cy="195942"/>
            </a:xfrm>
            <a:prstGeom prst="ellipse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055796E-3BDD-6C45-6978-CE1D73B59FC1}"/>
                </a:ext>
              </a:extLst>
            </p:cNvPr>
            <p:cNvSpPr txBox="1"/>
            <p:nvPr/>
          </p:nvSpPr>
          <p:spPr>
            <a:xfrm>
              <a:off x="5803323" y="1020432"/>
              <a:ext cx="60007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800" dirty="0">
                  <a:solidFill>
                    <a:schemeClr val="bg1"/>
                  </a:solidFill>
                </a:rPr>
                <a:t>And this current is called</a:t>
              </a: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FA4DE2CE-8101-E4A8-A4DF-2310C45241CE}"/>
              </a:ext>
            </a:extLst>
          </p:cNvPr>
          <p:cNvSpPr txBox="1"/>
          <p:nvPr/>
        </p:nvSpPr>
        <p:spPr>
          <a:xfrm>
            <a:off x="4362401" y="1641062"/>
            <a:ext cx="223249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Displacement current </a:t>
            </a:r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140820C9-410C-5BDD-8D30-388B41A21873}"/>
              </a:ext>
            </a:extLst>
          </p:cNvPr>
          <p:cNvSpPr/>
          <p:nvPr/>
        </p:nvSpPr>
        <p:spPr>
          <a:xfrm>
            <a:off x="7526312" y="394043"/>
            <a:ext cx="230308" cy="1364732"/>
          </a:xfrm>
          <a:prstGeom prst="ellipse">
            <a:avLst/>
          </a:prstGeom>
          <a:noFill/>
          <a:ln w="28575">
            <a:solidFill>
              <a:schemeClr val="bg1"/>
            </a:solidFill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9" name="Freeform: Shape 78">
            <a:extLst>
              <a:ext uri="{FF2B5EF4-FFF2-40B4-BE49-F238E27FC236}">
                <a16:creationId xmlns:a16="http://schemas.microsoft.com/office/drawing/2014/main" id="{D0BED0B9-E0CE-3686-F7AA-2F402A278162}"/>
              </a:ext>
            </a:extLst>
          </p:cNvPr>
          <p:cNvSpPr/>
          <p:nvPr/>
        </p:nvSpPr>
        <p:spPr>
          <a:xfrm>
            <a:off x="7640067" y="123318"/>
            <a:ext cx="1047967" cy="1854877"/>
          </a:xfrm>
          <a:custGeom>
            <a:avLst/>
            <a:gdLst>
              <a:gd name="connsiteX0" fmla="*/ 0 w 1047967"/>
              <a:gd name="connsiteY0" fmla="*/ 289911 h 1854877"/>
              <a:gd name="connsiteX1" fmla="*/ 548640 w 1047967"/>
              <a:gd name="connsiteY1" fmla="*/ 5431 h 1854877"/>
              <a:gd name="connsiteX2" fmla="*/ 995680 w 1047967"/>
              <a:gd name="connsiteY2" fmla="*/ 513431 h 1854877"/>
              <a:gd name="connsiteX3" fmla="*/ 965200 w 1047967"/>
              <a:gd name="connsiteY3" fmla="*/ 1620871 h 1854877"/>
              <a:gd name="connsiteX4" fmla="*/ 335280 w 1047967"/>
              <a:gd name="connsiteY4" fmla="*/ 1854551 h 1854877"/>
              <a:gd name="connsiteX5" fmla="*/ 10160 w 1047967"/>
              <a:gd name="connsiteY5" fmla="*/ 1661511 h 18548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47967" h="1854877">
                <a:moveTo>
                  <a:pt x="0" y="289911"/>
                </a:moveTo>
                <a:cubicBezTo>
                  <a:pt x="191346" y="129044"/>
                  <a:pt x="382693" y="-31822"/>
                  <a:pt x="548640" y="5431"/>
                </a:cubicBezTo>
                <a:cubicBezTo>
                  <a:pt x="714587" y="42684"/>
                  <a:pt x="926253" y="244191"/>
                  <a:pt x="995680" y="513431"/>
                </a:cubicBezTo>
                <a:cubicBezTo>
                  <a:pt x="1065107" y="782671"/>
                  <a:pt x="1075267" y="1397351"/>
                  <a:pt x="965200" y="1620871"/>
                </a:cubicBezTo>
                <a:cubicBezTo>
                  <a:pt x="855133" y="1844391"/>
                  <a:pt x="494453" y="1847778"/>
                  <a:pt x="335280" y="1854551"/>
                </a:cubicBezTo>
                <a:cubicBezTo>
                  <a:pt x="176107" y="1861324"/>
                  <a:pt x="93133" y="1761417"/>
                  <a:pt x="10160" y="1661511"/>
                </a:cubicBezTo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57B1B5A9-B995-2CA5-4615-D5C5D3EEC4F0}"/>
              </a:ext>
            </a:extLst>
          </p:cNvPr>
          <p:cNvGrpSpPr/>
          <p:nvPr/>
        </p:nvGrpSpPr>
        <p:grpSpPr>
          <a:xfrm>
            <a:off x="6851841" y="593193"/>
            <a:ext cx="4051716" cy="2242397"/>
            <a:chOff x="5744654" y="3756284"/>
            <a:chExt cx="4051716" cy="2242397"/>
          </a:xfrm>
        </p:grpSpPr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33FF7EE0-AB16-D13C-AB33-BC18F7976D68}"/>
                </a:ext>
              </a:extLst>
            </p:cNvPr>
            <p:cNvGrpSpPr/>
            <p:nvPr/>
          </p:nvGrpSpPr>
          <p:grpSpPr>
            <a:xfrm>
              <a:off x="5744654" y="3756284"/>
              <a:ext cx="4051716" cy="2242397"/>
              <a:chOff x="5744654" y="3756284"/>
              <a:chExt cx="4051716" cy="2242397"/>
            </a:xfrm>
          </p:grpSpPr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367406D7-9FA4-A411-5B1E-3FFAD94ADFEF}"/>
                  </a:ext>
                </a:extLst>
              </p:cNvPr>
              <p:cNvSpPr/>
              <p:nvPr/>
            </p:nvSpPr>
            <p:spPr>
              <a:xfrm>
                <a:off x="5847646" y="4211197"/>
                <a:ext cx="690266" cy="45719"/>
              </a:xfrm>
              <a:prstGeom prst="rect">
                <a:avLst/>
              </a:prstGeom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grpSp>
            <p:nvGrpSpPr>
              <p:cNvPr id="84" name="Group 83">
                <a:extLst>
                  <a:ext uri="{FF2B5EF4-FFF2-40B4-BE49-F238E27FC236}">
                    <a16:creationId xmlns:a16="http://schemas.microsoft.com/office/drawing/2014/main" id="{11BBE561-DF31-2977-4CFA-E56867586953}"/>
                  </a:ext>
                </a:extLst>
              </p:cNvPr>
              <p:cNvGrpSpPr/>
              <p:nvPr/>
            </p:nvGrpSpPr>
            <p:grpSpPr>
              <a:xfrm>
                <a:off x="5744654" y="3756284"/>
                <a:ext cx="4051716" cy="2242397"/>
                <a:chOff x="5744654" y="3756284"/>
                <a:chExt cx="4051716" cy="2242397"/>
              </a:xfrm>
            </p:grpSpPr>
            <p:grpSp>
              <p:nvGrpSpPr>
                <p:cNvPr id="85" name="Group 84">
                  <a:extLst>
                    <a:ext uri="{FF2B5EF4-FFF2-40B4-BE49-F238E27FC236}">
                      <a16:creationId xmlns:a16="http://schemas.microsoft.com/office/drawing/2014/main" id="{6795E019-13EE-A9DC-7ED0-0E3C5A70412C}"/>
                    </a:ext>
                  </a:extLst>
                </p:cNvPr>
                <p:cNvGrpSpPr/>
                <p:nvPr/>
              </p:nvGrpSpPr>
              <p:grpSpPr>
                <a:xfrm>
                  <a:off x="5847646" y="3756284"/>
                  <a:ext cx="3948724" cy="2242397"/>
                  <a:chOff x="769414" y="1363773"/>
                  <a:chExt cx="4576024" cy="2598627"/>
                </a:xfrm>
              </p:grpSpPr>
              <p:sp>
                <p:nvSpPr>
                  <p:cNvPr id="87" name="Oval 86">
                    <a:extLst>
                      <a:ext uri="{FF2B5EF4-FFF2-40B4-BE49-F238E27FC236}">
                        <a16:creationId xmlns:a16="http://schemas.microsoft.com/office/drawing/2014/main" id="{1497BB2A-CB05-E2CD-BF05-FF61C4C23A16}"/>
                      </a:ext>
                    </a:extLst>
                  </p:cNvPr>
                  <p:cNvSpPr/>
                  <p:nvPr/>
                </p:nvSpPr>
                <p:spPr>
                  <a:xfrm>
                    <a:off x="2044532" y="1363774"/>
                    <a:ext cx="270588" cy="1054359"/>
                  </a:xfrm>
                  <a:prstGeom prst="ellipse">
                    <a:avLst/>
                  </a:prstGeom>
                </p:spPr>
                <p:style>
                  <a:lnRef idx="2">
                    <a:schemeClr val="accent5">
                      <a:shade val="15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88" name="Oval 87">
                    <a:extLst>
                      <a:ext uri="{FF2B5EF4-FFF2-40B4-BE49-F238E27FC236}">
                        <a16:creationId xmlns:a16="http://schemas.microsoft.com/office/drawing/2014/main" id="{36335D17-8D69-1EE8-49CF-A2835DD4B592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602338" y="1363773"/>
                    <a:ext cx="270588" cy="1054359"/>
                  </a:xfrm>
                  <a:prstGeom prst="ellipse">
                    <a:avLst/>
                  </a:prstGeom>
                </p:spPr>
                <p:style>
                  <a:lnRef idx="2">
                    <a:schemeClr val="accent5">
                      <a:shade val="15000"/>
                    </a:schemeClr>
                  </a:lnRef>
                  <a:fillRef idx="1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89" name="Rectangle 88">
                    <a:extLst>
                      <a:ext uri="{FF2B5EF4-FFF2-40B4-BE49-F238E27FC236}">
                        <a16:creationId xmlns:a16="http://schemas.microsoft.com/office/drawing/2014/main" id="{E5081260-FE69-B46F-9F24-6D30CD445201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861872" y="1890952"/>
                    <a:ext cx="1483566" cy="65315"/>
                  </a:xfrm>
                  <a:prstGeom prst="rect">
                    <a:avLst/>
                  </a:prstGeom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90" name="Rectangle 89">
                    <a:extLst>
                      <a:ext uri="{FF2B5EF4-FFF2-40B4-BE49-F238E27FC236}">
                        <a16:creationId xmlns:a16="http://schemas.microsoft.com/office/drawing/2014/main" id="{435D98D0-5060-A4E9-2F74-DD4315B343C2}"/>
                      </a:ext>
                    </a:extLst>
                  </p:cNvPr>
                  <p:cNvSpPr/>
                  <p:nvPr/>
                </p:nvSpPr>
                <p:spPr>
                  <a:xfrm>
                    <a:off x="769414" y="1950097"/>
                    <a:ext cx="45719" cy="1614198"/>
                  </a:xfrm>
                  <a:prstGeom prst="rect">
                    <a:avLst/>
                  </a:prstGeom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91" name="Rectangle 90">
                    <a:extLst>
                      <a:ext uri="{FF2B5EF4-FFF2-40B4-BE49-F238E27FC236}">
                        <a16:creationId xmlns:a16="http://schemas.microsoft.com/office/drawing/2014/main" id="{4A2B2E0F-A0F2-8DCA-9BAF-144CCDEB50CD}"/>
                      </a:ext>
                    </a:extLst>
                  </p:cNvPr>
                  <p:cNvSpPr/>
                  <p:nvPr/>
                </p:nvSpPr>
                <p:spPr>
                  <a:xfrm>
                    <a:off x="769414" y="3498980"/>
                    <a:ext cx="2654507" cy="65315"/>
                  </a:xfrm>
                  <a:prstGeom prst="rect">
                    <a:avLst/>
                  </a:prstGeom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92" name="Rectangle 91">
                    <a:extLst>
                      <a:ext uri="{FF2B5EF4-FFF2-40B4-BE49-F238E27FC236}">
                        <a16:creationId xmlns:a16="http://schemas.microsoft.com/office/drawing/2014/main" id="{85D3EAF1-8142-0889-BA4D-1AC8C80AEEDF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3737633" y="3498981"/>
                    <a:ext cx="1590144" cy="65314"/>
                  </a:xfrm>
                  <a:prstGeom prst="rect">
                    <a:avLst/>
                  </a:prstGeom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93" name="Rectangle 92">
                    <a:extLst>
                      <a:ext uri="{FF2B5EF4-FFF2-40B4-BE49-F238E27FC236}">
                        <a16:creationId xmlns:a16="http://schemas.microsoft.com/office/drawing/2014/main" id="{421C0370-7EA6-A4C4-053D-F810E93BB8C0}"/>
                      </a:ext>
                    </a:extLst>
                  </p:cNvPr>
                  <p:cNvSpPr/>
                  <p:nvPr/>
                </p:nvSpPr>
                <p:spPr>
                  <a:xfrm>
                    <a:off x="5275459" y="1890952"/>
                    <a:ext cx="52982" cy="1673344"/>
                  </a:xfrm>
                  <a:prstGeom prst="rect">
                    <a:avLst/>
                  </a:prstGeom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94" name="Rectangle 93">
                    <a:extLst>
                      <a:ext uri="{FF2B5EF4-FFF2-40B4-BE49-F238E27FC236}">
                        <a16:creationId xmlns:a16="http://schemas.microsoft.com/office/drawing/2014/main" id="{8C1589F4-649E-95C4-B6CA-29C71948B339}"/>
                      </a:ext>
                    </a:extLst>
                  </p:cNvPr>
                  <p:cNvSpPr/>
                  <p:nvPr/>
                </p:nvSpPr>
                <p:spPr>
                  <a:xfrm>
                    <a:off x="3423921" y="3077857"/>
                    <a:ext cx="45719" cy="884543"/>
                  </a:xfrm>
                  <a:prstGeom prst="rect">
                    <a:avLst/>
                  </a:prstGeom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  <p:sp>
                <p:nvSpPr>
                  <p:cNvPr id="95" name="Rectangle 94">
                    <a:extLst>
                      <a:ext uri="{FF2B5EF4-FFF2-40B4-BE49-F238E27FC236}">
                        <a16:creationId xmlns:a16="http://schemas.microsoft.com/office/drawing/2014/main" id="{6170D6D0-27BB-D6E1-AF2B-943023685910}"/>
                      </a:ext>
                    </a:extLst>
                  </p:cNvPr>
                  <p:cNvSpPr/>
                  <p:nvPr/>
                </p:nvSpPr>
                <p:spPr>
                  <a:xfrm>
                    <a:off x="3691914" y="3316617"/>
                    <a:ext cx="45719" cy="523863"/>
                  </a:xfrm>
                  <a:prstGeom prst="rect">
                    <a:avLst/>
                  </a:prstGeom>
                  <a:ln>
                    <a:solidFill>
                      <a:srgbClr val="FFFF00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 dirty="0"/>
                  </a:p>
                </p:txBody>
              </p:sp>
            </p:grpSp>
            <p:sp>
              <p:nvSpPr>
                <p:cNvPr id="86" name="Arrow: Right 85">
                  <a:extLst>
                    <a:ext uri="{FF2B5EF4-FFF2-40B4-BE49-F238E27FC236}">
                      <a16:creationId xmlns:a16="http://schemas.microsoft.com/office/drawing/2014/main" id="{71DE6DC3-CDDF-6B15-B7BE-35CEEBE881F9}"/>
                    </a:ext>
                  </a:extLst>
                </p:cNvPr>
                <p:cNvSpPr/>
                <p:nvPr/>
              </p:nvSpPr>
              <p:spPr>
                <a:xfrm rot="16200000">
                  <a:off x="5702052" y="4708710"/>
                  <a:ext cx="336691" cy="251487"/>
                </a:xfrm>
                <a:prstGeom prst="rightArrow">
                  <a:avLst/>
                </a:prstGeom>
              </p:spPr>
              <p:style>
                <a:lnRef idx="1">
                  <a:schemeClr val="accent4"/>
                </a:lnRef>
                <a:fillRef idx="3">
                  <a:schemeClr val="accent4"/>
                </a:fillRef>
                <a:effectRef idx="2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</p:grpSp>
        <p:sp>
          <p:nvSpPr>
            <p:cNvPr id="82" name="Rectangle 81">
              <a:extLst>
                <a:ext uri="{FF2B5EF4-FFF2-40B4-BE49-F238E27FC236}">
                  <a16:creationId xmlns:a16="http://schemas.microsoft.com/office/drawing/2014/main" id="{A41116B1-D8D4-A349-39F7-23958237B45E}"/>
                </a:ext>
              </a:extLst>
            </p:cNvPr>
            <p:cNvSpPr/>
            <p:nvPr/>
          </p:nvSpPr>
          <p:spPr>
            <a:xfrm>
              <a:off x="6665053" y="4211197"/>
              <a:ext cx="368008" cy="45720"/>
            </a:xfrm>
            <a:prstGeom prst="rect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97" name="Rectangle 96">
            <a:extLst>
              <a:ext uri="{FF2B5EF4-FFF2-40B4-BE49-F238E27FC236}">
                <a16:creationId xmlns:a16="http://schemas.microsoft.com/office/drawing/2014/main" id="{541D0304-0AEE-FC79-60AF-52415F0B8807}"/>
              </a:ext>
            </a:extLst>
          </p:cNvPr>
          <p:cNvSpPr/>
          <p:nvPr/>
        </p:nvSpPr>
        <p:spPr>
          <a:xfrm>
            <a:off x="354853" y="2622554"/>
            <a:ext cx="131542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Current</a:t>
            </a:r>
          </a:p>
        </p:txBody>
      </p:sp>
      <p:grpSp>
        <p:nvGrpSpPr>
          <p:cNvPr id="98" name="Group 97">
            <a:extLst>
              <a:ext uri="{FF2B5EF4-FFF2-40B4-BE49-F238E27FC236}">
                <a16:creationId xmlns:a16="http://schemas.microsoft.com/office/drawing/2014/main" id="{342F1C72-F839-5BAE-E846-D1A5F48356DF}"/>
              </a:ext>
            </a:extLst>
          </p:cNvPr>
          <p:cNvGrpSpPr/>
          <p:nvPr/>
        </p:nvGrpSpPr>
        <p:grpSpPr>
          <a:xfrm>
            <a:off x="366428" y="3043648"/>
            <a:ext cx="10429871" cy="846576"/>
            <a:chOff x="5110451" y="4013120"/>
            <a:chExt cx="10429871" cy="846576"/>
          </a:xfrm>
        </p:grpSpPr>
        <p:sp>
          <p:nvSpPr>
            <p:cNvPr id="99" name="Right Brace 98">
              <a:extLst>
                <a:ext uri="{FF2B5EF4-FFF2-40B4-BE49-F238E27FC236}">
                  <a16:creationId xmlns:a16="http://schemas.microsoft.com/office/drawing/2014/main" id="{539EC274-1F90-17BD-1AE5-1EF625741FA4}"/>
                </a:ext>
              </a:extLst>
            </p:cNvPr>
            <p:cNvSpPr/>
            <p:nvPr/>
          </p:nvSpPr>
          <p:spPr>
            <a:xfrm rot="16200000">
              <a:off x="9837957" y="-194340"/>
              <a:ext cx="321970" cy="8736890"/>
            </a:xfrm>
            <a:prstGeom prst="rightBrace">
              <a:avLst>
                <a:gd name="adj1" fmla="val 60057"/>
                <a:gd name="adj2" fmla="val 9836"/>
              </a:avLst>
            </a:prstGeom>
            <a:ln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8AD34921-D7FC-E6F2-FA79-C3D0864E1FEC}"/>
                </a:ext>
              </a:extLst>
            </p:cNvPr>
            <p:cNvSpPr txBox="1"/>
            <p:nvPr/>
          </p:nvSpPr>
          <p:spPr>
            <a:xfrm>
              <a:off x="5110451" y="4336476"/>
              <a:ext cx="3275015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IN" sz="2800" dirty="0">
                  <a:solidFill>
                    <a:srgbClr val="FFFF00"/>
                  </a:solidFill>
                </a:rPr>
                <a:t>Conduction current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29A26928-5C01-5C90-62AD-99C799AB26CE}"/>
                </a:ext>
              </a:extLst>
            </p:cNvPr>
            <p:cNvSpPr txBox="1"/>
            <p:nvPr/>
          </p:nvSpPr>
          <p:spPr>
            <a:xfrm>
              <a:off x="12067882" y="4336476"/>
              <a:ext cx="347244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IN" sz="2800" dirty="0">
                  <a:solidFill>
                    <a:srgbClr val="FFFF00"/>
                  </a:solidFill>
                </a:rPr>
                <a:t>Displacement current</a:t>
              </a:r>
            </a:p>
          </p:txBody>
        </p:sp>
      </p:grpSp>
      <p:sp>
        <p:nvSpPr>
          <p:cNvPr id="102" name="TextBox 101">
            <a:extLst>
              <a:ext uri="{FF2B5EF4-FFF2-40B4-BE49-F238E27FC236}">
                <a16:creationId xmlns:a16="http://schemas.microsoft.com/office/drawing/2014/main" id="{9478B431-69B3-BCBD-DFE4-226AE136620D}"/>
              </a:ext>
            </a:extLst>
          </p:cNvPr>
          <p:cNvSpPr txBox="1"/>
          <p:nvPr/>
        </p:nvSpPr>
        <p:spPr>
          <a:xfrm>
            <a:off x="354853" y="3986621"/>
            <a:ext cx="34043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Due to Flow of charge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37A104B4-C8D8-5BE7-3EC2-941F3A9987FE}"/>
              </a:ext>
            </a:extLst>
          </p:cNvPr>
          <p:cNvSpPr txBox="1"/>
          <p:nvPr/>
        </p:nvSpPr>
        <p:spPr>
          <a:xfrm>
            <a:off x="5650712" y="3986621"/>
            <a:ext cx="39126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bg1"/>
                </a:solidFill>
              </a:rPr>
              <a:t>Due to changing electric flux</a:t>
            </a:r>
          </a:p>
        </p:txBody>
      </p: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F1A16688-2B70-A7F8-2D13-67191B748390}"/>
              </a:ext>
            </a:extLst>
          </p:cNvPr>
          <p:cNvGrpSpPr/>
          <p:nvPr/>
        </p:nvGrpSpPr>
        <p:grpSpPr>
          <a:xfrm>
            <a:off x="3634244" y="4036005"/>
            <a:ext cx="1156839" cy="523220"/>
            <a:chOff x="5533902" y="1020432"/>
            <a:chExt cx="1156839" cy="523220"/>
          </a:xfrm>
        </p:grpSpPr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8DC798FB-3EAA-7B43-64D8-6DE67768E017}"/>
                </a:ext>
              </a:extLst>
            </p:cNvPr>
            <p:cNvSpPr/>
            <p:nvPr/>
          </p:nvSpPr>
          <p:spPr>
            <a:xfrm>
              <a:off x="5533902" y="1168956"/>
              <a:ext cx="195942" cy="195942"/>
            </a:xfrm>
            <a:prstGeom prst="ellipse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FCC8948C-7962-3852-6B8F-76167CAB50D6}"/>
                    </a:ext>
                  </a:extLst>
                </p:cNvPr>
                <p:cNvSpPr txBox="1"/>
                <p:nvPr/>
              </p:nvSpPr>
              <p:spPr>
                <a:xfrm>
                  <a:off x="5803324" y="1020432"/>
                  <a:ext cx="887417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  <m:r>
                          <a:rPr lang="en-IN" sz="2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IN" sz="28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FCC8948C-7962-3852-6B8F-76167CAB50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03324" y="1020432"/>
                  <a:ext cx="887417" cy="52322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B4EE8335-87C2-9A8A-E273-A6F5DDB1AB35}"/>
                  </a:ext>
                </a:extLst>
              </p:cNvPr>
              <p:cNvSpPr txBox="1"/>
              <p:nvPr/>
            </p:nvSpPr>
            <p:spPr>
              <a:xfrm>
                <a:off x="4548749" y="3810415"/>
                <a:ext cx="914400" cy="9441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𝑑𝑞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B4EE8335-87C2-9A8A-E273-A6F5DDB1AB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749" y="3810415"/>
                <a:ext cx="914400" cy="9441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8" name="Group 107">
            <a:extLst>
              <a:ext uri="{FF2B5EF4-FFF2-40B4-BE49-F238E27FC236}">
                <a16:creationId xmlns:a16="http://schemas.microsoft.com/office/drawing/2014/main" id="{A13E9F3D-D0A1-8437-8F42-2D2E2FB59732}"/>
              </a:ext>
            </a:extLst>
          </p:cNvPr>
          <p:cNvGrpSpPr/>
          <p:nvPr/>
        </p:nvGrpSpPr>
        <p:grpSpPr>
          <a:xfrm>
            <a:off x="9564123" y="4214759"/>
            <a:ext cx="1279048" cy="523220"/>
            <a:chOff x="5533902" y="1020432"/>
            <a:chExt cx="1279048" cy="523220"/>
          </a:xfrm>
        </p:grpSpPr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2CFC130D-14B2-9323-A542-05A1C829304F}"/>
                </a:ext>
              </a:extLst>
            </p:cNvPr>
            <p:cNvSpPr/>
            <p:nvPr/>
          </p:nvSpPr>
          <p:spPr>
            <a:xfrm>
              <a:off x="5533902" y="1168956"/>
              <a:ext cx="195942" cy="195942"/>
            </a:xfrm>
            <a:prstGeom prst="ellipse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8AC4E36F-0922-6756-2093-AFE6463F570C}"/>
                    </a:ext>
                  </a:extLst>
                </p:cNvPr>
                <p:cNvSpPr txBox="1"/>
                <p:nvPr/>
              </p:nvSpPr>
              <p:spPr>
                <a:xfrm>
                  <a:off x="5803324" y="1020432"/>
                  <a:ext cx="1009626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IN" sz="2800" b="0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b>
                        </m:sSub>
                        <m:r>
                          <a:rPr lang="en-IN" sz="2800" b="0" i="1" dirty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IN" sz="28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5DA02215-1995-6840-3B27-FF9F7CF9DC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03324" y="1020432"/>
                  <a:ext cx="1009626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E1B7C38A-3311-EE47-8571-4A6F0A30A07E}"/>
                  </a:ext>
                </a:extLst>
              </p:cNvPr>
              <p:cNvSpPr txBox="1"/>
              <p:nvPr/>
            </p:nvSpPr>
            <p:spPr>
              <a:xfrm>
                <a:off x="10698547" y="3989169"/>
                <a:ext cx="914400" cy="9441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num>
                        <m:den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E1B7C38A-3311-EE47-8571-4A6F0A30A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8547" y="3989169"/>
                <a:ext cx="914400" cy="944169"/>
              </a:xfrm>
              <a:prstGeom prst="rect">
                <a:avLst/>
              </a:prstGeom>
              <a:blipFill>
                <a:blip r:embed="rId5"/>
                <a:stretch>
                  <a:fillRect r="-2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5328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97" grpId="0"/>
      <p:bldP spid="102" grpId="0"/>
      <p:bldP spid="103" grpId="0"/>
      <p:bldP spid="107" grpId="0"/>
      <p:bldP spid="1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C1A2BAB-C22A-BBD2-71BF-E58AFAE6B144}"/>
                  </a:ext>
                </a:extLst>
              </p:cNvPr>
              <p:cNvSpPr txBox="1"/>
              <p:nvPr/>
            </p:nvSpPr>
            <p:spPr>
              <a:xfrm>
                <a:off x="1226473" y="459221"/>
                <a:ext cx="303051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IN" sz="2800" dirty="0">
                    <a:solidFill>
                      <a:srgbClr val="FFFF00"/>
                    </a:solidFill>
                  </a:rPr>
                  <a:t>In circuit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IN" sz="28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IN" sz="2800" b="0" i="1" smtClean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lang="en-IN" sz="28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C1A2BAB-C22A-BBD2-71BF-E58AFAE6B1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6473" y="459221"/>
                <a:ext cx="3030516" cy="523220"/>
              </a:xfrm>
              <a:prstGeom prst="rect">
                <a:avLst/>
              </a:prstGeom>
              <a:blipFill>
                <a:blip r:embed="rId2"/>
                <a:stretch>
                  <a:fillRect l="-4024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C68BE925-84B3-8ACA-4FE2-7C3C4D0B8B45}"/>
              </a:ext>
            </a:extLst>
          </p:cNvPr>
          <p:cNvSpPr/>
          <p:nvPr/>
        </p:nvSpPr>
        <p:spPr>
          <a:xfrm>
            <a:off x="527587" y="241605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</a:t>
            </a:r>
            <a:endParaRPr lang="en-US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2E9297-F55A-7069-03C8-4C012E1C115C}"/>
                  </a:ext>
                </a:extLst>
              </p:cNvPr>
              <p:cNvSpPr txBox="1"/>
              <p:nvPr/>
            </p:nvSpPr>
            <p:spPr>
              <a:xfrm>
                <a:off x="3234599" y="1164935"/>
                <a:ext cx="914400" cy="9441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𝑑𝑞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462E9297-F55A-7069-03C8-4C012E1C11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599" y="1164935"/>
                <a:ext cx="914400" cy="94416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FA62E2-175E-73A5-F1F2-C7F253A53FC7}"/>
                  </a:ext>
                </a:extLst>
              </p:cNvPr>
              <p:cNvSpPr txBox="1"/>
              <p:nvPr/>
            </p:nvSpPr>
            <p:spPr>
              <a:xfrm>
                <a:off x="3234599" y="2212071"/>
                <a:ext cx="914400" cy="9441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𝑑𝐶𝑉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6FA62E2-175E-73A5-F1F2-C7F253A53F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599" y="2212071"/>
                <a:ext cx="914400" cy="944169"/>
              </a:xfrm>
              <a:prstGeom prst="rect">
                <a:avLst/>
              </a:prstGeom>
              <a:blipFill>
                <a:blip r:embed="rId4"/>
                <a:stretch>
                  <a:fillRect r="-21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8BC9D4-0BEA-03F8-1A92-E0761F00A890}"/>
                  </a:ext>
                </a:extLst>
              </p:cNvPr>
              <p:cNvSpPr txBox="1"/>
              <p:nvPr/>
            </p:nvSpPr>
            <p:spPr>
              <a:xfrm>
                <a:off x="3234599" y="3259207"/>
                <a:ext cx="914400" cy="12571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𝐴</m:t>
                                  </m:r>
                                  <m:sSub>
                                    <m:sSubPr>
                                      <m:ctrlPr>
                                        <a:rPr lang="en-IN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IN" sz="2800" i="1">
                                          <a:solidFill>
                                            <a:schemeClr val="bg1"/>
                                          </a:solidFill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𝑜</m:t>
                                      </m:r>
                                    </m:sub>
                                  </m:sSub>
                                </m:num>
                                <m:den>
                                  <m: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𝑙</m:t>
                                  </m:r>
                                </m:den>
                              </m:f>
                            </m:e>
                          </m:d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𝐸</m:t>
                          </m:r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8BC9D4-0BEA-03F8-1A92-E0761F00A8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4599" y="3259207"/>
                <a:ext cx="914400" cy="1257139"/>
              </a:xfrm>
              <a:prstGeom prst="rect">
                <a:avLst/>
              </a:prstGeom>
              <a:blipFill>
                <a:blip r:embed="rId5"/>
                <a:stretch>
                  <a:fillRect r="-170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C9F224C-0C69-5FD9-E9C4-AC948ED0FA4D}"/>
                  </a:ext>
                </a:extLst>
              </p:cNvPr>
              <p:cNvSpPr txBox="1"/>
              <p:nvPr/>
            </p:nvSpPr>
            <p:spPr>
              <a:xfrm>
                <a:off x="5835231" y="3577371"/>
                <a:ext cx="914400" cy="938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𝑑𝐸</m:t>
                          </m:r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𝐴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C9F224C-0C69-5FD9-E9C4-AC948ED0FA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5231" y="3577371"/>
                <a:ext cx="914400" cy="938975"/>
              </a:xfrm>
              <a:prstGeom prst="rect">
                <a:avLst/>
              </a:prstGeom>
              <a:blipFill>
                <a:blip r:embed="rId6"/>
                <a:stretch>
                  <a:fillRect r="-80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608F0FE-67B2-7ABB-86A0-5FCCEDF872BE}"/>
                  </a:ext>
                </a:extLst>
              </p:cNvPr>
              <p:cNvSpPr txBox="1"/>
              <p:nvPr/>
            </p:nvSpPr>
            <p:spPr>
              <a:xfrm>
                <a:off x="7659114" y="3577371"/>
                <a:ext cx="914400" cy="9389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𝑒</m:t>
                              </m:r>
                            </m:sub>
                          </m:sSub>
                        </m:num>
                        <m:den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608F0FE-67B2-7ABB-86A0-5FCCEDF87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9114" y="3577371"/>
                <a:ext cx="914400" cy="938975"/>
              </a:xfrm>
              <a:prstGeom prst="rect">
                <a:avLst/>
              </a:prstGeom>
              <a:blipFill>
                <a:blip r:embed="rId7"/>
                <a:stretch>
                  <a:fillRect r="-59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350E8E00-6F54-345F-F9C3-645153A55DF0}"/>
              </a:ext>
            </a:extLst>
          </p:cNvPr>
          <p:cNvCxnSpPr>
            <a:stCxn id="22" idx="2"/>
            <a:endCxn id="5" idx="1"/>
          </p:cNvCxnSpPr>
          <p:nvPr/>
        </p:nvCxnSpPr>
        <p:spPr>
          <a:xfrm rot="16200000" flipH="1">
            <a:off x="2660876" y="1063296"/>
            <a:ext cx="654579" cy="492868"/>
          </a:xfrm>
          <a:prstGeom prst="bentConnector2">
            <a:avLst/>
          </a:prstGeom>
          <a:ln>
            <a:solidFill>
              <a:schemeClr val="bg1"/>
            </a:solidFill>
            <a:tailEnd type="triangle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58943C56-AC53-4A15-A8E2-8FDA29B2A61B}"/>
              </a:ext>
            </a:extLst>
          </p:cNvPr>
          <p:cNvCxnSpPr>
            <a:cxnSpLocks/>
            <a:endCxn id="22" idx="3"/>
          </p:cNvCxnSpPr>
          <p:nvPr/>
        </p:nvCxnSpPr>
        <p:spPr>
          <a:xfrm rot="10800000">
            <a:off x="4256989" y="720832"/>
            <a:ext cx="4896846" cy="3326031"/>
          </a:xfrm>
          <a:prstGeom prst="bentConnector3">
            <a:avLst>
              <a:gd name="adj1" fmla="val -17465"/>
            </a:avLst>
          </a:prstGeom>
          <a:ln>
            <a:solidFill>
              <a:schemeClr val="bg1"/>
            </a:solidFill>
            <a:tailEnd type="triangle"/>
          </a:ln>
          <a:effectLst>
            <a:glow rad="101600">
              <a:schemeClr val="accent1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68258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8B568-4625-5C2E-E123-CADD04A02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780984F-B559-2137-5257-DA67A4388D5D}"/>
              </a:ext>
            </a:extLst>
          </p:cNvPr>
          <p:cNvSpPr/>
          <p:nvPr/>
        </p:nvSpPr>
        <p:spPr>
          <a:xfrm>
            <a:off x="141507" y="3556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2</a:t>
            </a:r>
            <a:endParaRPr lang="en-US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C9A1E1-FF4A-FB04-D409-3DB690A9906C}"/>
              </a:ext>
            </a:extLst>
          </p:cNvPr>
          <p:cNvSpPr txBox="1"/>
          <p:nvPr/>
        </p:nvSpPr>
        <p:spPr>
          <a:xfrm>
            <a:off x="734966" y="292808"/>
            <a:ext cx="6547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rgbClr val="FFFF00"/>
                </a:solidFill>
              </a:rPr>
              <a:t>It have all property like normal current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21890D4-A1DF-9DDF-9DF3-77D7B1B9E7B6}"/>
              </a:ext>
            </a:extLst>
          </p:cNvPr>
          <p:cNvGrpSpPr/>
          <p:nvPr/>
        </p:nvGrpSpPr>
        <p:grpSpPr>
          <a:xfrm>
            <a:off x="5455471" y="1376226"/>
            <a:ext cx="4558364" cy="2506826"/>
            <a:chOff x="769414" y="1455574"/>
            <a:chExt cx="4558364" cy="250682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5C03DB0-3CFA-2EC5-4791-3E4B2D977583}"/>
                </a:ext>
              </a:extLst>
            </p:cNvPr>
            <p:cNvSpPr/>
            <p:nvPr/>
          </p:nvSpPr>
          <p:spPr>
            <a:xfrm>
              <a:off x="774441" y="1950097"/>
              <a:ext cx="1483567" cy="65314"/>
            </a:xfrm>
            <a:prstGeom prst="rect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2CA17FB-8F1F-093F-DD9D-69C485005377}"/>
                </a:ext>
              </a:extLst>
            </p:cNvPr>
            <p:cNvSpPr/>
            <p:nvPr/>
          </p:nvSpPr>
          <p:spPr>
            <a:xfrm>
              <a:off x="2188028" y="1488231"/>
              <a:ext cx="270588" cy="1054359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06B9110B-B226-28BA-947D-3E5928463FEC}"/>
                </a:ext>
              </a:extLst>
            </p:cNvPr>
            <p:cNvSpPr/>
            <p:nvPr/>
          </p:nvSpPr>
          <p:spPr>
            <a:xfrm rot="10800000">
              <a:off x="3671595" y="1455574"/>
              <a:ext cx="270588" cy="1054359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B851345E-8CB2-7C21-2F10-5F72FFCA0A1B}"/>
                </a:ext>
              </a:extLst>
            </p:cNvPr>
            <p:cNvSpPr/>
            <p:nvPr/>
          </p:nvSpPr>
          <p:spPr>
            <a:xfrm rot="10800000">
              <a:off x="3844210" y="1982753"/>
              <a:ext cx="1483567" cy="65314"/>
            </a:xfrm>
            <a:prstGeom prst="rect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A89FA3D-727F-0C17-1416-67A9695580EE}"/>
                </a:ext>
              </a:extLst>
            </p:cNvPr>
            <p:cNvSpPr/>
            <p:nvPr/>
          </p:nvSpPr>
          <p:spPr>
            <a:xfrm>
              <a:off x="769414" y="1950097"/>
              <a:ext cx="45719" cy="1614198"/>
            </a:xfrm>
            <a:prstGeom prst="rect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2E1EBDB-797F-0FD8-6674-43A899941F2E}"/>
                </a:ext>
              </a:extLst>
            </p:cNvPr>
            <p:cNvSpPr/>
            <p:nvPr/>
          </p:nvSpPr>
          <p:spPr>
            <a:xfrm>
              <a:off x="769414" y="3498980"/>
              <a:ext cx="2654507" cy="65315"/>
            </a:xfrm>
            <a:prstGeom prst="rect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C93B08BE-CF12-1455-F1BB-3EA02216BDE8}"/>
                </a:ext>
              </a:extLst>
            </p:cNvPr>
            <p:cNvSpPr/>
            <p:nvPr/>
          </p:nvSpPr>
          <p:spPr>
            <a:xfrm rot="10800000">
              <a:off x="3737633" y="3498981"/>
              <a:ext cx="1590144" cy="65314"/>
            </a:xfrm>
            <a:prstGeom prst="rect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31979F34-30B6-E7DD-B088-FC2EFDC58186}"/>
                </a:ext>
              </a:extLst>
            </p:cNvPr>
            <p:cNvSpPr/>
            <p:nvPr/>
          </p:nvSpPr>
          <p:spPr>
            <a:xfrm>
              <a:off x="5257798" y="1982753"/>
              <a:ext cx="69980" cy="1581542"/>
            </a:xfrm>
            <a:prstGeom prst="rect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B90CEEE3-73A9-BBDC-CE0F-660F295AD3D9}"/>
                </a:ext>
              </a:extLst>
            </p:cNvPr>
            <p:cNvSpPr/>
            <p:nvPr/>
          </p:nvSpPr>
          <p:spPr>
            <a:xfrm>
              <a:off x="3423921" y="3077857"/>
              <a:ext cx="45719" cy="884543"/>
            </a:xfrm>
            <a:prstGeom prst="rect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93294CB-9F67-D147-D5C2-B5CF80C78FB6}"/>
                </a:ext>
              </a:extLst>
            </p:cNvPr>
            <p:cNvSpPr/>
            <p:nvPr/>
          </p:nvSpPr>
          <p:spPr>
            <a:xfrm>
              <a:off x="3691914" y="3316617"/>
              <a:ext cx="45719" cy="523863"/>
            </a:xfrm>
            <a:prstGeom prst="rect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F894785A-0599-D841-0E9E-D6E944E1DD47}"/>
              </a:ext>
            </a:extLst>
          </p:cNvPr>
          <p:cNvGrpSpPr/>
          <p:nvPr/>
        </p:nvGrpSpPr>
        <p:grpSpPr>
          <a:xfrm>
            <a:off x="849563" y="1644364"/>
            <a:ext cx="3864991" cy="1029631"/>
            <a:chOff x="4005418" y="5308580"/>
            <a:chExt cx="3864991" cy="1029631"/>
          </a:xfrm>
        </p:grpSpPr>
        <p:sp>
          <p:nvSpPr>
            <p:cNvPr id="52" name="Cylinder 51">
              <a:extLst>
                <a:ext uri="{FF2B5EF4-FFF2-40B4-BE49-F238E27FC236}">
                  <a16:creationId xmlns:a16="http://schemas.microsoft.com/office/drawing/2014/main" id="{D5CE7AED-D8E1-E9A9-3DD7-0415BD7491AD}"/>
                </a:ext>
              </a:extLst>
            </p:cNvPr>
            <p:cNvSpPr/>
            <p:nvPr/>
          </p:nvSpPr>
          <p:spPr>
            <a:xfrm rot="5400000">
              <a:off x="5448278" y="4946318"/>
              <a:ext cx="1029630" cy="1754155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60356CFE-B523-5698-2992-2439AE79E6CC}"/>
                </a:ext>
              </a:extLst>
            </p:cNvPr>
            <p:cNvCxnSpPr>
              <a:cxnSpLocks/>
            </p:cNvCxnSpPr>
            <p:nvPr/>
          </p:nvCxnSpPr>
          <p:spPr>
            <a:xfrm>
              <a:off x="4046563" y="5312872"/>
              <a:ext cx="1150647" cy="0"/>
            </a:xfrm>
            <a:prstGeom prst="line">
              <a:avLst/>
            </a:prstGeom>
            <a:ln>
              <a:solidFill>
                <a:schemeClr val="bg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B06D3AF2-C911-CD85-498E-2F31FBB29260}"/>
                </a:ext>
              </a:extLst>
            </p:cNvPr>
            <p:cNvCxnSpPr>
              <a:cxnSpLocks/>
            </p:cNvCxnSpPr>
            <p:nvPr/>
          </p:nvCxnSpPr>
          <p:spPr>
            <a:xfrm>
              <a:off x="4005418" y="6328658"/>
              <a:ext cx="1150647" cy="0"/>
            </a:xfrm>
            <a:prstGeom prst="line">
              <a:avLst/>
            </a:prstGeom>
            <a:ln>
              <a:solidFill>
                <a:schemeClr val="bg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7E16F3BB-9DB1-D97C-939D-B0183B47C777}"/>
                </a:ext>
              </a:extLst>
            </p:cNvPr>
            <p:cNvCxnSpPr>
              <a:cxnSpLocks/>
            </p:cNvCxnSpPr>
            <p:nvPr/>
          </p:nvCxnSpPr>
          <p:spPr>
            <a:xfrm>
              <a:off x="6719762" y="5308580"/>
              <a:ext cx="1150647" cy="0"/>
            </a:xfrm>
            <a:prstGeom prst="line">
              <a:avLst/>
            </a:prstGeom>
            <a:ln>
              <a:solidFill>
                <a:schemeClr val="bg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8E4AD914-E5EE-6AD8-945A-0D99C9D6BBF5}"/>
                </a:ext>
              </a:extLst>
            </p:cNvPr>
            <p:cNvCxnSpPr>
              <a:cxnSpLocks/>
            </p:cNvCxnSpPr>
            <p:nvPr/>
          </p:nvCxnSpPr>
          <p:spPr>
            <a:xfrm>
              <a:off x="6678617" y="6324366"/>
              <a:ext cx="1150647" cy="0"/>
            </a:xfrm>
            <a:prstGeom prst="line">
              <a:avLst/>
            </a:prstGeom>
            <a:ln>
              <a:solidFill>
                <a:schemeClr val="bg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D69FDC58-049E-AEE1-3620-C396D1EF4399}"/>
              </a:ext>
            </a:extLst>
          </p:cNvPr>
          <p:cNvCxnSpPr>
            <a:cxnSpLocks/>
          </p:cNvCxnSpPr>
          <p:nvPr/>
        </p:nvCxnSpPr>
        <p:spPr>
          <a:xfrm flipV="1">
            <a:off x="2158757" y="1029704"/>
            <a:ext cx="0" cy="1190136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69F9991C-851A-D8F6-E01A-43D777EC8317}"/>
              </a:ext>
            </a:extLst>
          </p:cNvPr>
          <p:cNvCxnSpPr>
            <a:cxnSpLocks/>
            <a:endCxn id="52" idx="2"/>
          </p:cNvCxnSpPr>
          <p:nvPr/>
        </p:nvCxnSpPr>
        <p:spPr>
          <a:xfrm flipH="1" flipV="1">
            <a:off x="2807238" y="1644365"/>
            <a:ext cx="16179" cy="575475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231ABAC5-8135-E6E1-194B-9243E8F57135}"/>
              </a:ext>
            </a:extLst>
          </p:cNvPr>
          <p:cNvCxnSpPr>
            <a:cxnSpLocks/>
          </p:cNvCxnSpPr>
          <p:nvPr/>
        </p:nvCxnSpPr>
        <p:spPr>
          <a:xfrm flipV="1">
            <a:off x="3267467" y="1870749"/>
            <a:ext cx="0" cy="349091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59055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806EE3-BB5D-A9F1-C8AA-553E8A47A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B7579F1A-0E0A-16CE-C260-A6BAEAA1A8C7}"/>
              </a:ext>
            </a:extLst>
          </p:cNvPr>
          <p:cNvSpPr txBox="1"/>
          <p:nvPr/>
        </p:nvSpPr>
        <p:spPr>
          <a:xfrm>
            <a:off x="12905686" y="3372718"/>
            <a:ext cx="6547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bg1"/>
                </a:solidFill>
              </a:rPr>
              <a:t>It have all property like normal current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EF11557E-19F1-1EC2-569F-25CF32CEC7E3}"/>
              </a:ext>
            </a:extLst>
          </p:cNvPr>
          <p:cNvGrpSpPr/>
          <p:nvPr/>
        </p:nvGrpSpPr>
        <p:grpSpPr>
          <a:xfrm>
            <a:off x="17911631" y="4456136"/>
            <a:ext cx="4558364" cy="2506826"/>
            <a:chOff x="769414" y="1455574"/>
            <a:chExt cx="4558364" cy="250682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E8AF5FE-FD40-74B3-545D-8F79E44B4C85}"/>
                </a:ext>
              </a:extLst>
            </p:cNvPr>
            <p:cNvSpPr/>
            <p:nvPr/>
          </p:nvSpPr>
          <p:spPr>
            <a:xfrm>
              <a:off x="774441" y="1950097"/>
              <a:ext cx="1483567" cy="65314"/>
            </a:xfrm>
            <a:prstGeom prst="rect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AE3EC81-A096-6B2C-5EBA-503C1DCFA5FC}"/>
                </a:ext>
              </a:extLst>
            </p:cNvPr>
            <p:cNvSpPr/>
            <p:nvPr/>
          </p:nvSpPr>
          <p:spPr>
            <a:xfrm>
              <a:off x="2188028" y="1488231"/>
              <a:ext cx="270588" cy="1054359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3D0798FE-2D88-F557-FABB-59DAAEBEB98D}"/>
                </a:ext>
              </a:extLst>
            </p:cNvPr>
            <p:cNvSpPr/>
            <p:nvPr/>
          </p:nvSpPr>
          <p:spPr>
            <a:xfrm rot="10800000">
              <a:off x="3671595" y="1455574"/>
              <a:ext cx="270588" cy="1054359"/>
            </a:xfrm>
            <a:prstGeom prst="ellipse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FEFE5BF-3824-25D0-E39A-21C1FE5FA8FF}"/>
                </a:ext>
              </a:extLst>
            </p:cNvPr>
            <p:cNvSpPr/>
            <p:nvPr/>
          </p:nvSpPr>
          <p:spPr>
            <a:xfrm rot="10800000">
              <a:off x="3844210" y="1982753"/>
              <a:ext cx="1483567" cy="65314"/>
            </a:xfrm>
            <a:prstGeom prst="rect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53FDC36-AB43-9A41-32A7-8421312B6FBC}"/>
                </a:ext>
              </a:extLst>
            </p:cNvPr>
            <p:cNvSpPr/>
            <p:nvPr/>
          </p:nvSpPr>
          <p:spPr>
            <a:xfrm>
              <a:off x="769414" y="1950097"/>
              <a:ext cx="45719" cy="1614198"/>
            </a:xfrm>
            <a:prstGeom prst="rect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FD7D164B-82EA-574F-2860-0DDECEBC570A}"/>
                </a:ext>
              </a:extLst>
            </p:cNvPr>
            <p:cNvSpPr/>
            <p:nvPr/>
          </p:nvSpPr>
          <p:spPr>
            <a:xfrm>
              <a:off x="769414" y="3498980"/>
              <a:ext cx="2654507" cy="65315"/>
            </a:xfrm>
            <a:prstGeom prst="rect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B8CA389-312F-AD81-9101-8E753E0DFB33}"/>
                </a:ext>
              </a:extLst>
            </p:cNvPr>
            <p:cNvSpPr/>
            <p:nvPr/>
          </p:nvSpPr>
          <p:spPr>
            <a:xfrm rot="10800000">
              <a:off x="3737633" y="3498981"/>
              <a:ext cx="1590144" cy="65314"/>
            </a:xfrm>
            <a:prstGeom prst="rect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41A9FB3F-69CB-B52B-8DE5-0D2FF926855C}"/>
                </a:ext>
              </a:extLst>
            </p:cNvPr>
            <p:cNvSpPr/>
            <p:nvPr/>
          </p:nvSpPr>
          <p:spPr>
            <a:xfrm>
              <a:off x="5257798" y="1982753"/>
              <a:ext cx="69980" cy="1581542"/>
            </a:xfrm>
            <a:prstGeom prst="rect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CB0D4C6-BB11-0556-42E1-E27BEBE297A8}"/>
                </a:ext>
              </a:extLst>
            </p:cNvPr>
            <p:cNvSpPr/>
            <p:nvPr/>
          </p:nvSpPr>
          <p:spPr>
            <a:xfrm>
              <a:off x="3423921" y="3077857"/>
              <a:ext cx="45719" cy="884543"/>
            </a:xfrm>
            <a:prstGeom prst="rect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39ACE47-E5A1-35F4-EC8B-FCB19BAAE8C7}"/>
                </a:ext>
              </a:extLst>
            </p:cNvPr>
            <p:cNvSpPr/>
            <p:nvPr/>
          </p:nvSpPr>
          <p:spPr>
            <a:xfrm>
              <a:off x="3691914" y="3316617"/>
              <a:ext cx="45719" cy="523863"/>
            </a:xfrm>
            <a:prstGeom prst="rect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5002F74-FF32-FEA8-25A4-A8FCB45189A2}"/>
              </a:ext>
            </a:extLst>
          </p:cNvPr>
          <p:cNvGrpSpPr/>
          <p:nvPr/>
        </p:nvGrpSpPr>
        <p:grpSpPr>
          <a:xfrm>
            <a:off x="13305723" y="4724274"/>
            <a:ext cx="3864991" cy="1029631"/>
            <a:chOff x="4005418" y="5308580"/>
            <a:chExt cx="3864991" cy="1029631"/>
          </a:xfrm>
        </p:grpSpPr>
        <p:sp>
          <p:nvSpPr>
            <p:cNvPr id="30" name="Cylinder 29">
              <a:extLst>
                <a:ext uri="{FF2B5EF4-FFF2-40B4-BE49-F238E27FC236}">
                  <a16:creationId xmlns:a16="http://schemas.microsoft.com/office/drawing/2014/main" id="{5773D6A8-E928-A009-6AB1-C3E9C7782EF7}"/>
                </a:ext>
              </a:extLst>
            </p:cNvPr>
            <p:cNvSpPr/>
            <p:nvPr/>
          </p:nvSpPr>
          <p:spPr>
            <a:xfrm rot="5400000">
              <a:off x="5448278" y="4946318"/>
              <a:ext cx="1029630" cy="1754155"/>
            </a:xfrm>
            <a:prstGeom prst="ca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3C603E11-A7F5-BFF1-D358-CAD0DABEDEED}"/>
                </a:ext>
              </a:extLst>
            </p:cNvPr>
            <p:cNvCxnSpPr>
              <a:cxnSpLocks/>
            </p:cNvCxnSpPr>
            <p:nvPr/>
          </p:nvCxnSpPr>
          <p:spPr>
            <a:xfrm>
              <a:off x="4046563" y="5312872"/>
              <a:ext cx="1150647" cy="0"/>
            </a:xfrm>
            <a:prstGeom prst="line">
              <a:avLst/>
            </a:prstGeom>
            <a:ln>
              <a:solidFill>
                <a:schemeClr val="bg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BB91715-392A-B200-646F-6B1D0CF98927}"/>
                </a:ext>
              </a:extLst>
            </p:cNvPr>
            <p:cNvCxnSpPr>
              <a:cxnSpLocks/>
            </p:cNvCxnSpPr>
            <p:nvPr/>
          </p:nvCxnSpPr>
          <p:spPr>
            <a:xfrm>
              <a:off x="4005418" y="6328658"/>
              <a:ext cx="1150647" cy="0"/>
            </a:xfrm>
            <a:prstGeom prst="line">
              <a:avLst/>
            </a:prstGeom>
            <a:ln>
              <a:solidFill>
                <a:schemeClr val="bg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A6F532B-1267-0418-8B6B-285BA1F927D1}"/>
                </a:ext>
              </a:extLst>
            </p:cNvPr>
            <p:cNvCxnSpPr>
              <a:cxnSpLocks/>
            </p:cNvCxnSpPr>
            <p:nvPr/>
          </p:nvCxnSpPr>
          <p:spPr>
            <a:xfrm>
              <a:off x="6719762" y="5308580"/>
              <a:ext cx="1150647" cy="0"/>
            </a:xfrm>
            <a:prstGeom prst="line">
              <a:avLst/>
            </a:prstGeom>
            <a:ln>
              <a:solidFill>
                <a:schemeClr val="bg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3260D27-CA68-4F5C-9337-903F915E8500}"/>
                </a:ext>
              </a:extLst>
            </p:cNvPr>
            <p:cNvCxnSpPr>
              <a:cxnSpLocks/>
            </p:cNvCxnSpPr>
            <p:nvPr/>
          </p:nvCxnSpPr>
          <p:spPr>
            <a:xfrm>
              <a:off x="6678617" y="6324366"/>
              <a:ext cx="1150647" cy="0"/>
            </a:xfrm>
            <a:prstGeom prst="line">
              <a:avLst/>
            </a:prstGeom>
            <a:ln>
              <a:solidFill>
                <a:schemeClr val="bg1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DE119F8-D551-D7B9-D859-A28F93D40ED6}"/>
              </a:ext>
            </a:extLst>
          </p:cNvPr>
          <p:cNvCxnSpPr>
            <a:cxnSpLocks/>
            <a:endCxn id="30" idx="2"/>
          </p:cNvCxnSpPr>
          <p:nvPr/>
        </p:nvCxnSpPr>
        <p:spPr>
          <a:xfrm flipH="1" flipV="1">
            <a:off x="15263398" y="4724275"/>
            <a:ext cx="16179" cy="575475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02D6A22A-B81E-41A4-0C9B-674DFF08137D}"/>
              </a:ext>
            </a:extLst>
          </p:cNvPr>
          <p:cNvCxnSpPr>
            <a:cxnSpLocks/>
          </p:cNvCxnSpPr>
          <p:nvPr/>
        </p:nvCxnSpPr>
        <p:spPr>
          <a:xfrm flipV="1">
            <a:off x="15723627" y="4950659"/>
            <a:ext cx="0" cy="349091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4EA63FFC-9292-0E3E-33BB-09601D25A975}"/>
              </a:ext>
            </a:extLst>
          </p:cNvPr>
          <p:cNvSpPr/>
          <p:nvPr/>
        </p:nvSpPr>
        <p:spPr>
          <a:xfrm>
            <a:off x="21609684" y="3190668"/>
            <a:ext cx="786824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Make circuit and show this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326D67D-7B25-6040-BD09-25458D93D1B2}"/>
              </a:ext>
            </a:extLst>
          </p:cNvPr>
          <p:cNvSpPr/>
          <p:nvPr/>
        </p:nvSpPr>
        <p:spPr>
          <a:xfrm>
            <a:off x="127173" y="273104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3</a:t>
            </a:r>
            <a:endParaRPr lang="en-US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96D89D2-3E59-7C6A-64E8-B55057E9D21C}"/>
                  </a:ext>
                </a:extLst>
              </p:cNvPr>
              <p:cNvSpPr txBox="1"/>
              <p:nvPr/>
            </p:nvSpPr>
            <p:spPr>
              <a:xfrm>
                <a:off x="605769" y="484734"/>
                <a:ext cx="654792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IN" sz="2800" dirty="0">
                    <a:solidFill>
                      <a:srgbClr val="FFFF00"/>
                    </a:solidFill>
                  </a:rPr>
                  <a:t>Current is a zone is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∝</m:t>
                    </m:r>
                  </m:oMath>
                </a14:m>
                <a:r>
                  <a:rPr lang="en-IN" sz="2800" dirty="0">
                    <a:solidFill>
                      <a:srgbClr val="FFFF00"/>
                    </a:solidFill>
                  </a:rPr>
                  <a:t> Area </a:t>
                </a: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96D89D2-3E59-7C6A-64E8-B55057E9D2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769" y="484734"/>
                <a:ext cx="6547922" cy="523220"/>
              </a:xfrm>
              <a:prstGeom prst="rect">
                <a:avLst/>
              </a:prstGeom>
              <a:blipFill>
                <a:blip r:embed="rId2"/>
                <a:stretch>
                  <a:fillRect l="-1860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D9AA788-D99C-AAF2-7247-5AFE4DFB4276}"/>
              </a:ext>
            </a:extLst>
          </p:cNvPr>
          <p:cNvCxnSpPr>
            <a:cxnSpLocks/>
          </p:cNvCxnSpPr>
          <p:nvPr/>
        </p:nvCxnSpPr>
        <p:spPr>
          <a:xfrm flipV="1">
            <a:off x="15834116" y="4109614"/>
            <a:ext cx="0" cy="1190136"/>
          </a:xfrm>
          <a:prstGeom prst="straightConnector1">
            <a:avLst/>
          </a:prstGeom>
          <a:ln w="1905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6AE7F4BC-E621-EB1E-3E43-826459F215DF}"/>
                  </a:ext>
                </a:extLst>
              </p:cNvPr>
              <p:cNvSpPr txBox="1"/>
              <p:nvPr/>
            </p:nvSpPr>
            <p:spPr>
              <a:xfrm>
                <a:off x="686406" y="1079602"/>
                <a:ext cx="2468880" cy="910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𝐴𝑠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𝜙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6AE7F4BC-E621-EB1E-3E43-826459F21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406" y="1079602"/>
                <a:ext cx="2468880" cy="9103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Oval 68">
            <a:extLst>
              <a:ext uri="{FF2B5EF4-FFF2-40B4-BE49-F238E27FC236}">
                <a16:creationId xmlns:a16="http://schemas.microsoft.com/office/drawing/2014/main" id="{C87C193D-F52B-838A-390F-B5C6E5764DA9}"/>
              </a:ext>
            </a:extLst>
          </p:cNvPr>
          <p:cNvSpPr/>
          <p:nvPr/>
        </p:nvSpPr>
        <p:spPr>
          <a:xfrm>
            <a:off x="2685386" y="1134700"/>
            <a:ext cx="377014" cy="377014"/>
          </a:xfrm>
          <a:prstGeom prst="ellipse">
            <a:avLst/>
          </a:prstGeom>
          <a:noFill/>
          <a:ln>
            <a:solidFill>
              <a:schemeClr val="bg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22B1C6A-3D1A-1C7E-BD7B-4B563A9EEF8F}"/>
                  </a:ext>
                </a:extLst>
              </p:cNvPr>
              <p:cNvSpPr txBox="1"/>
              <p:nvPr/>
            </p:nvSpPr>
            <p:spPr>
              <a:xfrm>
                <a:off x="2650446" y="1079601"/>
                <a:ext cx="2468880" cy="910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𝑑𝐵𝐴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22B1C6A-3D1A-1C7E-BD7B-4B563A9EEF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0446" y="1079601"/>
                <a:ext cx="2468880" cy="9103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1" name="3D Model 70">
                <a:extLst>
                  <a:ext uri="{FF2B5EF4-FFF2-40B4-BE49-F238E27FC236}">
                    <a16:creationId xmlns:a16="http://schemas.microsoft.com/office/drawing/2014/main" id="{A2D4A9EE-BAA7-D1B4-882A-F2E93E386B9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8194051"/>
                  </p:ext>
                </p:extLst>
              </p:nvPr>
            </p:nvGraphicFramePr>
            <p:xfrm rot="5400000">
              <a:off x="1654040" y="1491716"/>
              <a:ext cx="986864" cy="2875240"/>
            </p:xfrm>
            <a:graphic>
              <a:graphicData uri="http://schemas.microsoft.com/office/drawing/2017/model3d">
                <am3d:model3d r:embed="rId5">
                  <am3d:spPr>
                    <a:xfrm rot="5400000">
                      <a:off x="0" y="0"/>
                      <a:ext cx="986864" cy="2875240"/>
                    </a:xfrm>
                    <a:prstGeom prst="rect">
                      <a:avLst/>
                    </a:prstGeom>
                  </am3d:spPr>
                  <am3d:camera>
                    <am3d:pos x="0" y="0" z="5286527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56106" d="1000000"/>
                    <am3d:preTrans dx="-1849237" dy="-17646289" dz="949222"/>
                    <am3d:scale>
                      <am3d:sx n="1000000" d="1000000"/>
                      <am3d:sy n="1000000" d="1000000"/>
                      <am3d:sz n="1000000" d="1000000"/>
                    </am3d:scale>
                    <am3d:rot ax="274791" ay="-348204" az="-27849"/>
                    <am3d:postTrans dx="0" dy="0" dz="0"/>
                  </am3d:trans>
                  <am3d:raster rName="Office3DRenderer" rVer="16.0.8326">
                    <am3d:blip r:embed="rId6"/>
                  </am3d:raster>
                  <am3d:objViewport viewportSz="2876604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1" name="3D Model 70">
                <a:extLst>
                  <a:ext uri="{FF2B5EF4-FFF2-40B4-BE49-F238E27FC236}">
                    <a16:creationId xmlns:a16="http://schemas.microsoft.com/office/drawing/2014/main" id="{A2D4A9EE-BAA7-D1B4-882A-F2E93E386B9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 rot="5400000">
                <a:off x="1654040" y="1491716"/>
                <a:ext cx="986864" cy="28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72" name="3D Model 71">
                <a:extLst>
                  <a:ext uri="{FF2B5EF4-FFF2-40B4-BE49-F238E27FC236}">
                    <a16:creationId xmlns:a16="http://schemas.microsoft.com/office/drawing/2014/main" id="{F888F60A-DD79-6FB1-6DBA-53F8342A9CB1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179441797"/>
                  </p:ext>
                </p:extLst>
              </p:nvPr>
            </p:nvGraphicFramePr>
            <p:xfrm rot="5400000">
              <a:off x="4986612" y="1412473"/>
              <a:ext cx="1021470" cy="3011584"/>
            </p:xfrm>
            <a:graphic>
              <a:graphicData uri="http://schemas.microsoft.com/office/drawing/2017/model3d">
                <am3d:model3d r:embed="rId7">
                  <am3d:spPr>
                    <a:xfrm rot="5400000">
                      <a:off x="0" y="0"/>
                      <a:ext cx="1021470" cy="3011584"/>
                    </a:xfrm>
                    <a:prstGeom prst="rect">
                      <a:avLst/>
                    </a:prstGeom>
                  </am3d:spPr>
                  <am3d:camera>
                    <am3d:pos x="0" y="0" z="5286527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56106" d="1000000"/>
                    <am3d:preTrans dx="-1849237" dy="-17646289" dz="949222"/>
                    <am3d:scale>
                      <am3d:sx n="1000000" d="1000000"/>
                      <am3d:sy n="1000000" d="1000000"/>
                      <am3d:sz n="1000000" d="1000000"/>
                    </am3d:scale>
                    <am3d:rot/>
                    <am3d:postTrans dx="0" dy="0" dz="0"/>
                  </am3d:trans>
                  <am3d:raster rName="Office3DRenderer" rVer="16.0.8326">
                    <am3d:blip r:embed="rId8"/>
                  </am3d:raster>
                  <am3d:objViewport viewportSz="304513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72" name="3D Model 71">
                <a:extLst>
                  <a:ext uri="{FF2B5EF4-FFF2-40B4-BE49-F238E27FC236}">
                    <a16:creationId xmlns:a16="http://schemas.microsoft.com/office/drawing/2014/main" id="{F888F60A-DD79-6FB1-6DBA-53F8342A9CB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 rot="5400000">
                <a:off x="4986612" y="1412473"/>
                <a:ext cx="1021470" cy="301158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116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0" presetClass="entr" presetSubtype="12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23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4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5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26" dur="1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60" presetClass="entr" presetSubtype="12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sum">
                                        <p:cTn id="30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3d.view.rotation.y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20"/>
                                          </p:val>
                                        </p:tav>
                                        <p:tav tm="3330">
                                          <p:val>
                                            <p:fltVal val="-19.9349"/>
                                          </p:val>
                                        </p:tav>
                                        <p:tav tm="6660">
                                          <p:val>
                                            <p:fltVal val="-19.7456"/>
                                          </p:val>
                                        </p:tav>
                                        <p:tav tm="9990">
                                          <p:val>
                                            <p:fltVal val="-19.441"/>
                                          </p:val>
                                        </p:tav>
                                        <p:tav tm="13320">
                                          <p:val>
                                            <p:fltVal val="-19.0299"/>
                                          </p:val>
                                        </p:tav>
                                        <p:tav tm="16650">
                                          <p:val>
                                            <p:fltVal val="-18.5212"/>
                                          </p:val>
                                        </p:tav>
                                        <p:tav tm="19970">
                                          <p:val>
                                            <p:fltVal val="-17.9257"/>
                                          </p:val>
                                        </p:tav>
                                        <p:tav tm="23290">
                                          <p:val>
                                            <p:fltVal val="-17.2507"/>
                                          </p:val>
                                        </p:tav>
                                        <p:tav tm="26620">
                                          <p:val>
                                            <p:fltVal val="-16.5027"/>
                                          </p:val>
                                        </p:tav>
                                        <p:tav tm="29950">
                                          <p:val>
                                            <p:fltVal val="-15.6925"/>
                                          </p:val>
                                        </p:tav>
                                        <p:tav tm="33280">
                                          <p:val>
                                            <p:fltVal val="-14.829"/>
                                          </p:val>
                                        </p:tav>
                                        <p:tav tm="36610">
                                          <p:val>
                                            <p:fltVal val="-13.9209"/>
                                          </p:val>
                                        </p:tav>
                                        <p:tav tm="39940">
                                          <p:val>
                                            <p:fltVal val="-12.9772"/>
                                          </p:val>
                                        </p:tav>
                                        <p:tav tm="43270">
                                          <p:val>
                                            <p:fltVal val="-12.0068"/>
                                          </p:val>
                                        </p:tav>
                                        <p:tav tm="46600">
                                          <p:val>
                                            <p:fltVal val="-11.0184"/>
                                          </p:val>
                                        </p:tav>
                                        <p:tav tm="49930">
                                          <p:val>
                                            <p:fltVal val="-10.0209"/>
                                          </p:val>
                                        </p:tav>
                                        <p:tav tm="53250">
                                          <p:val>
                                            <p:fltVal val="-9.0263"/>
                                          </p:val>
                                        </p:tav>
                                        <p:tav tm="56580">
                                          <p:val>
                                            <p:fltVal val="-8.0373"/>
                                          </p:val>
                                        </p:tav>
                                        <p:tav tm="59900">
                                          <p:val>
                                            <p:fltVal val="-7.0688"/>
                                          </p:val>
                                        </p:tav>
                                        <p:tav tm="63220">
                                          <p:val>
                                            <p:fltVal val="-6.1264"/>
                                          </p:val>
                                        </p:tav>
                                        <p:tav tm="66540">
                                          <p:val>
                                            <p:fltVal val="-5.2189"/>
                                          </p:val>
                                        </p:tav>
                                        <p:tav tm="69870">
                                          <p:val>
                                            <p:fltVal val="-4.3528"/>
                                          </p:val>
                                        </p:tav>
                                        <p:tav tm="73190">
                                          <p:val>
                                            <p:fltVal val="-3.5418"/>
                                          </p:val>
                                        </p:tav>
                                        <p:tav tm="76510">
                                          <p:val>
                                            <p:fltVal val="-2.7922"/>
                                          </p:val>
                                        </p:tav>
                                        <p:tav tm="79830">
                                          <p:val>
                                            <p:fltVal val="-2.1127"/>
                                          </p:val>
                                        </p:tav>
                                        <p:tav tm="83160">
                                          <p:val>
                                            <p:fltVal val="-1.5104"/>
                                          </p:val>
                                        </p:tav>
                                        <p:tav tm="86480">
                                          <p:val>
                                            <p:fltVal val="-0.9978"/>
                                          </p:val>
                                        </p:tav>
                                        <p:tav tm="89800">
                                          <p:val>
                                            <p:fltVal val="-0.5817"/>
                                          </p:val>
                                        </p:tav>
                                        <p:tav tm="93120">
                                          <p:val>
                                            <p:fltVal val="-0.2709"/>
                                          </p:val>
                                        </p:tav>
                                        <p:tav tm="96450">
                                          <p:val>
                                            <p:fltVal val="-0.0738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1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3d.object.scale.x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2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3d.object.scale.y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mult">
                                        <p:cTn id="33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3d.object.scale.z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8"/>
                                          </p:val>
                                        </p:tav>
                                        <p:tav tm="3330">
                                          <p:val>
                                            <p:fltVal val="0.8104"/>
                                          </p:val>
                                        </p:tav>
                                        <p:tav tm="6660">
                                          <p:val>
                                            <p:fltVal val="0.8208"/>
                                          </p:val>
                                        </p:tav>
                                        <p:tav tm="9990">
                                          <p:val>
                                            <p:fltVal val="0.8312"/>
                                          </p:val>
                                        </p:tav>
                                        <p:tav tm="13320">
                                          <p:val>
                                            <p:fltVal val="0.8415"/>
                                          </p:val>
                                        </p:tav>
                                        <p:tav tm="16650">
                                          <p:val>
                                            <p:fltVal val="0.8517"/>
                                          </p:val>
                                        </p:tav>
                                        <p:tav tm="19970">
                                          <p:val>
                                            <p:fltVal val="0.8617"/>
                                          </p:val>
                                        </p:tav>
                                        <p:tav tm="23290">
                                          <p:val>
                                            <p:fltVal val="0.8715"/>
                                          </p:val>
                                        </p:tav>
                                        <p:tav tm="26620">
                                          <p:val>
                                            <p:fltVal val="0.8812"/>
                                          </p:val>
                                        </p:tav>
                                        <p:tav tm="29950">
                                          <p:val>
                                            <p:fltVal val="0.8906"/>
                                          </p:val>
                                        </p:tav>
                                        <p:tav tm="33280">
                                          <p:val>
                                            <p:fltVal val="0.8998"/>
                                          </p:val>
                                        </p:tav>
                                        <p:tav tm="36610">
                                          <p:val>
                                            <p:fltVal val="0.9087"/>
                                          </p:val>
                                        </p:tav>
                                        <p:tav tm="39940">
                                          <p:val>
                                            <p:fltVal val="0.9174"/>
                                          </p:val>
                                        </p:tav>
                                        <p:tav tm="43270">
                                          <p:val>
                                            <p:fltVal val="0.9257"/>
                                          </p:val>
                                        </p:tav>
                                        <p:tav tm="46600">
                                          <p:val>
                                            <p:fltVal val="0.9336"/>
                                          </p:val>
                                        </p:tav>
                                        <p:tav tm="49930">
                                          <p:val>
                                            <p:fltVal val="0.9412"/>
                                          </p:val>
                                        </p:tav>
                                        <p:tav tm="53250">
                                          <p:val>
                                            <p:fltVal val="0.9484"/>
                                          </p:val>
                                        </p:tav>
                                        <p:tav tm="56580">
                                          <p:val>
                                            <p:fltVal val="0.9552"/>
                                          </p:val>
                                        </p:tav>
                                        <p:tav tm="59900">
                                          <p:val>
                                            <p:fltVal val="0.9616"/>
                                          </p:val>
                                        </p:tav>
                                        <p:tav tm="63220">
                                          <p:val>
                                            <p:fltVal val="0.9675"/>
                                          </p:val>
                                        </p:tav>
                                        <p:tav tm="66540">
                                          <p:val>
                                            <p:fltVal val="0.973"/>
                                          </p:val>
                                        </p:tav>
                                        <p:tav tm="69870">
                                          <p:val>
                                            <p:fltVal val="0.978"/>
                                          </p:val>
                                        </p:tav>
                                        <p:tav tm="73190">
                                          <p:val>
                                            <p:fltVal val="0.9825"/>
                                          </p:val>
                                        </p:tav>
                                        <p:tav tm="76510">
                                          <p:val>
                                            <p:fltVal val="0.9865"/>
                                          </p:val>
                                        </p:tav>
                                        <p:tav tm="79830">
                                          <p:val>
                                            <p:fltVal val="0.99"/>
                                          </p:val>
                                        </p:tav>
                                        <p:tav tm="83160">
                                          <p:val>
                                            <p:fltVal val="0.993"/>
                                          </p:val>
                                        </p:tav>
                                        <p:tav tm="86480">
                                          <p:val>
                                            <p:fltVal val="0.9955"/>
                                          </p:val>
                                        </p:tav>
                                        <p:tav tm="89800">
                                          <p:val>
                                            <p:fltVal val="0.9974"/>
                                          </p:val>
                                        </p:tav>
                                        <p:tav tm="93120">
                                          <p:val>
                                            <p:fltVal val="0.9988"/>
                                          </p:val>
                                        </p:tav>
                                        <p:tav tm="96450">
                                          <p:val>
                                            <p:fltVal val="0.9996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/>
      <p:bldP spid="69" grpId="0" animBg="1"/>
      <p:bldP spid="7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C7DED81-73FA-2937-BAD6-3E105B28B5DD}"/>
              </a:ext>
            </a:extLst>
          </p:cNvPr>
          <p:cNvSpPr/>
          <p:nvPr/>
        </p:nvSpPr>
        <p:spPr>
          <a:xfrm>
            <a:off x="518160" y="2697480"/>
            <a:ext cx="535967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Maxwell Equation</a:t>
            </a:r>
          </a:p>
        </p:txBody>
      </p:sp>
    </p:spTree>
    <p:extLst>
      <p:ext uri="{BB962C8B-B14F-4D97-AF65-F5344CB8AC3E}">
        <p14:creationId xmlns:p14="http://schemas.microsoft.com/office/powerpoint/2010/main" val="3054316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D2FE28B-3AEE-B0F1-5711-6B6754DD6918}"/>
              </a:ext>
            </a:extLst>
          </p:cNvPr>
          <p:cNvSpPr/>
          <p:nvPr/>
        </p:nvSpPr>
        <p:spPr>
          <a:xfrm>
            <a:off x="0" y="0"/>
            <a:ext cx="535967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Maxwell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7BC138C-8B04-B79C-93F2-C24DFF04C008}"/>
                  </a:ext>
                </a:extLst>
              </p:cNvPr>
              <p:cNvSpPr txBox="1"/>
              <p:nvPr/>
            </p:nvSpPr>
            <p:spPr>
              <a:xfrm>
                <a:off x="747334" y="812603"/>
                <a:ext cx="914400" cy="12225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subHide m:val="on"/>
                          <m:supHide m:val="on"/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𝑑𝑠</m:t>
                          </m:r>
                        </m:e>
                      </m:nary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67BC138C-8B04-B79C-93F2-C24DFF04C0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334" y="812603"/>
                <a:ext cx="914400" cy="1222514"/>
              </a:xfrm>
              <a:prstGeom prst="rect">
                <a:avLst/>
              </a:prstGeom>
              <a:blipFill>
                <a:blip r:embed="rId2"/>
                <a:stretch>
                  <a:fillRect r="-27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43F21B-0A97-0D4D-65CD-1583BE3C9FDD}"/>
                  </a:ext>
                </a:extLst>
              </p:cNvPr>
              <p:cNvSpPr txBox="1"/>
              <p:nvPr/>
            </p:nvSpPr>
            <p:spPr>
              <a:xfrm>
                <a:off x="2056559" y="942175"/>
                <a:ext cx="914400" cy="9030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6543F21B-0A97-0D4D-65CD-1583BE3C9F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6559" y="942175"/>
                <a:ext cx="914400" cy="903068"/>
              </a:xfrm>
              <a:prstGeom prst="rect">
                <a:avLst/>
              </a:prstGeom>
              <a:blipFill>
                <a:blip r:embed="rId3"/>
                <a:stretch>
                  <a:fillRect r="-1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ECB10DC-A17C-0B32-DF47-7EBA6706DB05}"/>
                  </a:ext>
                </a:extLst>
              </p:cNvPr>
              <p:cNvSpPr txBox="1"/>
              <p:nvPr/>
            </p:nvSpPr>
            <p:spPr>
              <a:xfrm>
                <a:off x="747334" y="2527187"/>
                <a:ext cx="914400" cy="12225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subHide m:val="on"/>
                          <m:supHide m:val="on"/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𝑑𝑠</m:t>
                          </m:r>
                        </m:e>
                      </m:nary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ECB10DC-A17C-0B32-DF47-7EBA6706DB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7334" y="2527187"/>
                <a:ext cx="914400" cy="1222514"/>
              </a:xfrm>
              <a:prstGeom prst="rect">
                <a:avLst/>
              </a:prstGeom>
              <a:blipFill>
                <a:blip r:embed="rId4"/>
                <a:stretch>
                  <a:fillRect r="-28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BCCEC10-F1A1-C4A0-BE70-29A8E7FEC20A}"/>
                  </a:ext>
                </a:extLst>
              </p:cNvPr>
              <p:cNvSpPr txBox="1"/>
              <p:nvPr/>
            </p:nvSpPr>
            <p:spPr>
              <a:xfrm>
                <a:off x="1206310" y="1760912"/>
                <a:ext cx="451325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2800" dirty="0">
                    <a:solidFill>
                      <a:srgbClr val="FFFF00"/>
                    </a:solidFill>
                  </a:rPr>
                  <a:t>Gauss law in electrostatics 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BCCEC10-F1A1-C4A0-BE70-29A8E7FEC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310" y="1760912"/>
                <a:ext cx="4513256" cy="523220"/>
              </a:xfrm>
              <a:prstGeom prst="rect">
                <a:avLst/>
              </a:prstGeom>
              <a:blipFill>
                <a:blip r:embed="rId5"/>
                <a:stretch>
                  <a:fillRect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1796D6B-FCA9-8601-DEF7-3D3B0E9066E1}"/>
                  </a:ext>
                </a:extLst>
              </p:cNvPr>
              <p:cNvSpPr txBox="1"/>
              <p:nvPr/>
            </p:nvSpPr>
            <p:spPr>
              <a:xfrm>
                <a:off x="1956157" y="2847897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1796D6B-FCA9-8601-DEF7-3D3B0E9066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6157" y="2847897"/>
                <a:ext cx="91440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457F15E-9488-64A0-84E8-AFDAEA31A450}"/>
                  </a:ext>
                </a:extLst>
              </p:cNvPr>
              <p:cNvSpPr txBox="1"/>
              <p:nvPr/>
            </p:nvSpPr>
            <p:spPr>
              <a:xfrm>
                <a:off x="1206309" y="3429196"/>
                <a:ext cx="461439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IN" sz="2800" dirty="0">
                        <a:solidFill>
                          <a:srgbClr val="FFFF00"/>
                        </a:solidFill>
                      </a:rPr>
                      <m:t>Gauss</m:t>
                    </m:r>
                    <m:r>
                      <m:rPr>
                        <m:nor/>
                      </m:rPr>
                      <a:rPr lang="en-IN" sz="2800" dirty="0">
                        <a:solidFill>
                          <a:srgbClr val="FFFF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IN" sz="2800" dirty="0">
                        <a:solidFill>
                          <a:srgbClr val="FFFF00"/>
                        </a:solidFill>
                      </a:rPr>
                      <m:t>law</m:t>
                    </m:r>
                    <m:r>
                      <m:rPr>
                        <m:nor/>
                      </m:rPr>
                      <a:rPr lang="en-IN" sz="2800" dirty="0">
                        <a:solidFill>
                          <a:srgbClr val="FFFF00"/>
                        </a:solidFill>
                      </a:rPr>
                      <m:t> </m:t>
                    </m:r>
                    <m:r>
                      <m:rPr>
                        <m:nor/>
                      </m:rPr>
                      <a:rPr lang="en-IN" sz="2800" dirty="0">
                        <a:solidFill>
                          <a:srgbClr val="FFFF00"/>
                        </a:solidFill>
                      </a:rPr>
                      <m:t>in</m:t>
                    </m:r>
                    <m:r>
                      <m:rPr>
                        <m:nor/>
                      </m:rPr>
                      <a:rPr lang="en-IN" sz="2800" dirty="0">
                        <a:solidFill>
                          <a:srgbClr val="FFFF00"/>
                        </a:solidFill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rgbClr val="FFFF00"/>
                    </a:solidFill>
                  </a:rPr>
                  <a:t>Magentism</a:t>
                </a:r>
              </a:p>
            </p:txBody>
          </p:sp>
        </mc:Choice>
        <mc:Fallback xmlns=""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457F15E-9488-64A0-84E8-AFDAEA31A4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6309" y="3429196"/>
                <a:ext cx="4614393" cy="523220"/>
              </a:xfrm>
              <a:prstGeom prst="rect">
                <a:avLst/>
              </a:prstGeom>
              <a:blipFill>
                <a:blip r:embed="rId7"/>
                <a:stretch>
                  <a:fillRect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94D8D5-BF43-F354-0AE8-447867375B98}"/>
                  </a:ext>
                </a:extLst>
              </p:cNvPr>
              <p:cNvSpPr txBox="1"/>
              <p:nvPr/>
            </p:nvSpPr>
            <p:spPr>
              <a:xfrm>
                <a:off x="5564855" y="768542"/>
                <a:ext cx="1563548" cy="12225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subHide m:val="on"/>
                          <m:supHide m:val="on"/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𝑑𝑙</m:t>
                          </m:r>
                        </m:e>
                      </m:nary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994D8D5-BF43-F354-0AE8-447867375B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4855" y="768542"/>
                <a:ext cx="1563548" cy="122251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E7B24CE-E711-2737-1BCC-B91A797F6818}"/>
                  </a:ext>
                </a:extLst>
              </p:cNvPr>
              <p:cNvSpPr txBox="1"/>
              <p:nvPr/>
            </p:nvSpPr>
            <p:spPr>
              <a:xfrm>
                <a:off x="6726070" y="822625"/>
                <a:ext cx="1706089" cy="910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num>
                        <m:den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E7B24CE-E711-2737-1BCC-B91A797F68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6070" y="822625"/>
                <a:ext cx="1706089" cy="9103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6891EB3-B1F3-7C40-FD84-A77B87346346}"/>
                  </a:ext>
                </a:extLst>
              </p:cNvPr>
              <p:cNvSpPr txBox="1"/>
              <p:nvPr/>
            </p:nvSpPr>
            <p:spPr>
              <a:xfrm>
                <a:off x="6225450" y="1664351"/>
                <a:ext cx="461439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2800" dirty="0">
                    <a:solidFill>
                      <a:srgbClr val="FFFF00"/>
                    </a:solidFill>
                  </a:rPr>
                  <a:t>Faradays law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6891EB3-B1F3-7C40-FD84-A77B873463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5450" y="1664351"/>
                <a:ext cx="4614392" cy="523220"/>
              </a:xfrm>
              <a:prstGeom prst="rect">
                <a:avLst/>
              </a:prstGeom>
              <a:blipFill>
                <a:blip r:embed="rId10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C18E61-29B4-8D91-57DC-1E165C1A316A}"/>
                  </a:ext>
                </a:extLst>
              </p:cNvPr>
              <p:cNvSpPr txBox="1"/>
              <p:nvPr/>
            </p:nvSpPr>
            <p:spPr>
              <a:xfrm>
                <a:off x="5742136" y="2495781"/>
                <a:ext cx="3503646" cy="12225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subHide m:val="on"/>
                          <m:supHide m:val="on"/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𝑑𝑙</m:t>
                          </m:r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</m:sub>
                              </m:sSub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IN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5C18E61-29B4-8D91-57DC-1E165C1A3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2136" y="2495781"/>
                <a:ext cx="3503646" cy="1222514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9CCEDD7-3E2E-1F64-7214-150EBF47C6C7}"/>
                  </a:ext>
                </a:extLst>
              </p:cNvPr>
              <p:cNvSpPr txBox="1"/>
              <p:nvPr/>
            </p:nvSpPr>
            <p:spPr>
              <a:xfrm>
                <a:off x="4645261" y="2495982"/>
                <a:ext cx="3503646" cy="12225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limLoc m:val="undOvr"/>
                          <m:subHide m:val="on"/>
                          <m:supHide m:val="on"/>
                          <m:ctrlPr>
                            <a:rPr lang="en-IN" sz="280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𝑑𝑙</m:t>
                          </m:r>
                        </m:e>
                      </m:nary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9CCEDD7-3E2E-1F64-7214-150EBF47C6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5261" y="2495982"/>
                <a:ext cx="3503646" cy="122251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6C054D1-3D24-3E39-85FC-3FAFF7D91660}"/>
                  </a:ext>
                </a:extLst>
              </p:cNvPr>
              <p:cNvSpPr txBox="1"/>
              <p:nvPr/>
            </p:nvSpPr>
            <p:spPr>
              <a:xfrm>
                <a:off x="6201112" y="3433956"/>
                <a:ext cx="461439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2800" dirty="0">
                    <a:solidFill>
                      <a:srgbClr val="FFFF00"/>
                    </a:solidFill>
                  </a:rPr>
                  <a:t>Ampere maxwell law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6C054D1-3D24-3E39-85FC-3FAFF7D916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01112" y="3433956"/>
                <a:ext cx="4614392" cy="523220"/>
              </a:xfrm>
              <a:prstGeom prst="rect">
                <a:avLst/>
              </a:prstGeom>
              <a:blipFill>
                <a:blip r:embed="rId13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A0A9AEC-383F-A7C2-51CF-CC543652FBB6}"/>
                  </a:ext>
                </a:extLst>
              </p:cNvPr>
              <p:cNvSpPr txBox="1"/>
              <p:nvPr/>
            </p:nvSpPr>
            <p:spPr>
              <a:xfrm>
                <a:off x="6320884" y="2784265"/>
                <a:ext cx="350364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IN" sz="2800" i="1" smtClean="0">
                              <a:solidFill>
                                <a:schemeClr val="bg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sz="280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  <m:r>
                            <a:rPr lang="en-IN" sz="2800" i="1">
                              <a:solidFill>
                                <a:schemeClr val="bg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chemeClr val="bg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A0A9AEC-383F-A7C2-51CF-CC543652F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0884" y="2784265"/>
                <a:ext cx="3503646" cy="52322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0638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24" grpId="0"/>
      <p:bldP spid="25" grpId="0"/>
      <p:bldP spid="36" grpId="0"/>
      <p:bldP spid="44" grpId="0"/>
      <p:bldP spid="5" grpId="0"/>
      <p:bldP spid="8" grpId="0"/>
      <p:bldP spid="10" grpId="0"/>
      <p:bldP spid="11" grpId="0"/>
      <p:bldP spid="13" grpId="0"/>
      <p:bldP spid="14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26B21-6324-BF70-D70D-59F64B74B4FC}"/>
              </a:ext>
            </a:extLst>
          </p:cNvPr>
          <p:cNvSpPr/>
          <p:nvPr/>
        </p:nvSpPr>
        <p:spPr>
          <a:xfrm>
            <a:off x="0" y="2967335"/>
            <a:ext cx="63750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Maxwell wave theory</a:t>
            </a:r>
          </a:p>
        </p:txBody>
      </p:sp>
    </p:spTree>
    <p:extLst>
      <p:ext uri="{BB962C8B-B14F-4D97-AF65-F5344CB8AC3E}">
        <p14:creationId xmlns:p14="http://schemas.microsoft.com/office/powerpoint/2010/main" val="1866527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BE3F215-6AA4-9E7C-CDF8-B0A344BFEA3B}"/>
              </a:ext>
            </a:extLst>
          </p:cNvPr>
          <p:cNvSpPr/>
          <p:nvPr/>
        </p:nvSpPr>
        <p:spPr>
          <a:xfrm>
            <a:off x="0" y="28035"/>
            <a:ext cx="63750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Maxwell wave theory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A1831FC-8161-3ACF-216D-18267EA6B6B3}"/>
              </a:ext>
            </a:extLst>
          </p:cNvPr>
          <p:cNvGrpSpPr/>
          <p:nvPr/>
        </p:nvGrpSpPr>
        <p:grpSpPr>
          <a:xfrm>
            <a:off x="108131" y="1265497"/>
            <a:ext cx="7089081" cy="3798115"/>
            <a:chOff x="137160" y="1219200"/>
            <a:chExt cx="5958840" cy="288036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AA54921-C4C1-C96A-8D32-30EB51220079}"/>
                </a:ext>
              </a:extLst>
            </p:cNvPr>
            <p:cNvSpPr/>
            <p:nvPr/>
          </p:nvSpPr>
          <p:spPr>
            <a:xfrm>
              <a:off x="137160" y="1219200"/>
              <a:ext cx="5958840" cy="2880360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7" name="Picture 2" descr="electromagnetism - How is the combination of electric ...">
              <a:extLst>
                <a:ext uri="{FF2B5EF4-FFF2-40B4-BE49-F238E27FC236}">
                  <a16:creationId xmlns:a16="http://schemas.microsoft.com/office/drawing/2014/main" id="{F25D3273-B23E-8C58-F57C-285F299563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551" y="1524000"/>
              <a:ext cx="5192058" cy="2270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94B606A-E0C7-32C3-5077-FD6FB6750A00}"/>
                  </a:ext>
                </a:extLst>
              </p:cNvPr>
              <p:cNvSpPr/>
              <p:nvPr/>
            </p:nvSpPr>
            <p:spPr>
              <a:xfrm>
                <a:off x="7550872" y="1591424"/>
                <a:ext cx="347563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894B606A-E0C7-32C3-5077-FD6FB6750A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0872" y="1591424"/>
                <a:ext cx="347563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4BF71F8-501A-B88D-84B6-2E803231CD1F}"/>
                  </a:ext>
                </a:extLst>
              </p:cNvPr>
              <p:cNvSpPr/>
              <p:nvPr/>
            </p:nvSpPr>
            <p:spPr>
              <a:xfrm>
                <a:off x="7550872" y="2119266"/>
                <a:ext cx="3557320" cy="5461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4BF71F8-501A-B88D-84B6-2E803231CD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0872" y="2119266"/>
                <a:ext cx="3557320" cy="5461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Brace 13">
            <a:extLst>
              <a:ext uri="{FF2B5EF4-FFF2-40B4-BE49-F238E27FC236}">
                <a16:creationId xmlns:a16="http://schemas.microsoft.com/office/drawing/2014/main" id="{D8F1028B-11B6-DE5E-79E5-70B96188AD24}"/>
              </a:ext>
            </a:extLst>
          </p:cNvPr>
          <p:cNvSpPr/>
          <p:nvPr/>
        </p:nvSpPr>
        <p:spPr>
          <a:xfrm rot="5400000">
            <a:off x="8848620" y="2360078"/>
            <a:ext cx="185903" cy="1097280"/>
          </a:xfrm>
          <a:prstGeom prst="rightBrac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FE9E9AB-EFC9-87CF-FC6F-012B2E86F81B}"/>
                  </a:ext>
                </a:extLst>
              </p:cNvPr>
              <p:cNvSpPr txBox="1"/>
              <p:nvPr/>
            </p:nvSpPr>
            <p:spPr>
              <a:xfrm>
                <a:off x="8240380" y="3030298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𝐸𝑀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𝑤𝑎𝑣𝑒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FE9E9AB-EFC9-87CF-FC6F-012B2E86F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0380" y="3030298"/>
                <a:ext cx="914400" cy="523220"/>
              </a:xfrm>
              <a:prstGeom prst="rect">
                <a:avLst/>
              </a:prstGeom>
              <a:blipFill>
                <a:blip r:embed="rId5"/>
                <a:stretch>
                  <a:fillRect r="-6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82894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4" grpId="0" animBg="1"/>
      <p:bldP spid="1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D69F04-F6C1-936D-40B7-95A11FDF52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0BBBA375-8879-330A-4962-371BCCA8CBA7}"/>
              </a:ext>
            </a:extLst>
          </p:cNvPr>
          <p:cNvGrpSpPr/>
          <p:nvPr/>
        </p:nvGrpSpPr>
        <p:grpSpPr>
          <a:xfrm>
            <a:off x="108132" y="587072"/>
            <a:ext cx="4418068" cy="2135588"/>
            <a:chOff x="137160" y="1219200"/>
            <a:chExt cx="5958840" cy="2880360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36B8329A-B3DE-16CC-D9B7-80F9104BBDC1}"/>
                </a:ext>
              </a:extLst>
            </p:cNvPr>
            <p:cNvSpPr/>
            <p:nvPr/>
          </p:nvSpPr>
          <p:spPr>
            <a:xfrm>
              <a:off x="137160" y="1219200"/>
              <a:ext cx="5958840" cy="2880360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7" name="Picture 2" descr="electromagnetism - How is the combination of electric ...">
              <a:extLst>
                <a:ext uri="{FF2B5EF4-FFF2-40B4-BE49-F238E27FC236}">
                  <a16:creationId xmlns:a16="http://schemas.microsoft.com/office/drawing/2014/main" id="{027DE1A2-870E-9318-D274-4F25BC0B6B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551" y="1524000"/>
              <a:ext cx="5192058" cy="2270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09E3CF3-04E2-2C0D-080B-6AF38F0AD91E}"/>
                  </a:ext>
                </a:extLst>
              </p:cNvPr>
              <p:cNvSpPr/>
              <p:nvPr/>
            </p:nvSpPr>
            <p:spPr>
              <a:xfrm>
                <a:off x="186511" y="2987604"/>
                <a:ext cx="347563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909E3CF3-04E2-2C0D-080B-6AF38F0AD9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11" y="2987604"/>
                <a:ext cx="347563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5FE4C53-4A12-ABBE-61EF-93A7D0463303}"/>
                  </a:ext>
                </a:extLst>
              </p:cNvPr>
              <p:cNvSpPr/>
              <p:nvPr/>
            </p:nvSpPr>
            <p:spPr>
              <a:xfrm>
                <a:off x="186511" y="3515446"/>
                <a:ext cx="3557320" cy="5461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45FE4C53-4A12-ABBE-61EF-93A7D04633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11" y="3515446"/>
                <a:ext cx="3557320" cy="5461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ight Brace 13">
            <a:extLst>
              <a:ext uri="{FF2B5EF4-FFF2-40B4-BE49-F238E27FC236}">
                <a16:creationId xmlns:a16="http://schemas.microsoft.com/office/drawing/2014/main" id="{A51040BA-B0B2-866F-ED19-4280A8452BF4}"/>
              </a:ext>
            </a:extLst>
          </p:cNvPr>
          <p:cNvSpPr/>
          <p:nvPr/>
        </p:nvSpPr>
        <p:spPr>
          <a:xfrm rot="5400000">
            <a:off x="1484259" y="3756258"/>
            <a:ext cx="185903" cy="1097280"/>
          </a:xfrm>
          <a:prstGeom prst="rightBrac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64FB7D4-4ADA-BC92-1C11-2301295F5E91}"/>
                  </a:ext>
                </a:extLst>
              </p:cNvPr>
              <p:cNvSpPr txBox="1"/>
              <p:nvPr/>
            </p:nvSpPr>
            <p:spPr>
              <a:xfrm>
                <a:off x="876019" y="4426478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𝐸𝑀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𝑤𝑎𝑣𝑒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64FB7D4-4ADA-BC92-1C11-2301295F5E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019" y="4426478"/>
                <a:ext cx="914400" cy="523220"/>
              </a:xfrm>
              <a:prstGeom prst="rect">
                <a:avLst/>
              </a:prstGeom>
              <a:blipFill>
                <a:blip r:embed="rId5"/>
                <a:stretch>
                  <a:fillRect r="-6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4E0A6A41-C4B6-DEE3-156C-A41A7592600B}"/>
              </a:ext>
            </a:extLst>
          </p:cNvPr>
          <p:cNvSpPr/>
          <p:nvPr/>
        </p:nvSpPr>
        <p:spPr>
          <a:xfrm>
            <a:off x="4526200" y="191256"/>
            <a:ext cx="369248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All basic property of sin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A2494E0-A4C5-6A95-5A6A-80C133749EEA}"/>
                  </a:ext>
                </a:extLst>
              </p:cNvPr>
              <p:cNvSpPr/>
              <p:nvPr/>
            </p:nvSpPr>
            <p:spPr>
              <a:xfrm>
                <a:off x="5122548" y="675026"/>
                <a:ext cx="137063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𝑟𝑚𝑠</m:t>
                          </m:r>
                        </m:sub>
                      </m:sSub>
                      <m:r>
                        <a:rPr lang="en-IN" sz="28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3A2494E0-A4C5-6A95-5A6A-80C133749E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2548" y="675026"/>
                <a:ext cx="1370632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B685959-7C02-CCA5-5EA5-31D9ED63B783}"/>
                  </a:ext>
                </a:extLst>
              </p:cNvPr>
              <p:cNvSpPr/>
              <p:nvPr/>
            </p:nvSpPr>
            <p:spPr>
              <a:xfrm>
                <a:off x="5122548" y="1187619"/>
                <a:ext cx="1342483" cy="55823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𝑎𝑣𝑔</m:t>
                          </m:r>
                        </m:sub>
                      </m:sSub>
                      <m:r>
                        <a:rPr lang="en-IN" sz="2800" i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rgbClr val="FFFF00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2B685959-7C02-CCA5-5EA5-31D9ED63B78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2548" y="1187619"/>
                <a:ext cx="1342483" cy="55823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B48E65C-2707-EC19-F0C3-787CD14C5C1E}"/>
                  </a:ext>
                </a:extLst>
              </p:cNvPr>
              <p:cNvSpPr/>
              <p:nvPr/>
            </p:nvSpPr>
            <p:spPr>
              <a:xfrm>
                <a:off x="6297505" y="610924"/>
                <a:ext cx="1257011" cy="57394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AB48E65C-2707-EC19-F0C3-787CD14C5C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7505" y="610924"/>
                <a:ext cx="1257011" cy="57394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6CA1844C-CB0C-EBDA-4AB3-655B80BD1489}"/>
                  </a:ext>
                </a:extLst>
              </p:cNvPr>
              <p:cNvSpPr/>
              <p:nvPr/>
            </p:nvSpPr>
            <p:spPr>
              <a:xfrm>
                <a:off x="6300050" y="1187619"/>
                <a:ext cx="46519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6CA1844C-CB0C-EBDA-4AB3-655B80BD14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0050" y="1187619"/>
                <a:ext cx="465191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D5C8E4B1-122D-73CF-46D9-5873398ACDFD}"/>
              </a:ext>
            </a:extLst>
          </p:cNvPr>
          <p:cNvGrpSpPr/>
          <p:nvPr/>
        </p:nvGrpSpPr>
        <p:grpSpPr>
          <a:xfrm>
            <a:off x="7684355" y="601415"/>
            <a:ext cx="2525488" cy="1155001"/>
            <a:chOff x="6747670" y="2177931"/>
            <a:chExt cx="2525488" cy="11550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49EA76EB-9BD2-312E-874F-FBFAB9DD6042}"/>
                    </a:ext>
                  </a:extLst>
                </p:cNvPr>
                <p:cNvSpPr/>
                <p:nvPr/>
              </p:nvSpPr>
              <p:spPr>
                <a:xfrm>
                  <a:off x="6747670" y="2221469"/>
                  <a:ext cx="1369606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𝑟𝑚𝑠</m:t>
                            </m:r>
                          </m:sub>
                        </m:sSub>
                        <m:r>
                          <a:rPr lang="en-IN" sz="28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IN" sz="2800" dirty="0">
                    <a:solidFill>
                      <a:srgbClr val="FFFF00"/>
                    </a:solidFill>
                  </a:endParaRPr>
                </a:p>
              </p:txBody>
            </p:sp>
          </mc:Choice>
          <mc:Fallback xmlns="">
            <p:sp>
              <p:nvSpPr>
                <p:cNvPr id="37" name="Rectangle 36">
                  <a:extLst>
                    <a:ext uri="{FF2B5EF4-FFF2-40B4-BE49-F238E27FC236}">
                      <a16:creationId xmlns:a16="http://schemas.microsoft.com/office/drawing/2014/main" id="{49EA76EB-9BD2-312E-874F-FBFAB9DD604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7670" y="2221469"/>
                  <a:ext cx="1369606" cy="5232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7E607E46-878C-3107-20E6-BEA8D9C7A923}"/>
                    </a:ext>
                  </a:extLst>
                </p:cNvPr>
                <p:cNvSpPr/>
                <p:nvPr/>
              </p:nvSpPr>
              <p:spPr>
                <a:xfrm>
                  <a:off x="6747670" y="2774702"/>
                  <a:ext cx="1341457" cy="55823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IN" sz="2800" b="0" i="1" smtClean="0">
                                <a:solidFill>
                                  <a:srgbClr val="FFFF00"/>
                                </a:solidFill>
                                <a:latin typeface="Cambria Math" panose="02040503050406030204" pitchFamily="18" charset="0"/>
                              </a:rPr>
                              <m:t>𝑎𝑣𝑔</m:t>
                            </m:r>
                          </m:sub>
                        </m:sSub>
                        <m:r>
                          <a:rPr lang="en-IN" sz="2800" i="0">
                            <a:solidFill>
                              <a:srgbClr val="FFFF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</m:oMath>
                    </m:oMathPara>
                  </a14:m>
                  <a:endParaRPr lang="en-IN" sz="2800" dirty="0">
                    <a:solidFill>
                      <a:srgbClr val="FFFF00"/>
                    </a:solidFill>
                  </a:endParaRPr>
                </a:p>
              </p:txBody>
            </p:sp>
          </mc:Choice>
          <mc:Fallback xmlns="">
            <p:sp>
              <p:nvSpPr>
                <p:cNvPr id="38" name="Rectangle 37">
                  <a:extLst>
                    <a:ext uri="{FF2B5EF4-FFF2-40B4-BE49-F238E27FC236}">
                      <a16:creationId xmlns:a16="http://schemas.microsoft.com/office/drawing/2014/main" id="{7E607E46-878C-3107-20E6-BEA8D9C7A92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47670" y="2774702"/>
                  <a:ext cx="1341457" cy="55823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43FA228E-B5AD-5BC4-9882-46B4A228F78E}"/>
                    </a:ext>
                  </a:extLst>
                </p:cNvPr>
                <p:cNvSpPr/>
                <p:nvPr/>
              </p:nvSpPr>
              <p:spPr>
                <a:xfrm>
                  <a:off x="8017173" y="2177931"/>
                  <a:ext cx="1255985" cy="57394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sz="280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8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n-I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oMath>
                    </m:oMathPara>
                  </a14:m>
                  <a:endParaRPr lang="en-IN" sz="28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Rectangle 38">
                  <a:extLst>
                    <a:ext uri="{FF2B5EF4-FFF2-40B4-BE49-F238E27FC236}">
                      <a16:creationId xmlns:a16="http://schemas.microsoft.com/office/drawing/2014/main" id="{43FA228E-B5AD-5BC4-9882-46B4A228F78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17173" y="2177931"/>
                  <a:ext cx="1255985" cy="57394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5C016F36-4CA7-0335-E54E-32E1FC7FD44A}"/>
                    </a:ext>
                  </a:extLst>
                </p:cNvPr>
                <p:cNvSpPr/>
                <p:nvPr/>
              </p:nvSpPr>
              <p:spPr>
                <a:xfrm>
                  <a:off x="7925172" y="2774702"/>
                  <a:ext cx="465191" cy="52322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8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sz="28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5C016F36-4CA7-0335-E54E-32E1FC7FD44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25172" y="2774702"/>
                  <a:ext cx="465191" cy="52322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1BD52225-0C6F-A1DF-AD96-F8543E6A5EF7}"/>
              </a:ext>
            </a:extLst>
          </p:cNvPr>
          <p:cNvSpPr/>
          <p:nvPr/>
        </p:nvSpPr>
        <p:spPr>
          <a:xfrm>
            <a:off x="4483047" y="1691405"/>
            <a:ext cx="316541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Direction and phase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9C7044A-3922-0318-E4A9-601555BCB3EE}"/>
              </a:ext>
            </a:extLst>
          </p:cNvPr>
          <p:cNvGrpSpPr/>
          <p:nvPr/>
        </p:nvGrpSpPr>
        <p:grpSpPr>
          <a:xfrm>
            <a:off x="5293815" y="2155611"/>
            <a:ext cx="3887366" cy="523220"/>
            <a:chOff x="5254487" y="3484277"/>
            <a:chExt cx="3887366" cy="52322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CA452FD-9D7C-3124-E5A8-6140179CEEEB}"/>
                </a:ext>
              </a:extLst>
            </p:cNvPr>
            <p:cNvSpPr/>
            <p:nvPr/>
          </p:nvSpPr>
          <p:spPr>
            <a:xfrm>
              <a:off x="5254487" y="3666030"/>
              <a:ext cx="172278" cy="172278"/>
            </a:xfrm>
            <a:prstGeom prst="ellipse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FFFF00"/>
                </a:solidFill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BA36166-BEFF-446C-7851-10E860BE651B}"/>
                </a:ext>
              </a:extLst>
            </p:cNvPr>
            <p:cNvSpPr txBox="1"/>
            <p:nvPr/>
          </p:nvSpPr>
          <p:spPr>
            <a:xfrm>
              <a:off x="5481172" y="3484277"/>
              <a:ext cx="36606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IN" sz="2800" dirty="0">
                  <a:solidFill>
                    <a:srgbClr val="FFFF00"/>
                  </a:solidFill>
                </a:rPr>
                <a:t>Direction of EM wave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53450B26-7727-2B57-5ED8-0FF9F8E9EF5E}"/>
                  </a:ext>
                </a:extLst>
              </p:cNvPr>
              <p:cNvSpPr/>
              <p:nvPr/>
            </p:nvSpPr>
            <p:spPr>
              <a:xfrm>
                <a:off x="7267132" y="2624387"/>
                <a:ext cx="2576924" cy="5754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𝐴𝑙𝑜𝑛𝑔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acc>
                        <m:accPr>
                          <m:chr m:val="⃗"/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acc>
                        <m:accPr>
                          <m:chr m:val="⃗"/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acc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53450B26-7727-2B57-5ED8-0FF9F8E9EF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7132" y="2624387"/>
                <a:ext cx="2576924" cy="57547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82575B2A-1D66-21F6-374A-17B0CE1CC75E}"/>
              </a:ext>
            </a:extLst>
          </p:cNvPr>
          <p:cNvGrpSpPr/>
          <p:nvPr/>
        </p:nvGrpSpPr>
        <p:grpSpPr>
          <a:xfrm>
            <a:off x="5293815" y="3293154"/>
            <a:ext cx="4550241" cy="523220"/>
            <a:chOff x="5254487" y="3484277"/>
            <a:chExt cx="4550241" cy="523220"/>
          </a:xfrm>
        </p:grpSpPr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DD70DBE4-FCFB-5BAC-E11C-47CA4C6F7B8D}"/>
                </a:ext>
              </a:extLst>
            </p:cNvPr>
            <p:cNvSpPr/>
            <p:nvPr/>
          </p:nvSpPr>
          <p:spPr>
            <a:xfrm>
              <a:off x="5254487" y="3666030"/>
              <a:ext cx="172278" cy="172278"/>
            </a:xfrm>
            <a:prstGeom prst="ellipse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FFFF00"/>
                </a:solidFill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0BFCD58F-6878-09E7-795D-A2BE6496E97D}"/>
                </a:ext>
              </a:extLst>
            </p:cNvPr>
            <p:cNvSpPr txBox="1"/>
            <p:nvPr/>
          </p:nvSpPr>
          <p:spPr>
            <a:xfrm>
              <a:off x="5481172" y="3484277"/>
              <a:ext cx="43235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IN" sz="2800" dirty="0">
                  <a:solidFill>
                    <a:srgbClr val="FFFF00"/>
                  </a:solidFill>
                </a:rPr>
                <a:t>E and B phase difference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045F1B95-AFD8-4496-959D-97455C8D650D}"/>
                  </a:ext>
                </a:extLst>
              </p:cNvPr>
              <p:cNvSpPr/>
              <p:nvPr/>
            </p:nvSpPr>
            <p:spPr>
              <a:xfrm>
                <a:off x="7267132" y="3785080"/>
                <a:ext cx="83266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045F1B95-AFD8-4496-959D-97455C8D65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7132" y="3785080"/>
                <a:ext cx="832664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903A2717-BAF5-5894-EC28-DB432234BDBC}"/>
              </a:ext>
            </a:extLst>
          </p:cNvPr>
          <p:cNvGrpSpPr/>
          <p:nvPr/>
        </p:nvGrpSpPr>
        <p:grpSpPr>
          <a:xfrm>
            <a:off x="5293815" y="4419122"/>
            <a:ext cx="3887366" cy="523220"/>
            <a:chOff x="5254487" y="3484277"/>
            <a:chExt cx="3887366" cy="523220"/>
          </a:xfrm>
        </p:grpSpPr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4DD0D946-F727-B0F9-72EA-5C7D8987E9BC}"/>
                </a:ext>
              </a:extLst>
            </p:cNvPr>
            <p:cNvSpPr/>
            <p:nvPr/>
          </p:nvSpPr>
          <p:spPr>
            <a:xfrm>
              <a:off x="5254487" y="3666030"/>
              <a:ext cx="172278" cy="172278"/>
            </a:xfrm>
            <a:prstGeom prst="ellipse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>
                <a:solidFill>
                  <a:srgbClr val="FFFF00"/>
                </a:solidFill>
              </a:endParaRPr>
            </a:p>
          </p:txBody>
        </p: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E9397A7-D12A-02E6-CCA4-11DA9B606FAE}"/>
                </a:ext>
              </a:extLst>
            </p:cNvPr>
            <p:cNvSpPr txBox="1"/>
            <p:nvPr/>
          </p:nvSpPr>
          <p:spPr>
            <a:xfrm>
              <a:off x="5481172" y="3484277"/>
              <a:ext cx="366068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IN" sz="2800" dirty="0">
                  <a:solidFill>
                    <a:srgbClr val="FFFF00"/>
                  </a:solidFill>
                </a:rPr>
                <a:t>Direction of E and B is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E8C39EF8-9A39-CA65-92B8-3BA9F05B117B}"/>
                  </a:ext>
                </a:extLst>
              </p:cNvPr>
              <p:cNvSpPr/>
              <p:nvPr/>
            </p:nvSpPr>
            <p:spPr>
              <a:xfrm>
                <a:off x="7267132" y="4887898"/>
                <a:ext cx="345402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</a:rPr>
                  <a:t> Perpendicular plane</a:t>
                </a:r>
              </a:p>
            </p:txBody>
          </p:sp>
        </mc:Choice>
        <mc:Fallback xmlns=""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E8C39EF8-9A39-CA65-92B8-3BA9F05B117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7132" y="4887898"/>
                <a:ext cx="3454022" cy="523220"/>
              </a:xfrm>
              <a:prstGeom prst="rect">
                <a:avLst/>
              </a:prstGeom>
              <a:blipFill>
                <a:blip r:embed="rId16"/>
                <a:stretch>
                  <a:fillRect t="-11628" r="-2293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4B8E6048-EF0C-1A4E-D844-2E6F29CDF17E}"/>
                  </a:ext>
                </a:extLst>
              </p:cNvPr>
              <p:cNvSpPr/>
              <p:nvPr/>
            </p:nvSpPr>
            <p:spPr>
              <a:xfrm>
                <a:off x="7930007" y="3761067"/>
                <a:ext cx="223811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</a:rPr>
                  <a:t>Same phase</a:t>
                </a:r>
              </a:p>
            </p:txBody>
          </p:sp>
        </mc:Choice>
        <mc:Fallback xmlns=""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4B8E6048-EF0C-1A4E-D844-2E6F29CDF1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0007" y="3761067"/>
                <a:ext cx="2238113" cy="523220"/>
              </a:xfrm>
              <a:prstGeom prst="rect">
                <a:avLst/>
              </a:prstGeom>
              <a:blipFill>
                <a:blip r:embed="rId17"/>
                <a:stretch>
                  <a:fillRect t="-11628" r="-4087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03161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32" grpId="0"/>
      <p:bldP spid="33" grpId="0"/>
      <p:bldP spid="34" grpId="0"/>
      <p:bldP spid="35" grpId="0"/>
      <p:bldP spid="41" grpId="0"/>
      <p:bldP spid="54" grpId="0"/>
      <p:bldP spid="58" grpId="0"/>
      <p:bldP spid="62" grpId="0"/>
      <p:bldP spid="7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51292A1-FBFC-280D-8C69-A5B0EE3B0C73}"/>
              </a:ext>
            </a:extLst>
          </p:cNvPr>
          <p:cNvGrpSpPr/>
          <p:nvPr/>
        </p:nvGrpSpPr>
        <p:grpSpPr>
          <a:xfrm>
            <a:off x="4626664" y="135286"/>
            <a:ext cx="4129711" cy="2177101"/>
            <a:chOff x="4626664" y="951365"/>
            <a:chExt cx="4129711" cy="217710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978FF81B-8520-0ED5-F818-850FB839FD24}"/>
                    </a:ext>
                  </a:extLst>
                </p:cNvPr>
                <p:cNvSpPr txBox="1"/>
                <p:nvPr/>
              </p:nvSpPr>
              <p:spPr>
                <a:xfrm>
                  <a:off x="4626665" y="1312584"/>
                  <a:ext cx="4129710" cy="181588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:r>
                    <a:rPr lang="en-IN" sz="2800" dirty="0">
                      <a:solidFill>
                        <a:srgbClr val="FFFF00"/>
                      </a:solidFill>
                    </a:rPr>
                    <a:t>If electric field is in </a:t>
                  </a:r>
                  <a14:m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a14:m>
                  <a:r>
                    <a:rPr lang="en-IN" sz="2800" dirty="0">
                      <a:solidFill>
                        <a:srgbClr val="FFFF00"/>
                      </a:solidFill>
                    </a:rPr>
                    <a:t> direction and magnetic field is in </a:t>
                  </a:r>
                  <a14:m>
                    <m:oMath xmlns:m="http://schemas.openxmlformats.org/officeDocument/2006/math">
                      <m:r>
                        <a:rPr lang="en-IN" sz="280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–</m:t>
                      </m:r>
                      <m:r>
                        <a:rPr lang="en-IN" sz="280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IN" sz="2800" dirty="0">
                      <a:solidFill>
                        <a:srgbClr val="FFFF00"/>
                      </a:solidFill>
                    </a:rPr>
                    <a:t> direction find direction of  E M wave </a:t>
                  </a: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978FF81B-8520-0ED5-F818-850FB839FD2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6665" y="1312584"/>
                  <a:ext cx="4129710" cy="1815882"/>
                </a:xfrm>
                <a:prstGeom prst="rect">
                  <a:avLst/>
                </a:prstGeom>
                <a:blipFill>
                  <a:blip r:embed="rId6"/>
                  <a:stretch>
                    <a:fillRect l="-3102" t="-3020" r="-2954" b="-872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6A26D53-2DC4-BFA4-81E1-B689F9253FAE}"/>
                </a:ext>
              </a:extLst>
            </p:cNvPr>
            <p:cNvSpPr/>
            <p:nvPr/>
          </p:nvSpPr>
          <p:spPr>
            <a:xfrm>
              <a:off x="4626664" y="951365"/>
              <a:ext cx="1541576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Question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44E8D181-9CC5-5ED7-04D0-522D5BC19BD5}"/>
              </a:ext>
            </a:extLst>
          </p:cNvPr>
          <p:cNvGrpSpPr/>
          <p:nvPr/>
        </p:nvGrpSpPr>
        <p:grpSpPr>
          <a:xfrm>
            <a:off x="4526200" y="2420842"/>
            <a:ext cx="4129710" cy="1746214"/>
            <a:chOff x="4626664" y="951365"/>
            <a:chExt cx="4129710" cy="17462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219A706-BC43-705B-6E6D-13146FDC7C7C}"/>
                    </a:ext>
                  </a:extLst>
                </p:cNvPr>
                <p:cNvSpPr txBox="1"/>
                <p:nvPr/>
              </p:nvSpPr>
              <p:spPr>
                <a:xfrm>
                  <a:off x="4626664" y="1312584"/>
                  <a:ext cx="4129710" cy="13849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just"/>
                  <a:r>
                    <a:rPr lang="en-IN" sz="2800" dirty="0">
                      <a:solidFill>
                        <a:srgbClr val="FFFF00"/>
                      </a:solidFill>
                    </a:rPr>
                    <a:t>If </a:t>
                  </a:r>
                  <a14:m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28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=−12</m:t>
                      </m:r>
                      <m:func>
                        <m:funcPr>
                          <m:ctrlPr>
                            <a:rPr lang="en-IN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d>
                            <m:dPr>
                              <m:ctrlPr>
                                <a:rPr lang="en-IN" sz="28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8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IN" sz="28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IN" sz="28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IN" sz="2800" b="0" i="1" smtClean="0">
                                  <a:solidFill>
                                    <a:srgbClr val="FFFF00"/>
                                  </a:solidFill>
                                  <a:latin typeface="Cambria Math" panose="02040503050406030204" pitchFamily="18" charset="0"/>
                                </a:rPr>
                                <m:t>𝑘𝑧</m:t>
                              </m:r>
                            </m:e>
                          </m:d>
                        </m:e>
                      </m:func>
                      <m:acc>
                        <m:accPr>
                          <m:chr m:val="̂"/>
                          <m:ctrlPr>
                            <a:rPr lang="en-IN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</m:oMath>
                  </a14:m>
                  <a:r>
                    <a:rPr lang="en-IN" sz="2800" dirty="0">
                      <a:solidFill>
                        <a:srgbClr val="FFFF00"/>
                      </a:solidFill>
                    </a:rPr>
                    <a:t> find direction of electric field </a:t>
                  </a: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3219A706-BC43-705B-6E6D-13146FDC7C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6664" y="1312584"/>
                  <a:ext cx="4129710" cy="1384995"/>
                </a:xfrm>
                <a:prstGeom prst="rect">
                  <a:avLst/>
                </a:prstGeom>
                <a:blipFill>
                  <a:blip r:embed="rId7"/>
                  <a:stretch>
                    <a:fillRect l="-2950" t="-3965" r="-2950" b="-1189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7033A79-EE8F-C5D4-90C8-966A73C60D1A}"/>
                </a:ext>
              </a:extLst>
            </p:cNvPr>
            <p:cNvSpPr/>
            <p:nvPr/>
          </p:nvSpPr>
          <p:spPr>
            <a:xfrm>
              <a:off x="4626664" y="951365"/>
              <a:ext cx="1541576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Question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6FFF091-3ED2-3684-19F5-6F6F4AA47906}"/>
                  </a:ext>
                </a:extLst>
              </p:cNvPr>
              <p:cNvSpPr txBox="1"/>
              <p:nvPr/>
            </p:nvSpPr>
            <p:spPr>
              <a:xfrm>
                <a:off x="8897728" y="2849406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IN" sz="2800" dirty="0">
                    <a:solidFill>
                      <a:schemeClr val="bg1"/>
                    </a:solidFill>
                  </a:rPr>
                  <a:t>B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6FFF091-3ED2-3684-19F5-6F6F4AA479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7728" y="2849406"/>
                <a:ext cx="914400" cy="523220"/>
              </a:xfrm>
              <a:prstGeom prst="rect">
                <a:avLst/>
              </a:prstGeom>
              <a:blipFill>
                <a:blip r:embed="rId8"/>
                <a:stretch>
                  <a:fillRect l="-14000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6B45CAD-790F-72C5-D77D-4FA1404E343D}"/>
                  </a:ext>
                </a:extLst>
              </p:cNvPr>
              <p:cNvSpPr txBox="1"/>
              <p:nvPr/>
            </p:nvSpPr>
            <p:spPr>
              <a:xfrm>
                <a:off x="8930858" y="3437449"/>
                <a:ext cx="174090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IN" sz="2800" b="0" dirty="0">
                    <a:solidFill>
                      <a:schemeClr val="bg1"/>
                    </a:solidFill>
                  </a:rPr>
                  <a:t>Velocity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6B45CAD-790F-72C5-D77D-4FA1404E34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0858" y="3437449"/>
                <a:ext cx="1740908" cy="523220"/>
              </a:xfrm>
              <a:prstGeom prst="rect">
                <a:avLst/>
              </a:prstGeom>
              <a:blipFill>
                <a:blip r:embed="rId9"/>
                <a:stretch>
                  <a:fillRect l="-6993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37BBF4D-6ED6-1FFC-5BA1-61C097B68F6B}"/>
                  </a:ext>
                </a:extLst>
              </p:cNvPr>
              <p:cNvSpPr txBox="1"/>
              <p:nvPr/>
            </p:nvSpPr>
            <p:spPr>
              <a:xfrm>
                <a:off x="8951178" y="4075394"/>
                <a:ext cx="97271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IN" sz="2800" b="0" dirty="0">
                    <a:solidFill>
                      <a:schemeClr val="bg1"/>
                    </a:solidFill>
                  </a:rPr>
                  <a:t>E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37BBF4D-6ED6-1FFC-5BA1-61C097B68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51178" y="4075394"/>
                <a:ext cx="972710" cy="523220"/>
              </a:xfrm>
              <a:prstGeom prst="rect">
                <a:avLst/>
              </a:prstGeom>
              <a:blipFill>
                <a:blip r:embed="rId10"/>
                <a:stretch>
                  <a:fillRect l="-12500" t="-11765" b="-341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D8EBF44-64D5-30D1-EDFF-CD89102240E0}"/>
                  </a:ext>
                </a:extLst>
              </p:cNvPr>
              <p:cNvSpPr txBox="1"/>
              <p:nvPr/>
            </p:nvSpPr>
            <p:spPr>
              <a:xfrm>
                <a:off x="10580326" y="2830240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D8EBF44-64D5-30D1-EDFF-CD89102240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80326" y="2830240"/>
                <a:ext cx="914400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3F47C84-39CC-A520-251E-33134297A32E}"/>
                  </a:ext>
                </a:extLst>
              </p:cNvPr>
              <p:cNvSpPr txBox="1"/>
              <p:nvPr/>
            </p:nvSpPr>
            <p:spPr>
              <a:xfrm>
                <a:off x="10613456" y="3418283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3F47C84-39CC-A520-251E-33134297A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13456" y="3418283"/>
                <a:ext cx="914400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47CC5EA-5CF5-5F9E-DB4E-D3EDA2C85E7B}"/>
                  </a:ext>
                </a:extLst>
              </p:cNvPr>
              <p:cNvSpPr txBox="1"/>
              <p:nvPr/>
            </p:nvSpPr>
            <p:spPr>
              <a:xfrm>
                <a:off x="8891500" y="824789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IN" sz="2800" dirty="0">
                    <a:solidFill>
                      <a:schemeClr val="bg1"/>
                    </a:solidFill>
                  </a:rPr>
                  <a:t>B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47CC5EA-5CF5-5F9E-DB4E-D3EDA2C85E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1500" y="824789"/>
                <a:ext cx="914400" cy="523220"/>
              </a:xfrm>
              <a:prstGeom prst="rect">
                <a:avLst/>
              </a:prstGeom>
              <a:blipFill>
                <a:blip r:embed="rId13"/>
                <a:stretch>
                  <a:fillRect l="-14000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8C5BEF6-A7B2-F0FB-5D7B-C2A9D31535DA}"/>
                  </a:ext>
                </a:extLst>
              </p:cNvPr>
              <p:cNvSpPr txBox="1"/>
              <p:nvPr/>
            </p:nvSpPr>
            <p:spPr>
              <a:xfrm>
                <a:off x="8891500" y="1380307"/>
                <a:ext cx="197304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IN" sz="2800" b="0" dirty="0">
                    <a:solidFill>
                      <a:schemeClr val="bg1"/>
                    </a:solidFill>
                  </a:rPr>
                  <a:t>Velocity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F8C5BEF6-A7B2-F0FB-5D7B-C2A9D31535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1500" y="1380307"/>
                <a:ext cx="1973048" cy="523220"/>
              </a:xfrm>
              <a:prstGeom prst="rect">
                <a:avLst/>
              </a:prstGeom>
              <a:blipFill>
                <a:blip r:embed="rId14"/>
                <a:stretch>
                  <a:fillRect l="-6502" t="-10465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EF211B3-C8F6-0397-E2A5-1741AB0782BE}"/>
                  </a:ext>
                </a:extLst>
              </p:cNvPr>
              <p:cNvSpPr txBox="1"/>
              <p:nvPr/>
            </p:nvSpPr>
            <p:spPr>
              <a:xfrm>
                <a:off x="8904310" y="286047"/>
                <a:ext cx="197304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:r>
                  <a:rPr lang="en-IN" sz="2800" b="0" dirty="0">
                    <a:solidFill>
                      <a:schemeClr val="bg1"/>
                    </a:solidFill>
                  </a:rPr>
                  <a:t>E </a:t>
                </a:r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EF211B3-C8F6-0397-E2A5-1741AB0782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4310" y="286047"/>
                <a:ext cx="1973048" cy="523220"/>
              </a:xfrm>
              <a:prstGeom prst="rect">
                <a:avLst/>
              </a:prstGeom>
              <a:blipFill>
                <a:blip r:embed="rId15"/>
                <a:stretch>
                  <a:fillRect l="-6502" t="-11628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02C3292-2026-088E-3176-FBC562429001}"/>
                  </a:ext>
                </a:extLst>
              </p:cNvPr>
              <p:cNvSpPr txBox="1"/>
              <p:nvPr/>
            </p:nvSpPr>
            <p:spPr>
              <a:xfrm>
                <a:off x="10523298" y="805623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IN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02C3292-2026-088E-3176-FBC562429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3298" y="805623"/>
                <a:ext cx="914400" cy="52322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24F5828F-38D4-ACCA-9662-F6825AB810CB}"/>
              </a:ext>
            </a:extLst>
          </p:cNvPr>
          <p:cNvSpPr txBox="1"/>
          <p:nvPr/>
        </p:nvSpPr>
        <p:spPr>
          <a:xfrm>
            <a:off x="8877268" y="1888685"/>
            <a:ext cx="3506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bg1"/>
                </a:solidFill>
              </a:rPr>
              <a:t>From left hand rule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3D36C42-BC54-1D21-0280-AE0923368975}"/>
                  </a:ext>
                </a:extLst>
              </p:cNvPr>
              <p:cNvSpPr txBox="1"/>
              <p:nvPr/>
            </p:nvSpPr>
            <p:spPr>
              <a:xfrm>
                <a:off x="10523298" y="265063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83D36C42-BC54-1D21-0280-AE09233689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23298" y="265063"/>
                <a:ext cx="914400" cy="52322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957FDC8-A48D-F2EB-B3B2-C1FDABF22367}"/>
                  </a:ext>
                </a:extLst>
              </p:cNvPr>
              <p:cNvSpPr txBox="1"/>
              <p:nvPr/>
            </p:nvSpPr>
            <p:spPr>
              <a:xfrm>
                <a:off x="10048308" y="2351311"/>
                <a:ext cx="741072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957FDC8-A48D-F2EB-B3B2-C1FDABF223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48308" y="2351311"/>
                <a:ext cx="741072" cy="52322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89C96FB-6996-0269-BA9B-35D45DE3DA0D}"/>
                  </a:ext>
                </a:extLst>
              </p:cNvPr>
              <p:cNvSpPr txBox="1"/>
              <p:nvPr/>
            </p:nvSpPr>
            <p:spPr>
              <a:xfrm>
                <a:off x="9476848" y="4949202"/>
                <a:ext cx="205578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89C96FB-6996-0269-BA9B-35D45DE3DA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76848" y="4949202"/>
                <a:ext cx="2055784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Box 44">
            <a:extLst>
              <a:ext uri="{FF2B5EF4-FFF2-40B4-BE49-F238E27FC236}">
                <a16:creationId xmlns:a16="http://schemas.microsoft.com/office/drawing/2014/main" id="{19566D11-A18D-3D37-CF3C-CBE55DF8B15B}"/>
              </a:ext>
            </a:extLst>
          </p:cNvPr>
          <p:cNvSpPr txBox="1"/>
          <p:nvPr/>
        </p:nvSpPr>
        <p:spPr>
          <a:xfrm>
            <a:off x="8934296" y="4551913"/>
            <a:ext cx="35066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bg1"/>
                </a:solidFill>
              </a:rPr>
              <a:t>From left hand rule 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20FDDC1-E573-8220-9FAC-8C691FD20EA3}"/>
              </a:ext>
            </a:extLst>
          </p:cNvPr>
          <p:cNvGrpSpPr/>
          <p:nvPr/>
        </p:nvGrpSpPr>
        <p:grpSpPr>
          <a:xfrm>
            <a:off x="108132" y="587072"/>
            <a:ext cx="4418068" cy="2135588"/>
            <a:chOff x="137160" y="1219200"/>
            <a:chExt cx="5958840" cy="2880360"/>
          </a:xfrm>
        </p:grpSpPr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7DF22C35-8D6A-D07B-FB9F-4EC9AC90EEEB}"/>
                </a:ext>
              </a:extLst>
            </p:cNvPr>
            <p:cNvSpPr/>
            <p:nvPr/>
          </p:nvSpPr>
          <p:spPr>
            <a:xfrm>
              <a:off x="137160" y="1219200"/>
              <a:ext cx="5958840" cy="2880360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30" name="Picture 2" descr="electromagnetism - How is the combination of electric ...">
              <a:extLst>
                <a:ext uri="{FF2B5EF4-FFF2-40B4-BE49-F238E27FC236}">
                  <a16:creationId xmlns:a16="http://schemas.microsoft.com/office/drawing/2014/main" id="{010F2628-5A7E-23C0-2D5D-711E33BB1E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551" y="1524000"/>
              <a:ext cx="5192058" cy="2270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844752C-450C-ED9D-4C50-BB5595B6606A}"/>
                  </a:ext>
                </a:extLst>
              </p:cNvPr>
              <p:cNvSpPr/>
              <p:nvPr/>
            </p:nvSpPr>
            <p:spPr>
              <a:xfrm>
                <a:off x="186511" y="2987604"/>
                <a:ext cx="347563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B844752C-450C-ED9D-4C50-BB5595B6606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11" y="2987604"/>
                <a:ext cx="3475630" cy="52322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C293D5F6-CB26-1E2D-5241-A8B1AF6BD682}"/>
                  </a:ext>
                </a:extLst>
              </p:cNvPr>
              <p:cNvSpPr/>
              <p:nvPr/>
            </p:nvSpPr>
            <p:spPr>
              <a:xfrm>
                <a:off x="186511" y="3515446"/>
                <a:ext cx="3557320" cy="5461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C293D5F6-CB26-1E2D-5241-A8B1AF6BD6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11" y="3515446"/>
                <a:ext cx="3557320" cy="546175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ight Brace 33">
            <a:extLst>
              <a:ext uri="{FF2B5EF4-FFF2-40B4-BE49-F238E27FC236}">
                <a16:creationId xmlns:a16="http://schemas.microsoft.com/office/drawing/2014/main" id="{4C644DE4-0E10-1D65-9AEF-B3629D67DC48}"/>
              </a:ext>
            </a:extLst>
          </p:cNvPr>
          <p:cNvSpPr/>
          <p:nvPr/>
        </p:nvSpPr>
        <p:spPr>
          <a:xfrm rot="5400000">
            <a:off x="1484259" y="3756258"/>
            <a:ext cx="185903" cy="1097280"/>
          </a:xfrm>
          <a:prstGeom prst="rightBrac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F0419A6-DCCE-F683-3163-8BD22BF75662}"/>
                  </a:ext>
                </a:extLst>
              </p:cNvPr>
              <p:cNvSpPr txBox="1"/>
              <p:nvPr/>
            </p:nvSpPr>
            <p:spPr>
              <a:xfrm>
                <a:off x="876019" y="4426478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𝐸𝑀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𝑤𝑎𝑣𝑒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F0419A6-DCCE-F683-3163-8BD22BF756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019" y="4426478"/>
                <a:ext cx="914400" cy="523220"/>
              </a:xfrm>
              <a:prstGeom prst="rect">
                <a:avLst/>
              </a:prstGeom>
              <a:blipFill>
                <a:blip r:embed="rId23"/>
                <a:stretch>
                  <a:fillRect r="-6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08189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0A772-4726-433F-6BF1-73B183C95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02A462A1-DA1B-86A7-BF5A-1318829FAB03}"/>
              </a:ext>
            </a:extLst>
          </p:cNvPr>
          <p:cNvSpPr/>
          <p:nvPr/>
        </p:nvSpPr>
        <p:spPr>
          <a:xfrm>
            <a:off x="4526200" y="54663"/>
            <a:ext cx="288470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Energy discussion </a:t>
            </a:r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CC61D9A-D329-2DB2-EE5D-A31BBD64853A}"/>
              </a:ext>
            </a:extLst>
          </p:cNvPr>
          <p:cNvGrpSpPr/>
          <p:nvPr/>
        </p:nvGrpSpPr>
        <p:grpSpPr>
          <a:xfrm>
            <a:off x="5254487" y="518869"/>
            <a:ext cx="6426236" cy="954107"/>
            <a:chOff x="5254487" y="3484277"/>
            <a:chExt cx="6426236" cy="954107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C785797-F2A5-0D48-0C30-686D7B24B269}"/>
                </a:ext>
              </a:extLst>
            </p:cNvPr>
            <p:cNvSpPr/>
            <p:nvPr/>
          </p:nvSpPr>
          <p:spPr>
            <a:xfrm>
              <a:off x="5254487" y="3666030"/>
              <a:ext cx="172278" cy="172278"/>
            </a:xfrm>
            <a:prstGeom prst="ellipse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620702AF-C775-F148-7877-F030FD11250C}"/>
                </a:ext>
              </a:extLst>
            </p:cNvPr>
            <p:cNvSpPr txBox="1"/>
            <p:nvPr/>
          </p:nvSpPr>
          <p:spPr>
            <a:xfrm>
              <a:off x="5481172" y="3484277"/>
              <a:ext cx="619955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IN" sz="2800" dirty="0">
                  <a:solidFill>
                    <a:srgbClr val="FFFF00"/>
                  </a:solidFill>
                </a:rPr>
                <a:t>Energy</a:t>
              </a:r>
              <a:r>
                <a:rPr lang="en-IN" sz="2800" dirty="0">
                  <a:solidFill>
                    <a:schemeClr val="bg1"/>
                  </a:solidFill>
                </a:rPr>
                <a:t> is </a:t>
              </a:r>
              <a:r>
                <a:rPr lang="en-IN" sz="2800" dirty="0">
                  <a:solidFill>
                    <a:srgbClr val="FFFF00"/>
                  </a:solidFill>
                </a:rPr>
                <a:t>equally</a:t>
              </a:r>
              <a:r>
                <a:rPr lang="en-IN" sz="2800" dirty="0">
                  <a:solidFill>
                    <a:schemeClr val="bg1"/>
                  </a:solidFill>
                </a:rPr>
                <a:t> distributed in </a:t>
              </a:r>
              <a:r>
                <a:rPr lang="en-IN" sz="2800" dirty="0">
                  <a:solidFill>
                    <a:srgbClr val="FFFF00"/>
                  </a:solidFill>
                </a:rPr>
                <a:t>Electric</a:t>
              </a:r>
              <a:r>
                <a:rPr lang="en-IN" sz="2800" dirty="0">
                  <a:solidFill>
                    <a:schemeClr val="bg1"/>
                  </a:solidFill>
                </a:rPr>
                <a:t> and </a:t>
              </a:r>
              <a:r>
                <a:rPr lang="en-IN" sz="2800" dirty="0">
                  <a:solidFill>
                    <a:srgbClr val="FFFF00"/>
                  </a:solidFill>
                </a:rPr>
                <a:t>magnetic</a:t>
              </a:r>
              <a:r>
                <a:rPr lang="en-IN" sz="2800" dirty="0">
                  <a:solidFill>
                    <a:schemeClr val="bg1"/>
                  </a:solidFill>
                </a:rPr>
                <a:t> form</a:t>
              </a:r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E6987F3-A009-4CF7-4C92-783009425BBB}"/>
              </a:ext>
            </a:extLst>
          </p:cNvPr>
          <p:cNvGrpSpPr/>
          <p:nvPr/>
        </p:nvGrpSpPr>
        <p:grpSpPr>
          <a:xfrm>
            <a:off x="5253506" y="1490951"/>
            <a:ext cx="1816021" cy="523220"/>
            <a:chOff x="5254487" y="3484277"/>
            <a:chExt cx="1816021" cy="523220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19C8BBFB-9C77-36B2-7E88-24FB10CDEC78}"/>
                </a:ext>
              </a:extLst>
            </p:cNvPr>
            <p:cNvSpPr/>
            <p:nvPr/>
          </p:nvSpPr>
          <p:spPr>
            <a:xfrm>
              <a:off x="5254487" y="3666030"/>
              <a:ext cx="172278" cy="172278"/>
            </a:xfrm>
            <a:prstGeom prst="ellipse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96148F7E-C583-3749-5AE2-ACE5A83D9A95}"/>
                    </a:ext>
                  </a:extLst>
                </p:cNvPr>
                <p:cNvSpPr txBox="1"/>
                <p:nvPr/>
              </p:nvSpPr>
              <p:spPr>
                <a:xfrm>
                  <a:off x="5481172" y="3484277"/>
                  <a:ext cx="1589336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IN" sz="2800" b="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IN" sz="2800" dirty="0">
                      <a:solidFill>
                        <a:srgbClr val="FFFF00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96148F7E-C583-3749-5AE2-ACE5A83D9A9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1172" y="3484277"/>
                  <a:ext cx="1589336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64D614D1-1B8C-B7F9-428E-76F09C044966}"/>
                  </a:ext>
                </a:extLst>
              </p:cNvPr>
              <p:cNvSpPr/>
              <p:nvPr/>
            </p:nvSpPr>
            <p:spPr>
              <a:xfrm>
                <a:off x="6270842" y="1309841"/>
                <a:ext cx="2046779" cy="895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4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sSup>
                        <m:sSupPr>
                          <m:ctrlP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en-IN" sz="24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sz="24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4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I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IN" sz="2400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I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I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64D614D1-1B8C-B7F9-428E-76F09C0449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70842" y="1309841"/>
                <a:ext cx="2046779" cy="8958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219562B5-32A0-4DCD-4879-AE5A0F931BB5}"/>
                  </a:ext>
                </a:extLst>
              </p:cNvPr>
              <p:cNvSpPr/>
              <p:nvPr/>
            </p:nvSpPr>
            <p:spPr>
              <a:xfrm>
                <a:off x="8425008" y="1374730"/>
                <a:ext cx="3766992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IN" sz="2400" dirty="0">
                    <a:solidFill>
                      <a:schemeClr val="bg1"/>
                    </a:solidFill>
                  </a:rPr>
                  <a:t>Here we have E and B not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IN" sz="2400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IN" sz="2400" dirty="0">
                    <a:solidFill>
                      <a:schemeClr val="bg1"/>
                    </a:solidFill>
                  </a:rPr>
                  <a:t> or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IN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𝑟𝑚𝑠</m:t>
                        </m:r>
                      </m:sub>
                    </m:sSub>
                  </m:oMath>
                </a14:m>
                <a:r>
                  <a:rPr lang="en-IN" sz="2400" dirty="0">
                    <a:solidFill>
                      <a:schemeClr val="bg1"/>
                    </a:solidFill>
                  </a:rPr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IN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𝑟𝑚𝑠</m:t>
                        </m:r>
                      </m:sub>
                    </m:sSub>
                  </m:oMath>
                </a14:m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219562B5-32A0-4DCD-4879-AE5A0F931BB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25008" y="1374730"/>
                <a:ext cx="3766992" cy="830997"/>
              </a:xfrm>
              <a:prstGeom prst="rect">
                <a:avLst/>
              </a:prstGeom>
              <a:blipFill>
                <a:blip r:embed="rId8"/>
                <a:stretch>
                  <a:fillRect l="-2427" t="-5882" b="-1617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8EB6435F-1E92-30E7-5CA8-9BC9D19F5C46}"/>
                  </a:ext>
                </a:extLst>
              </p:cNvPr>
              <p:cNvSpPr/>
              <p:nvPr/>
            </p:nvSpPr>
            <p:spPr>
              <a:xfrm>
                <a:off x="5951812" y="2247987"/>
                <a:ext cx="1947713" cy="7838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=2×</m:t>
                      </m:r>
                      <m:f>
                        <m:fPr>
                          <m:ctrlP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4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4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>
                        <m:sSubPr>
                          <m:ctrlP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sSup>
                        <m:sSupPr>
                          <m:ctrlP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p>
                          <m:r>
                            <a:rPr lang="en-IN" sz="24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8EB6435F-1E92-30E7-5CA8-9BC9D19F5C4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812" y="2247987"/>
                <a:ext cx="1947713" cy="78380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C6E45220-F5E7-AB48-9534-F5490326EAE6}"/>
                  </a:ext>
                </a:extLst>
              </p:cNvPr>
              <p:cNvSpPr/>
              <p:nvPr/>
            </p:nvSpPr>
            <p:spPr>
              <a:xfrm>
                <a:off x="5951812" y="3131395"/>
                <a:ext cx="328468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sSup>
                        <m:sSupPr>
                          <m:ctrlP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I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IN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  <m:d>
                            <m:dPr>
                              <m:ctrlPr>
                                <a:rPr lang="en-I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  <m:r>
                                <a:rPr lang="en-I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IN" sz="240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𝑘𝑥</m:t>
                              </m:r>
                            </m:e>
                          </m:d>
                          <m: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IN" sz="24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C6E45220-F5E7-AB48-9534-F5490326EA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1812" y="3131395"/>
                <a:ext cx="3284682" cy="461665"/>
              </a:xfrm>
              <a:prstGeom prst="rect">
                <a:avLst/>
              </a:prstGeom>
              <a:blipFill>
                <a:blip r:embed="rId10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>
            <a:extLst>
              <a:ext uri="{FF2B5EF4-FFF2-40B4-BE49-F238E27FC236}">
                <a16:creationId xmlns:a16="http://schemas.microsoft.com/office/drawing/2014/main" id="{8190BABC-2A37-BC5D-B6BF-5BC6647BC279}"/>
              </a:ext>
            </a:extLst>
          </p:cNvPr>
          <p:cNvGrpSpPr/>
          <p:nvPr/>
        </p:nvGrpSpPr>
        <p:grpSpPr>
          <a:xfrm>
            <a:off x="5318410" y="3640752"/>
            <a:ext cx="3993677" cy="523220"/>
            <a:chOff x="5254487" y="3484277"/>
            <a:chExt cx="3993677" cy="52322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5054526D-790F-DB04-12F0-4461286F915A}"/>
                </a:ext>
              </a:extLst>
            </p:cNvPr>
            <p:cNvSpPr/>
            <p:nvPr/>
          </p:nvSpPr>
          <p:spPr>
            <a:xfrm>
              <a:off x="5254487" y="3666030"/>
              <a:ext cx="172278" cy="172278"/>
            </a:xfrm>
            <a:prstGeom prst="ellipse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FCE7C6E7-7D98-157A-1B2C-13734ED1A958}"/>
                    </a:ext>
                  </a:extLst>
                </p:cNvPr>
                <p:cNvSpPr txBox="1"/>
                <p:nvPr/>
              </p:nvSpPr>
              <p:spPr>
                <a:xfrm>
                  <a:off x="5481172" y="3484277"/>
                  <a:ext cx="3766992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sz="2800" b="0" i="1" dirty="0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IN" sz="2800" b="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</m:oMath>
                  </a14:m>
                  <a:r>
                    <a:rPr lang="en-IN" sz="2800" dirty="0">
                      <a:solidFill>
                        <a:srgbClr val="FFFF00"/>
                      </a:solidFill>
                    </a:rPr>
                    <a:t>average value</a:t>
                  </a:r>
                  <a14:m>
                    <m:oMath xmlns:m="http://schemas.openxmlformats.org/officeDocument/2006/math">
                      <m:r>
                        <a:rPr lang="en-IN" sz="2800" b="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</m:oMath>
                  </a14:m>
                  <a:r>
                    <a:rPr lang="en-IN" sz="2800" dirty="0">
                      <a:solidFill>
                        <a:srgbClr val="FFFF00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FCE7C6E7-7D98-157A-1B2C-13734ED1A9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1172" y="3484277"/>
                  <a:ext cx="3766992" cy="523220"/>
                </a:xfrm>
                <a:prstGeom prst="rect">
                  <a:avLst/>
                </a:prstGeom>
                <a:blipFill>
                  <a:blip r:embed="rId11"/>
                  <a:stretch>
                    <a:fillRect t="-10465" b="-3255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B118148-5B5F-9217-C747-6DD7DBA3183E}"/>
                  </a:ext>
                </a:extLst>
              </p:cNvPr>
              <p:cNvSpPr/>
              <p:nvPr/>
            </p:nvSpPr>
            <p:spPr>
              <a:xfrm>
                <a:off x="6094604" y="4240828"/>
                <a:ext cx="204709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=1/2×</m:t>
                      </m:r>
                      <m:sSub>
                        <m:sSubPr>
                          <m:ctrlP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sSubSup>
                        <m:sSubSupPr>
                          <m:ctrlP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  <m:sup>
                          <m:r>
                            <a:rPr lang="en-IN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B118148-5B5F-9217-C747-6DD7DBA318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4604" y="4240828"/>
                <a:ext cx="2047099" cy="461665"/>
              </a:xfrm>
              <a:prstGeom prst="rect">
                <a:avLst/>
              </a:prstGeom>
              <a:blipFill>
                <a:blip r:embed="rId12"/>
                <a:stretch>
                  <a:fillRect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E49C9A7-76B1-505C-72B0-83C1FDAA749B}"/>
                  </a:ext>
                </a:extLst>
              </p:cNvPr>
              <p:cNvSpPr/>
              <p:nvPr/>
            </p:nvSpPr>
            <p:spPr>
              <a:xfrm>
                <a:off x="9554226" y="4240828"/>
                <a:ext cx="148393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sSubSup>
                        <m:sSubSupPr>
                          <m:ctrlP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IN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sz="2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𝑟𝑚𝑠</m:t>
                          </m:r>
                        </m:sub>
                        <m:sup>
                          <m:r>
                            <a:rPr lang="en-IN" sz="240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IN" sz="24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E49C9A7-76B1-505C-72B0-83C1FDAA749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4226" y="4240828"/>
                <a:ext cx="1483932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543E1FB7-F1F3-ABBD-85C6-B259A1876B39}"/>
              </a:ext>
            </a:extLst>
          </p:cNvPr>
          <p:cNvGrpSpPr/>
          <p:nvPr/>
        </p:nvGrpSpPr>
        <p:grpSpPr>
          <a:xfrm>
            <a:off x="5270297" y="4912440"/>
            <a:ext cx="5014245" cy="523220"/>
            <a:chOff x="5254487" y="3484277"/>
            <a:chExt cx="5014245" cy="52322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A9CE197-7310-F476-675F-BFAD299845DE}"/>
                </a:ext>
              </a:extLst>
            </p:cNvPr>
            <p:cNvSpPr/>
            <p:nvPr/>
          </p:nvSpPr>
          <p:spPr>
            <a:xfrm>
              <a:off x="5254487" y="3666030"/>
              <a:ext cx="172278" cy="172278"/>
            </a:xfrm>
            <a:prstGeom prst="ellipse">
              <a:avLst/>
            </a:prstGeom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DC2C5E1-3F57-D0A3-EA73-CA5E7C42BA81}"/>
                    </a:ext>
                  </a:extLst>
                </p:cNvPr>
                <p:cNvSpPr txBox="1"/>
                <p:nvPr/>
              </p:nvSpPr>
              <p:spPr>
                <a:xfrm>
                  <a:off x="5481172" y="3484277"/>
                  <a:ext cx="478756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IN" sz="2800" dirty="0">
                      <a:solidFill>
                        <a:srgbClr val="FFFF00"/>
                      </a:solidFill>
                    </a:rPr>
                    <a:t>Frequency of energy/Power</a:t>
                  </a:r>
                  <a14:m>
                    <m:oMath xmlns:m="http://schemas.openxmlformats.org/officeDocument/2006/math">
                      <m:r>
                        <a:rPr lang="en-IN" sz="2800" b="0" i="0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i="1" dirty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endParaRPr lang="en-IN" sz="2800" dirty="0">
                    <a:solidFill>
                      <a:srgbClr val="FFFF00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9DC2C5E1-3F57-D0A3-EA73-CA5E7C42BA8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81172" y="3484277"/>
                  <a:ext cx="4787560" cy="523220"/>
                </a:xfrm>
                <a:prstGeom prst="rect">
                  <a:avLst/>
                </a:prstGeom>
                <a:blipFill>
                  <a:blip r:embed="rId14"/>
                  <a:stretch>
                    <a:fillRect l="-2675" t="-11628" b="-3255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D709A2C-FAEF-85AF-FBEB-DBEC9F3A4C08}"/>
                  </a:ext>
                </a:extLst>
              </p:cNvPr>
              <p:cNvSpPr/>
              <p:nvPr/>
            </p:nvSpPr>
            <p:spPr>
              <a:xfrm>
                <a:off x="10025199" y="4934503"/>
                <a:ext cx="73436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D709A2C-FAEF-85AF-FBEB-DBEC9F3A4C0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25199" y="4934503"/>
                <a:ext cx="734368" cy="523220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6EAF1B8-0820-D0C2-E8B9-56A5806A193F}"/>
              </a:ext>
            </a:extLst>
          </p:cNvPr>
          <p:cNvSpPr/>
          <p:nvPr/>
        </p:nvSpPr>
        <p:spPr>
          <a:xfrm>
            <a:off x="5480192" y="569669"/>
            <a:ext cx="6434895" cy="830997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EA9C40B-DEB5-AE0D-2E91-CE6E9BE2417B}"/>
              </a:ext>
            </a:extLst>
          </p:cNvPr>
          <p:cNvSpPr/>
          <p:nvPr/>
        </p:nvSpPr>
        <p:spPr>
          <a:xfrm>
            <a:off x="7089738" y="2295402"/>
            <a:ext cx="732927" cy="830997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334E723-5263-9A3C-D718-79627467FAF9}"/>
              </a:ext>
            </a:extLst>
          </p:cNvPr>
          <p:cNvSpPr/>
          <p:nvPr/>
        </p:nvSpPr>
        <p:spPr>
          <a:xfrm>
            <a:off x="9955904" y="4039029"/>
            <a:ext cx="1074217" cy="830997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6CC916A8-8E38-710C-4523-009BE9CB8A93}"/>
              </a:ext>
            </a:extLst>
          </p:cNvPr>
          <p:cNvSpPr/>
          <p:nvPr/>
        </p:nvSpPr>
        <p:spPr>
          <a:xfrm>
            <a:off x="10079688" y="4977329"/>
            <a:ext cx="734286" cy="458331"/>
          </a:xfrm>
          <a:prstGeom prst="roundRect">
            <a:avLst/>
          </a:prstGeom>
          <a:noFill/>
          <a:ln>
            <a:solidFill>
              <a:schemeClr val="bg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07B47CE-0BBC-3255-338F-CC743AD6A9B9}"/>
              </a:ext>
            </a:extLst>
          </p:cNvPr>
          <p:cNvGrpSpPr/>
          <p:nvPr/>
        </p:nvGrpSpPr>
        <p:grpSpPr>
          <a:xfrm>
            <a:off x="108132" y="587072"/>
            <a:ext cx="4418068" cy="2135588"/>
            <a:chOff x="137160" y="1219200"/>
            <a:chExt cx="5958840" cy="2880360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537FBC05-DA0B-AA5F-FBDB-0D733528F048}"/>
                </a:ext>
              </a:extLst>
            </p:cNvPr>
            <p:cNvSpPr/>
            <p:nvPr/>
          </p:nvSpPr>
          <p:spPr>
            <a:xfrm>
              <a:off x="137160" y="1219200"/>
              <a:ext cx="5958840" cy="2880360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25" name="Picture 2" descr="electromagnetism - How is the combination of electric ...">
              <a:extLst>
                <a:ext uri="{FF2B5EF4-FFF2-40B4-BE49-F238E27FC236}">
                  <a16:creationId xmlns:a16="http://schemas.microsoft.com/office/drawing/2014/main" id="{7106CACC-2E31-CA6E-67BD-1529D29BCC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551" y="1524000"/>
              <a:ext cx="5192058" cy="2270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BE8F65D-135B-CB58-A594-19B454DD49B9}"/>
                  </a:ext>
                </a:extLst>
              </p:cNvPr>
              <p:cNvSpPr/>
              <p:nvPr/>
            </p:nvSpPr>
            <p:spPr>
              <a:xfrm>
                <a:off x="186511" y="2987604"/>
                <a:ext cx="347563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BE8F65D-135B-CB58-A594-19B454DD49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11" y="2987604"/>
                <a:ext cx="3475630" cy="523220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41F007E-FC51-0B08-F350-390FDA7CA46B}"/>
                  </a:ext>
                </a:extLst>
              </p:cNvPr>
              <p:cNvSpPr/>
              <p:nvPr/>
            </p:nvSpPr>
            <p:spPr>
              <a:xfrm>
                <a:off x="186511" y="3515446"/>
                <a:ext cx="3557320" cy="5461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041F007E-FC51-0B08-F350-390FDA7CA46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11" y="3515446"/>
                <a:ext cx="3557320" cy="546175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Right Brace 27">
            <a:extLst>
              <a:ext uri="{FF2B5EF4-FFF2-40B4-BE49-F238E27FC236}">
                <a16:creationId xmlns:a16="http://schemas.microsoft.com/office/drawing/2014/main" id="{8E23BE98-0B02-B495-E867-E56A973CE623}"/>
              </a:ext>
            </a:extLst>
          </p:cNvPr>
          <p:cNvSpPr/>
          <p:nvPr/>
        </p:nvSpPr>
        <p:spPr>
          <a:xfrm rot="5400000">
            <a:off x="1484259" y="3756258"/>
            <a:ext cx="185903" cy="1097280"/>
          </a:xfrm>
          <a:prstGeom prst="rightBrac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25E64CD-6091-A656-CF5B-BCBAA6B673E6}"/>
                  </a:ext>
                </a:extLst>
              </p:cNvPr>
              <p:cNvSpPr txBox="1"/>
              <p:nvPr/>
            </p:nvSpPr>
            <p:spPr>
              <a:xfrm>
                <a:off x="876019" y="4426478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𝐸𝑀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𝑤𝑎𝑣𝑒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825E64CD-6091-A656-CF5B-BCBAA6B673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019" y="4426478"/>
                <a:ext cx="914400" cy="523220"/>
              </a:xfrm>
              <a:prstGeom prst="rect">
                <a:avLst/>
              </a:prstGeom>
              <a:blipFill>
                <a:blip r:embed="rId23"/>
                <a:stretch>
                  <a:fillRect r="-6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6492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24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0" dur="24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3" dur="24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6" dur="24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48" grpId="0"/>
      <p:bldP spid="49" grpId="0"/>
      <p:bldP spid="50" grpId="0"/>
      <p:bldP spid="52" grpId="0"/>
      <p:bldP spid="5" grpId="0"/>
      <p:bldP spid="13" grpId="0"/>
      <p:bldP spid="20" grpId="0"/>
      <p:bldP spid="21" grpId="0" animBg="1"/>
      <p:bldP spid="22" grpId="0" animBg="1"/>
      <p:bldP spid="23" grpId="0" animBg="1"/>
      <p:bldP spid="2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CFD6D-17A3-A28E-DBC8-6F4DFD69E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FE9193C-84F8-A305-3EF6-15CC98EBC03B}"/>
              </a:ext>
            </a:extLst>
          </p:cNvPr>
          <p:cNvSpPr/>
          <p:nvPr/>
        </p:nvSpPr>
        <p:spPr>
          <a:xfrm>
            <a:off x="8027959" y="410241"/>
            <a:ext cx="218348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Speed of light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0357E95-CF1A-9B0F-89C0-F7EA57A20B90}"/>
              </a:ext>
            </a:extLst>
          </p:cNvPr>
          <p:cNvSpPr/>
          <p:nvPr/>
        </p:nvSpPr>
        <p:spPr>
          <a:xfrm>
            <a:off x="8020886" y="876322"/>
            <a:ext cx="32615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Light is also EM wave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EECE9DE-738F-167C-A06F-00DE6D2473EC}"/>
              </a:ext>
            </a:extLst>
          </p:cNvPr>
          <p:cNvSpPr/>
          <p:nvPr/>
        </p:nvSpPr>
        <p:spPr>
          <a:xfrm>
            <a:off x="4478788" y="53544"/>
            <a:ext cx="297953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Velocity discussion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D80599E-50CD-84BC-9247-E3500CC81322}"/>
                  </a:ext>
                </a:extLst>
              </p:cNvPr>
              <p:cNvSpPr txBox="1"/>
              <p:nvPr/>
            </p:nvSpPr>
            <p:spPr>
              <a:xfrm>
                <a:off x="5078715" y="454354"/>
                <a:ext cx="129636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𝑘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D80599E-50CD-84BC-9247-E3500CC813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8715" y="454354"/>
                <a:ext cx="1296364" cy="52322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51C12B9-5867-122B-9DCE-32F80645A290}"/>
                  </a:ext>
                </a:extLst>
              </p:cNvPr>
              <p:cNvSpPr txBox="1"/>
              <p:nvPr/>
            </p:nvSpPr>
            <p:spPr>
              <a:xfrm>
                <a:off x="6236954" y="439114"/>
                <a:ext cx="184887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=3×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51C12B9-5867-122B-9DCE-32F80645A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6954" y="439114"/>
                <a:ext cx="184887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ight Brace 34">
            <a:extLst>
              <a:ext uri="{FF2B5EF4-FFF2-40B4-BE49-F238E27FC236}">
                <a16:creationId xmlns:a16="http://schemas.microsoft.com/office/drawing/2014/main" id="{486D3D16-92AC-232D-A7F6-6D72A5398875}"/>
              </a:ext>
            </a:extLst>
          </p:cNvPr>
          <p:cNvSpPr/>
          <p:nvPr/>
        </p:nvSpPr>
        <p:spPr>
          <a:xfrm>
            <a:off x="7970086" y="524074"/>
            <a:ext cx="115747" cy="335222"/>
          </a:xfrm>
          <a:prstGeom prst="rightBrac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63D771E-7417-EF44-C3D4-BF782906C395}"/>
                  </a:ext>
                </a:extLst>
              </p:cNvPr>
              <p:cNvSpPr txBox="1"/>
              <p:nvPr/>
            </p:nvSpPr>
            <p:spPr>
              <a:xfrm>
                <a:off x="5078715" y="1753638"/>
                <a:ext cx="1296364" cy="896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63D771E-7417-EF44-C3D4-BF782906C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8715" y="1753638"/>
                <a:ext cx="1296364" cy="8961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E52B662-CB19-7860-EE2A-01AC46EC7E47}"/>
                  </a:ext>
                </a:extLst>
              </p:cNvPr>
              <p:cNvSpPr/>
              <p:nvPr/>
            </p:nvSpPr>
            <p:spPr>
              <a:xfrm>
                <a:off x="8027959" y="1301845"/>
                <a:ext cx="810415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FE52B662-CB19-7860-EE2A-01AC46EC7E4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7959" y="1301845"/>
                <a:ext cx="81041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DD66951-FB5E-4FCE-C254-0BBA92547D8B}"/>
                  </a:ext>
                </a:extLst>
              </p:cNvPr>
              <p:cNvSpPr txBox="1"/>
              <p:nvPr/>
            </p:nvSpPr>
            <p:spPr>
              <a:xfrm>
                <a:off x="8344857" y="1744761"/>
                <a:ext cx="1296364" cy="999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CDD66951-FB5E-4FCE-C254-0BBA92547D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4857" y="1744761"/>
                <a:ext cx="1296364" cy="999761"/>
              </a:xfrm>
              <a:prstGeom prst="rect">
                <a:avLst/>
              </a:prstGeom>
              <a:blipFill>
                <a:blip r:embed="rId6"/>
                <a:stretch>
                  <a:fillRect r="-70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7345EBA-4A4A-F00A-DD36-95EDC0E3B8F9}"/>
                  </a:ext>
                </a:extLst>
              </p:cNvPr>
              <p:cNvSpPr txBox="1"/>
              <p:nvPr/>
            </p:nvSpPr>
            <p:spPr>
              <a:xfrm>
                <a:off x="6003155" y="1758772"/>
                <a:ext cx="1296364" cy="9717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7345EBA-4A4A-F00A-DD36-95EDC0E3B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3155" y="1758772"/>
                <a:ext cx="1296364" cy="9717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48C4E05-34AB-52E2-32B7-CD8E57714C86}"/>
                  </a:ext>
                </a:extLst>
              </p:cNvPr>
              <p:cNvSpPr txBox="1"/>
              <p:nvPr/>
            </p:nvSpPr>
            <p:spPr>
              <a:xfrm>
                <a:off x="7029195" y="1763906"/>
                <a:ext cx="1296364" cy="9717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𝑟𝑚𝑠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𝑟𝑚𝑠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48C4E05-34AB-52E2-32B7-CD8E57714C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9195" y="1763906"/>
                <a:ext cx="1296364" cy="97174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752B361-3A5E-31E0-D943-D804CA95BA32}"/>
                  </a:ext>
                </a:extLst>
              </p:cNvPr>
              <p:cNvSpPr txBox="1"/>
              <p:nvPr/>
            </p:nvSpPr>
            <p:spPr>
              <a:xfrm>
                <a:off x="4478788" y="2721479"/>
                <a:ext cx="347563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2800" dirty="0">
                    <a:solidFill>
                      <a:srgbClr val="FFFF00"/>
                    </a:solidFill>
                  </a:rPr>
                  <a:t> in some medium</a:t>
                </a:r>
              </a:p>
            </p:txBody>
          </p:sp>
        </mc:Choice>
        <mc:Fallback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752B361-3A5E-31E0-D943-D804CA95BA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8788" y="2721479"/>
                <a:ext cx="3475630" cy="523220"/>
              </a:xfrm>
              <a:prstGeom prst="rect">
                <a:avLst/>
              </a:prstGeom>
              <a:blipFill>
                <a:blip r:embed="rId9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3BE4879-B527-54A8-EFB8-103956604654}"/>
                  </a:ext>
                </a:extLst>
              </p:cNvPr>
              <p:cNvSpPr txBox="1"/>
              <p:nvPr/>
            </p:nvSpPr>
            <p:spPr>
              <a:xfrm>
                <a:off x="5078715" y="3156716"/>
                <a:ext cx="1296364" cy="8961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13BE4879-B527-54A8-EFB8-1039566046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8715" y="3156716"/>
                <a:ext cx="1296364" cy="8961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6D9F44E-6847-2587-E38A-2EF5D31A652B}"/>
                  </a:ext>
                </a:extLst>
              </p:cNvPr>
              <p:cNvSpPr txBox="1"/>
              <p:nvPr/>
            </p:nvSpPr>
            <p:spPr>
              <a:xfrm>
                <a:off x="6236954" y="3147839"/>
                <a:ext cx="1296364" cy="999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6D9F44E-6847-2587-E38A-2EF5D31A65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6954" y="3147839"/>
                <a:ext cx="1296364" cy="99976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0D21E47-26F5-B857-9C08-B3877B39FEF3}"/>
                  </a:ext>
                </a:extLst>
              </p:cNvPr>
              <p:cNvSpPr txBox="1"/>
              <p:nvPr/>
            </p:nvSpPr>
            <p:spPr>
              <a:xfrm>
                <a:off x="4499139" y="3982809"/>
                <a:ext cx="347563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 lang="en-IN" sz="28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IN" sz="2800" dirty="0">
                    <a:solidFill>
                      <a:srgbClr val="FFFF00"/>
                    </a:solidFill>
                  </a:rPr>
                  <a:t> Refractive index</a:t>
                </a:r>
              </a:p>
            </p:txBody>
          </p:sp>
        </mc:Choice>
        <mc:Fallback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80D21E47-26F5-B857-9C08-B3877B39FE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139" y="3982809"/>
                <a:ext cx="3475630" cy="523220"/>
              </a:xfrm>
              <a:prstGeom prst="rect">
                <a:avLst/>
              </a:prstGeom>
              <a:blipFill>
                <a:blip r:embed="rId12"/>
                <a:stretch>
                  <a:fillRect t="-10465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77CDD04-1318-8EC2-0B57-A30C5B172520}"/>
                  </a:ext>
                </a:extLst>
              </p:cNvPr>
              <p:cNvSpPr txBox="1"/>
              <p:nvPr/>
            </p:nvSpPr>
            <p:spPr>
              <a:xfrm>
                <a:off x="5224997" y="4550142"/>
                <a:ext cx="1296364" cy="8272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77CDD04-1318-8EC2-0B57-A30C5B1725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997" y="4550142"/>
                <a:ext cx="1296364" cy="827278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9404260-EE47-0322-7F5A-A51C1C28BA6C}"/>
                  </a:ext>
                </a:extLst>
              </p:cNvPr>
              <p:cNvSpPr txBox="1"/>
              <p:nvPr/>
            </p:nvSpPr>
            <p:spPr>
              <a:xfrm>
                <a:off x="6267361" y="4464315"/>
                <a:ext cx="1296364" cy="10257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1/</m:t>
                          </m:r>
                          <m:rad>
                            <m:radPr>
                              <m:degHide m:val="on"/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IN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IN" sz="2800" b="0" i="1" smtClean="0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</m:e>
                          </m:rad>
                        </m:num>
                        <m:den>
                          <m:r>
                            <a:rPr lang="en-IN" sz="2800" i="1" smtClean="0">
                              <a:solidFill>
                                <a:schemeClr val="bg1">
                                  <a:alpha val="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1/</m:t>
                          </m:r>
                          <m:rad>
                            <m:radPr>
                              <m:degHide m:val="on"/>
                              <m:ctrlPr>
                                <a:rPr lang="en-IN" sz="2800" i="1">
                                  <a:solidFill>
                                    <a:schemeClr val="bg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IN" sz="2800" i="1">
                                  <a:solidFill>
                                    <a:schemeClr val="bg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IN" sz="2800" i="1">
                                  <a:solidFill>
                                    <a:schemeClr val="bg1">
                                      <a:alpha val="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</m:rad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9404260-EE47-0322-7F5A-A51C1C28BA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7361" y="4464315"/>
                <a:ext cx="1296364" cy="1025730"/>
              </a:xfrm>
              <a:prstGeom prst="rect">
                <a:avLst/>
              </a:prstGeom>
              <a:blipFill>
                <a:blip r:embed="rId14"/>
                <a:stretch>
                  <a:fillRect r="-361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9FCAB5-7B6F-A39B-AC12-BFAEBF9C16E9}"/>
                  </a:ext>
                </a:extLst>
              </p:cNvPr>
              <p:cNvSpPr txBox="1"/>
              <p:nvPr/>
            </p:nvSpPr>
            <p:spPr>
              <a:xfrm>
                <a:off x="6681399" y="4987535"/>
                <a:ext cx="1296364" cy="5246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1/</m:t>
                      </m:r>
                      <m:rad>
                        <m:radPr>
                          <m:degHide m:val="on"/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</m:rad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C9FCAB5-7B6F-A39B-AC12-BFAEBF9C16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81399" y="4987535"/>
                <a:ext cx="1296364" cy="524631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8023C9-7FA2-1636-5646-31CEA214A79C}"/>
                  </a:ext>
                </a:extLst>
              </p:cNvPr>
              <p:cNvSpPr txBox="1"/>
              <p:nvPr/>
            </p:nvSpPr>
            <p:spPr>
              <a:xfrm>
                <a:off x="8073782" y="4276929"/>
                <a:ext cx="1296364" cy="136537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I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𝑜</m:t>
                                  </m:r>
                                </m:sub>
                              </m:sSub>
                            </m:den>
                          </m:f>
                        </m:e>
                      </m:rad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C8023C9-7FA2-1636-5646-31CEA214A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3782" y="4276929"/>
                <a:ext cx="1296364" cy="1365374"/>
              </a:xfrm>
              <a:prstGeom prst="rect">
                <a:avLst/>
              </a:prstGeom>
              <a:blipFill>
                <a:blip r:embed="rId16"/>
                <a:stretch>
                  <a:fillRect r="-98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998B0F8-BFD7-EA68-F84F-334C104B67C2}"/>
                  </a:ext>
                </a:extLst>
              </p:cNvPr>
              <p:cNvSpPr txBox="1"/>
              <p:nvPr/>
            </p:nvSpPr>
            <p:spPr>
              <a:xfrm>
                <a:off x="9562184" y="4714864"/>
                <a:ext cx="1296364" cy="5246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rad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998B0F8-BFD7-EA68-F84F-334C104B6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2184" y="4714864"/>
                <a:ext cx="1296364" cy="524631"/>
              </a:xfrm>
              <a:prstGeom prst="rect">
                <a:avLst/>
              </a:prstGeom>
              <a:blipFill>
                <a:blip r:embed="rId17"/>
                <a:stretch>
                  <a:fillRect r="-51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39B8F9CC-612E-1209-6A4B-D68597F44CC7}"/>
              </a:ext>
            </a:extLst>
          </p:cNvPr>
          <p:cNvGrpSpPr/>
          <p:nvPr/>
        </p:nvGrpSpPr>
        <p:grpSpPr>
          <a:xfrm>
            <a:off x="108132" y="587072"/>
            <a:ext cx="4418068" cy="2135588"/>
            <a:chOff x="137160" y="1219200"/>
            <a:chExt cx="5958840" cy="2880360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F8B63775-086E-48AA-39D9-5E47BE39823E}"/>
                </a:ext>
              </a:extLst>
            </p:cNvPr>
            <p:cNvSpPr/>
            <p:nvPr/>
          </p:nvSpPr>
          <p:spPr>
            <a:xfrm>
              <a:off x="137160" y="1219200"/>
              <a:ext cx="5958840" cy="2880360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22" name="Picture 2" descr="electromagnetism - How is the combination of electric ...">
              <a:extLst>
                <a:ext uri="{FF2B5EF4-FFF2-40B4-BE49-F238E27FC236}">
                  <a16:creationId xmlns:a16="http://schemas.microsoft.com/office/drawing/2014/main" id="{75837F92-3CD0-E76A-3288-60ECC1A3C8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551" y="1524000"/>
              <a:ext cx="5192058" cy="2270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4475A19-40AE-5DC9-BF77-7B5768D6CA6E}"/>
                  </a:ext>
                </a:extLst>
              </p:cNvPr>
              <p:cNvSpPr/>
              <p:nvPr/>
            </p:nvSpPr>
            <p:spPr>
              <a:xfrm>
                <a:off x="186511" y="2987604"/>
                <a:ext cx="347563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E4475A19-40AE-5DC9-BF77-7B5768D6CA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11" y="2987604"/>
                <a:ext cx="3475630" cy="523220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6762A1FE-F370-F788-9797-DBC1F6C3C3BC}"/>
                  </a:ext>
                </a:extLst>
              </p:cNvPr>
              <p:cNvSpPr/>
              <p:nvPr/>
            </p:nvSpPr>
            <p:spPr>
              <a:xfrm>
                <a:off x="186511" y="3515446"/>
                <a:ext cx="3557320" cy="5461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6762A1FE-F370-F788-9797-DBC1F6C3C3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11" y="3515446"/>
                <a:ext cx="3557320" cy="546175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Right Brace 24">
            <a:extLst>
              <a:ext uri="{FF2B5EF4-FFF2-40B4-BE49-F238E27FC236}">
                <a16:creationId xmlns:a16="http://schemas.microsoft.com/office/drawing/2014/main" id="{ED1C8A31-12C9-F152-1521-106067330FEF}"/>
              </a:ext>
            </a:extLst>
          </p:cNvPr>
          <p:cNvSpPr/>
          <p:nvPr/>
        </p:nvSpPr>
        <p:spPr>
          <a:xfrm rot="5400000">
            <a:off x="1484259" y="3756258"/>
            <a:ext cx="185903" cy="1097280"/>
          </a:xfrm>
          <a:prstGeom prst="rightBrac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854AA8F-5A84-A3F0-4548-ED1D98C561B7}"/>
                  </a:ext>
                </a:extLst>
              </p:cNvPr>
              <p:cNvSpPr txBox="1"/>
              <p:nvPr/>
            </p:nvSpPr>
            <p:spPr>
              <a:xfrm>
                <a:off x="876019" y="4426478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𝐸𝑀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𝑤𝑎𝑣𝑒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F854AA8F-5A84-A3F0-4548-ED1D98C561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019" y="4426478"/>
                <a:ext cx="914400" cy="523220"/>
              </a:xfrm>
              <a:prstGeom prst="rect">
                <a:avLst/>
              </a:prstGeom>
              <a:blipFill>
                <a:blip r:embed="rId21"/>
                <a:stretch>
                  <a:fillRect r="-6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5799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  <p:bldP spid="29" grpId="0"/>
      <p:bldP spid="33" grpId="0"/>
      <p:bldP spid="34" grpId="0"/>
      <p:bldP spid="35" grpId="0" animBg="1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7" grpId="0"/>
      <p:bldP spid="48" grpId="0"/>
      <p:bldP spid="49" grpId="0"/>
      <p:bldP spid="6" grpId="0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3CFD6D-17A3-A28E-DBC8-6F4DFD69E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ACEE54D7-A38A-323A-5B95-4B09C59D535F}"/>
              </a:ext>
            </a:extLst>
          </p:cNvPr>
          <p:cNvGrpSpPr/>
          <p:nvPr/>
        </p:nvGrpSpPr>
        <p:grpSpPr>
          <a:xfrm>
            <a:off x="4626664" y="440087"/>
            <a:ext cx="4805571" cy="884439"/>
            <a:chOff x="4626664" y="951365"/>
            <a:chExt cx="4805571" cy="88443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5DAA5A4-95BA-A57C-A65D-41B9A901FB7A}"/>
                    </a:ext>
                  </a:extLst>
                </p:cNvPr>
                <p:cNvSpPr txBox="1"/>
                <p:nvPr/>
              </p:nvSpPr>
              <p:spPr>
                <a:xfrm>
                  <a:off x="4626665" y="1312584"/>
                  <a:ext cx="480557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IN" sz="2800" dirty="0">
                      <a:solidFill>
                        <a:srgbClr val="FFFF00"/>
                      </a:solidFill>
                    </a:rPr>
                    <a:t>Find refractive index if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IN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IN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IN" sz="28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=9</m:t>
                      </m:r>
                    </m:oMath>
                  </a14:m>
                  <a:endParaRPr lang="en-IN" sz="2800" dirty="0">
                    <a:solidFill>
                      <a:srgbClr val="FFFF00"/>
                    </a:solidFill>
                  </a:endParaRP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D5DAA5A4-95BA-A57C-A65D-41B9A901FB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6665" y="1312584"/>
                  <a:ext cx="4805570" cy="523220"/>
                </a:xfrm>
                <a:prstGeom prst="rect">
                  <a:avLst/>
                </a:prstGeom>
                <a:blipFill>
                  <a:blip r:embed="rId6"/>
                  <a:stretch>
                    <a:fillRect l="-2665" t="-10465" b="-3255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B93D9D9-6F2D-E322-8461-BBA2170AD89E}"/>
                </a:ext>
              </a:extLst>
            </p:cNvPr>
            <p:cNvSpPr/>
            <p:nvPr/>
          </p:nvSpPr>
          <p:spPr>
            <a:xfrm>
              <a:off x="4626664" y="951365"/>
              <a:ext cx="1541576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Question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DC123BA-8CD6-E2EB-FA3D-74AAE830AECA}"/>
              </a:ext>
            </a:extLst>
          </p:cNvPr>
          <p:cNvGrpSpPr/>
          <p:nvPr/>
        </p:nvGrpSpPr>
        <p:grpSpPr>
          <a:xfrm>
            <a:off x="4612765" y="1901853"/>
            <a:ext cx="4362270" cy="1347740"/>
            <a:chOff x="4612765" y="2184533"/>
            <a:chExt cx="4362270" cy="13477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5DE7F30-1B30-8B07-8C99-80E7778330AA}"/>
                    </a:ext>
                  </a:extLst>
                </p:cNvPr>
                <p:cNvSpPr txBox="1"/>
                <p:nvPr/>
              </p:nvSpPr>
              <p:spPr>
                <a:xfrm>
                  <a:off x="4626664" y="2578166"/>
                  <a:ext cx="4348371" cy="9541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l"/>
                  <a:r>
                    <a:rPr lang="en-IN" sz="2800" dirty="0">
                      <a:solidFill>
                        <a:srgbClr val="FFFF00"/>
                      </a:solidFill>
                    </a:rPr>
                    <a:t>Find refractive index if </a:t>
                  </a:r>
                </a:p>
                <a:p>
                  <a:pPr algn="l"/>
                  <a14:m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IN" sz="28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=10</m:t>
                      </m:r>
                      <m:r>
                        <m:rPr>
                          <m:sty m:val="p"/>
                        </m:rPr>
                        <a:rPr lang="en-IN" sz="2800" b="0" i="0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r>
                        <a:rPr lang="en-IN" sz="28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⁡(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IN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IN" sz="28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IN" sz="28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IN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IN" sz="2800" b="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  <m:r>
                        <a:rPr lang="en-IN" sz="28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sz="2800" b="0" i="1" smtClean="0">
                          <a:solidFill>
                            <a:srgbClr val="FFFF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en-IN" sz="2800" dirty="0">
                      <a:solidFill>
                        <a:srgbClr val="FFFF00"/>
                      </a:solidFill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5DE7F30-1B30-8B07-8C99-80E7778330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26664" y="2578166"/>
                  <a:ext cx="4348371" cy="954107"/>
                </a:xfrm>
                <a:prstGeom prst="rect">
                  <a:avLst/>
                </a:prstGeom>
                <a:blipFill>
                  <a:blip r:embed="rId7"/>
                  <a:stretch>
                    <a:fillRect l="-2945" t="-5732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7E092DA-5FAE-D7EA-FC06-8A0129D37650}"/>
                </a:ext>
              </a:extLst>
            </p:cNvPr>
            <p:cNvSpPr/>
            <p:nvPr/>
          </p:nvSpPr>
          <p:spPr>
            <a:xfrm>
              <a:off x="4612765" y="2184533"/>
              <a:ext cx="1541576" cy="52322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2800" b="1" cap="none" spc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Question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C14436B-8AC5-2BB4-C8B5-2B5E88F5F723}"/>
              </a:ext>
            </a:extLst>
          </p:cNvPr>
          <p:cNvGrpSpPr/>
          <p:nvPr/>
        </p:nvGrpSpPr>
        <p:grpSpPr>
          <a:xfrm>
            <a:off x="108132" y="587072"/>
            <a:ext cx="4418068" cy="2135588"/>
            <a:chOff x="137160" y="1219200"/>
            <a:chExt cx="5958840" cy="288036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278F4428-5325-9BF7-DE82-FF410112FEA5}"/>
                </a:ext>
              </a:extLst>
            </p:cNvPr>
            <p:cNvSpPr/>
            <p:nvPr/>
          </p:nvSpPr>
          <p:spPr>
            <a:xfrm>
              <a:off x="137160" y="1219200"/>
              <a:ext cx="5958840" cy="2880360"/>
            </a:xfrm>
            <a:prstGeom prst="round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8" name="Picture 2" descr="electromagnetism - How is the combination of electric ...">
              <a:extLst>
                <a:ext uri="{FF2B5EF4-FFF2-40B4-BE49-F238E27FC236}">
                  <a16:creationId xmlns:a16="http://schemas.microsoft.com/office/drawing/2014/main" id="{7F158C5C-C951-6C8F-874A-77F4D01909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0551" y="1524000"/>
              <a:ext cx="5192058" cy="22707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7FDEB93-044F-7ACE-A8C6-80C8115EE6D1}"/>
                  </a:ext>
                </a:extLst>
              </p:cNvPr>
              <p:cNvSpPr/>
              <p:nvPr/>
            </p:nvSpPr>
            <p:spPr>
              <a:xfrm>
                <a:off x="186511" y="2987604"/>
                <a:ext cx="347563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C7FDEB93-044F-7ACE-A8C6-80C8115EE6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11" y="2987604"/>
                <a:ext cx="3475630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5D19456-3910-DB60-D711-A6C9AD26CF73}"/>
                  </a:ext>
                </a:extLst>
              </p:cNvPr>
              <p:cNvSpPr/>
              <p:nvPr/>
            </p:nvSpPr>
            <p:spPr>
              <a:xfrm>
                <a:off x="186511" y="3515446"/>
                <a:ext cx="3557320" cy="54617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sin</m:t>
                      </m:r>
                      <m:d>
                        <m:d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𝑘𝑥</m:t>
                          </m:r>
                        </m:e>
                      </m:d>
                      <m:acc>
                        <m:accPr>
                          <m:chr m:val="̂"/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acc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75D19456-3910-DB60-D711-A6C9AD26CF7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511" y="3515446"/>
                <a:ext cx="3557320" cy="54617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ight Brace 16">
            <a:extLst>
              <a:ext uri="{FF2B5EF4-FFF2-40B4-BE49-F238E27FC236}">
                <a16:creationId xmlns:a16="http://schemas.microsoft.com/office/drawing/2014/main" id="{4EC11D38-81BA-E359-29CC-71732B1D8815}"/>
              </a:ext>
            </a:extLst>
          </p:cNvPr>
          <p:cNvSpPr/>
          <p:nvPr/>
        </p:nvSpPr>
        <p:spPr>
          <a:xfrm rot="5400000">
            <a:off x="1484259" y="3756258"/>
            <a:ext cx="185903" cy="1097280"/>
          </a:xfrm>
          <a:prstGeom prst="rightBrac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25DA891-90AB-D9B1-3DBB-3F4B7FC61345}"/>
                  </a:ext>
                </a:extLst>
              </p:cNvPr>
              <p:cNvSpPr txBox="1"/>
              <p:nvPr/>
            </p:nvSpPr>
            <p:spPr>
              <a:xfrm>
                <a:off x="876019" y="4426478"/>
                <a:ext cx="91440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𝐸𝑀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𝑤𝑎𝑣𝑒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25DA891-90AB-D9B1-3DBB-3F4B7FC61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019" y="4426478"/>
                <a:ext cx="914400" cy="523220"/>
              </a:xfrm>
              <a:prstGeom prst="rect">
                <a:avLst/>
              </a:prstGeom>
              <a:blipFill>
                <a:blip r:embed="rId11"/>
                <a:stretch>
                  <a:fillRect r="-66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750088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5EAC9-DB39-E79D-B607-862EDC433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E75F80-D18B-CED6-9552-839B59F39B00}"/>
              </a:ext>
            </a:extLst>
          </p:cNvPr>
          <p:cNvSpPr/>
          <p:nvPr/>
        </p:nvSpPr>
        <p:spPr>
          <a:xfrm>
            <a:off x="0" y="28035"/>
            <a:ext cx="453495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Pointing vector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8063E1-DEB4-E9C6-5D20-404CEC7DF725}"/>
              </a:ext>
            </a:extLst>
          </p:cNvPr>
          <p:cNvSpPr txBox="1"/>
          <p:nvPr/>
        </p:nvSpPr>
        <p:spPr>
          <a:xfrm>
            <a:off x="1247970" y="1090422"/>
            <a:ext cx="856783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800" b="0" i="0" dirty="0">
                <a:solidFill>
                  <a:schemeClr val="bg1"/>
                </a:solidFill>
                <a:effectLst/>
                <a:latin typeface="Poppins" panose="00000500000000000000" pitchFamily="2" charset="0"/>
              </a:rPr>
              <a:t>Poynting Vector represents energy flowing per unit area per unit time in an electromagnetic field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078E19A-9D9F-B36F-089C-28CFA9F1D2D1}"/>
                  </a:ext>
                </a:extLst>
              </p:cNvPr>
              <p:cNvSpPr/>
              <p:nvPr/>
            </p:nvSpPr>
            <p:spPr>
              <a:xfrm>
                <a:off x="2117082" y="2881165"/>
                <a:ext cx="1154290" cy="6128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d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7078E19A-9D9F-B36F-089C-28CFA9F1D2D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7082" y="2881165"/>
                <a:ext cx="1154290" cy="6128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B8C0D46-0936-3FF6-9608-80D1C95B732C}"/>
                  </a:ext>
                </a:extLst>
              </p:cNvPr>
              <p:cNvSpPr/>
              <p:nvPr/>
            </p:nvSpPr>
            <p:spPr>
              <a:xfrm>
                <a:off x="2736717" y="2614474"/>
                <a:ext cx="1533625" cy="10832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num>
                        <m:den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B8C0D46-0936-3FF6-9608-80D1C95B732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6717" y="2614474"/>
                <a:ext cx="1533625" cy="10832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6572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5EAC9-DB39-E79D-B607-862EDC433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5EB6A6DF-5E85-B2F9-7BD3-30A111869DC0}"/>
              </a:ext>
            </a:extLst>
          </p:cNvPr>
          <p:cNvSpPr txBox="1"/>
          <p:nvPr/>
        </p:nvSpPr>
        <p:spPr>
          <a:xfrm>
            <a:off x="3732864" y="1364865"/>
            <a:ext cx="49412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In the direction of EM wave</a:t>
            </a:r>
            <a:endParaRPr lang="en-IN" sz="2800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EDFFCEB-C408-9B70-396C-B50B0BC4B911}"/>
                  </a:ext>
                </a:extLst>
              </p:cNvPr>
              <p:cNvSpPr/>
              <p:nvPr/>
            </p:nvSpPr>
            <p:spPr>
              <a:xfrm>
                <a:off x="652176" y="1390198"/>
                <a:ext cx="1154290" cy="6128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d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EDFFCEB-C408-9B70-396C-B50B0BC4B91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76" y="1390198"/>
                <a:ext cx="1154290" cy="61286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A998933-2ED9-60D9-4F87-3106FD0A8E0C}"/>
                  </a:ext>
                </a:extLst>
              </p:cNvPr>
              <p:cNvSpPr/>
              <p:nvPr/>
            </p:nvSpPr>
            <p:spPr>
              <a:xfrm>
                <a:off x="1271811" y="1123507"/>
                <a:ext cx="1533625" cy="10832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num>
                        <m:den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CA998933-2ED9-60D9-4F87-3106FD0A8E0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1811" y="1123507"/>
                <a:ext cx="1533625" cy="108324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2AE75F80-D18B-CED6-9552-839B59F39B00}"/>
              </a:ext>
            </a:extLst>
          </p:cNvPr>
          <p:cNvSpPr/>
          <p:nvPr/>
        </p:nvSpPr>
        <p:spPr>
          <a:xfrm>
            <a:off x="0" y="28035"/>
            <a:ext cx="453495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Pointing vector</a:t>
            </a:r>
          </a:p>
        </p:txBody>
      </p:sp>
      <p:sp>
        <p:nvSpPr>
          <p:cNvPr id="3" name="Right Brace 2">
            <a:extLst>
              <a:ext uri="{FF2B5EF4-FFF2-40B4-BE49-F238E27FC236}">
                <a16:creationId xmlns:a16="http://schemas.microsoft.com/office/drawing/2014/main" id="{FCC4D01E-E63A-6796-5D87-D1CF3E6E0E68}"/>
              </a:ext>
            </a:extLst>
          </p:cNvPr>
          <p:cNvSpPr/>
          <p:nvPr/>
        </p:nvSpPr>
        <p:spPr>
          <a:xfrm>
            <a:off x="2960615" y="1123507"/>
            <a:ext cx="153551" cy="1010093"/>
          </a:xfrm>
          <a:prstGeom prst="rightBrace">
            <a:avLst/>
          </a:prstGeom>
          <a:ln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074213-A4BA-AE40-DA4F-F2CD21D4EA8F}"/>
              </a:ext>
            </a:extLst>
          </p:cNvPr>
          <p:cNvSpPr/>
          <p:nvPr/>
        </p:nvSpPr>
        <p:spPr>
          <a:xfrm>
            <a:off x="3199261" y="866978"/>
            <a:ext cx="163455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Direction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A6F2EF-68E8-B206-52B3-802999CA78D7}"/>
                  </a:ext>
                </a:extLst>
              </p:cNvPr>
              <p:cNvSpPr txBox="1"/>
              <p:nvPr/>
            </p:nvSpPr>
            <p:spPr>
              <a:xfrm>
                <a:off x="7842119" y="1273456"/>
                <a:ext cx="4941277" cy="5754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dirty="0" err="1">
                    <a:solidFill>
                      <a:schemeClr val="bg1"/>
                    </a:solidFill>
                  </a:rPr>
                  <a:t>i.e</a:t>
                </a:r>
                <a:r>
                  <a:rPr lang="en-GB" sz="2800" dirty="0">
                    <a:solidFill>
                      <a:schemeClr val="bg1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acc>
                    <m:r>
                      <a:rPr lang="en-IN" sz="280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×</m:t>
                    </m:r>
                    <m:acc>
                      <m:accPr>
                        <m:chr m:val="⃗"/>
                        <m:ctrlPr>
                          <a:rPr lang="en-I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8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</m:oMath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5A6F2EF-68E8-B206-52B3-802999CA7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2119" y="1273456"/>
                <a:ext cx="4941277" cy="575479"/>
              </a:xfrm>
              <a:prstGeom prst="rect">
                <a:avLst/>
              </a:prstGeom>
              <a:blipFill>
                <a:blip r:embed="rId4"/>
                <a:stretch>
                  <a:fillRect l="-2466" t="-1064" b="-308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>
            <a:extLst>
              <a:ext uri="{FF2B5EF4-FFF2-40B4-BE49-F238E27FC236}">
                <a16:creationId xmlns:a16="http://schemas.microsoft.com/office/drawing/2014/main" id="{A317AE7C-7E09-3F36-EF93-A2532F728F0A}"/>
              </a:ext>
            </a:extLst>
          </p:cNvPr>
          <p:cNvSpPr/>
          <p:nvPr/>
        </p:nvSpPr>
        <p:spPr>
          <a:xfrm>
            <a:off x="3147849" y="1945142"/>
            <a:ext cx="181812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Magnitude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7D4FC17-297A-44C2-D24D-5455346C0E00}"/>
                  </a:ext>
                </a:extLst>
              </p:cNvPr>
              <p:cNvSpPr/>
              <p:nvPr/>
            </p:nvSpPr>
            <p:spPr>
              <a:xfrm>
                <a:off x="3566988" y="2385264"/>
                <a:ext cx="1533625" cy="108324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⃗"/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en-IN" sz="2800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⃗"/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acc>
                        </m:num>
                        <m:den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B7D4FC17-297A-44C2-D24D-5455346C0E0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6988" y="2385264"/>
                <a:ext cx="1533625" cy="10832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D1C9FC5-A1EE-D0BC-DB37-452A014564A9}"/>
                  </a:ext>
                </a:extLst>
              </p:cNvPr>
              <p:cNvSpPr/>
              <p:nvPr/>
            </p:nvSpPr>
            <p:spPr>
              <a:xfrm>
                <a:off x="5096558" y="2415744"/>
                <a:ext cx="1103572" cy="97174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𝐸𝐵</m:t>
                          </m:r>
                        </m:num>
                        <m:den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4D1C9FC5-A1EE-D0BC-DB37-452A014564A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6558" y="2415744"/>
                <a:ext cx="1103572" cy="97174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F55CAE8-E9E9-6CD1-9B33-A0440EA5690A}"/>
                  </a:ext>
                </a:extLst>
              </p:cNvPr>
              <p:cNvSpPr/>
              <p:nvPr/>
            </p:nvSpPr>
            <p:spPr>
              <a:xfrm>
                <a:off x="6175894" y="2415744"/>
                <a:ext cx="1666225" cy="9857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𝑐𝐵</m:t>
                          </m:r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 </m:t>
                          </m:r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FF55CAE8-E9E9-6CD1-9B33-A0440EA569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5894" y="2415744"/>
                <a:ext cx="1666225" cy="9857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F1E7531-463A-7B04-4156-7CA06E736C15}"/>
                  </a:ext>
                </a:extLst>
              </p:cNvPr>
              <p:cNvSpPr/>
              <p:nvPr/>
            </p:nvSpPr>
            <p:spPr>
              <a:xfrm>
                <a:off x="7842119" y="2366742"/>
                <a:ext cx="1599540" cy="10297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sSup>
                            <m:sSupPr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 </m:t>
                          </m:r>
                        </m:num>
                        <m:den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1F1E7531-463A-7B04-4156-7CA06E736C1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2119" y="2366742"/>
                <a:ext cx="1599540" cy="102970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8BB679C-B643-D788-777C-EEEA668290F9}"/>
                  </a:ext>
                </a:extLst>
              </p:cNvPr>
              <p:cNvSpPr/>
              <p:nvPr/>
            </p:nvSpPr>
            <p:spPr>
              <a:xfrm>
                <a:off x="9274679" y="2357780"/>
                <a:ext cx="2472920" cy="102970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sz="28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  <m:sSup>
                            <m:sSupPr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  <m:sup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) </m:t>
                          </m:r>
                        </m:num>
                        <m:den>
                          <m:sSub>
                            <m:sSubPr>
                              <m:ctrlP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IN" sz="28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8BB679C-B643-D788-777C-EEEA668290F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4679" y="2357780"/>
                <a:ext cx="2472920" cy="102970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85F5CE9-DF7B-6380-11FF-A96531899830}"/>
              </a:ext>
            </a:extLst>
          </p:cNvPr>
          <p:cNvSpPr/>
          <p:nvPr/>
        </p:nvSpPr>
        <p:spPr>
          <a:xfrm>
            <a:off x="9695481" y="2276066"/>
            <a:ext cx="1862607" cy="1241173"/>
          </a:xfrm>
          <a:custGeom>
            <a:avLst/>
            <a:gdLst>
              <a:gd name="connsiteX0" fmla="*/ 614887 w 1862607"/>
              <a:gd name="connsiteY0" fmla="*/ 393982 h 1241173"/>
              <a:gd name="connsiteX1" fmla="*/ 78439 w 1862607"/>
              <a:gd name="connsiteY1" fmla="*/ 381790 h 1241173"/>
              <a:gd name="connsiteX2" fmla="*/ 54055 w 1862607"/>
              <a:gd name="connsiteY2" fmla="*/ 875566 h 1241173"/>
              <a:gd name="connsiteX3" fmla="*/ 566119 w 1862607"/>
              <a:gd name="connsiteY3" fmla="*/ 857278 h 1241173"/>
              <a:gd name="connsiteX4" fmla="*/ 651463 w 1862607"/>
              <a:gd name="connsiteY4" fmla="*/ 1137694 h 1241173"/>
              <a:gd name="connsiteX5" fmla="*/ 1742647 w 1862607"/>
              <a:gd name="connsiteY5" fmla="*/ 1155982 h 1241173"/>
              <a:gd name="connsiteX6" fmla="*/ 1785319 w 1862607"/>
              <a:gd name="connsiteY6" fmla="*/ 76990 h 1241173"/>
              <a:gd name="connsiteX7" fmla="*/ 1303735 w 1862607"/>
              <a:gd name="connsiteY7" fmla="*/ 150142 h 1241173"/>
              <a:gd name="connsiteX8" fmla="*/ 1309831 w 1862607"/>
              <a:gd name="connsiteY8" fmla="*/ 656110 h 1241173"/>
              <a:gd name="connsiteX9" fmla="*/ 1309831 w 1862607"/>
              <a:gd name="connsiteY9" fmla="*/ 656110 h 1241173"/>
              <a:gd name="connsiteX10" fmla="*/ 992839 w 1862607"/>
              <a:gd name="connsiteY10" fmla="*/ 643918 h 1241173"/>
              <a:gd name="connsiteX11" fmla="*/ 901399 w 1862607"/>
              <a:gd name="connsiteY11" fmla="*/ 70894 h 1241173"/>
              <a:gd name="connsiteX12" fmla="*/ 614887 w 1862607"/>
              <a:gd name="connsiteY12" fmla="*/ 131854 h 1241173"/>
              <a:gd name="connsiteX13" fmla="*/ 614887 w 1862607"/>
              <a:gd name="connsiteY13" fmla="*/ 393982 h 12411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862607" h="1241173">
                <a:moveTo>
                  <a:pt x="614887" y="393982"/>
                </a:moveTo>
                <a:cubicBezTo>
                  <a:pt x="525479" y="435638"/>
                  <a:pt x="171911" y="301526"/>
                  <a:pt x="78439" y="381790"/>
                </a:cubicBezTo>
                <a:cubicBezTo>
                  <a:pt x="-15033" y="462054"/>
                  <a:pt x="-27225" y="796318"/>
                  <a:pt x="54055" y="875566"/>
                </a:cubicBezTo>
                <a:cubicBezTo>
                  <a:pt x="135335" y="954814"/>
                  <a:pt x="466551" y="813590"/>
                  <a:pt x="566119" y="857278"/>
                </a:cubicBezTo>
                <a:cubicBezTo>
                  <a:pt x="665687" y="900966"/>
                  <a:pt x="455375" y="1087910"/>
                  <a:pt x="651463" y="1137694"/>
                </a:cubicBezTo>
                <a:cubicBezTo>
                  <a:pt x="847551" y="1187478"/>
                  <a:pt x="1553671" y="1332766"/>
                  <a:pt x="1742647" y="1155982"/>
                </a:cubicBezTo>
                <a:cubicBezTo>
                  <a:pt x="1931623" y="979198"/>
                  <a:pt x="1858471" y="244630"/>
                  <a:pt x="1785319" y="76990"/>
                </a:cubicBezTo>
                <a:cubicBezTo>
                  <a:pt x="1712167" y="-90650"/>
                  <a:pt x="1382983" y="53622"/>
                  <a:pt x="1303735" y="150142"/>
                </a:cubicBezTo>
                <a:cubicBezTo>
                  <a:pt x="1224487" y="246662"/>
                  <a:pt x="1309831" y="656110"/>
                  <a:pt x="1309831" y="656110"/>
                </a:cubicBezTo>
                <a:lnTo>
                  <a:pt x="1309831" y="656110"/>
                </a:lnTo>
                <a:cubicBezTo>
                  <a:pt x="1256999" y="654078"/>
                  <a:pt x="1060911" y="741454"/>
                  <a:pt x="992839" y="643918"/>
                </a:cubicBezTo>
                <a:cubicBezTo>
                  <a:pt x="924767" y="546382"/>
                  <a:pt x="964391" y="156238"/>
                  <a:pt x="901399" y="70894"/>
                </a:cubicBezTo>
                <a:cubicBezTo>
                  <a:pt x="838407" y="-14450"/>
                  <a:pt x="665687" y="76990"/>
                  <a:pt x="614887" y="131854"/>
                </a:cubicBezTo>
                <a:cubicBezTo>
                  <a:pt x="564087" y="186718"/>
                  <a:pt x="704295" y="352326"/>
                  <a:pt x="614887" y="393982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D2ECF2B-1A10-A49E-F8AB-4FD5E2C4B149}"/>
                  </a:ext>
                </a:extLst>
              </p:cNvPr>
              <p:cNvSpPr/>
              <p:nvPr/>
            </p:nvSpPr>
            <p:spPr>
              <a:xfrm>
                <a:off x="3609113" y="3634311"/>
                <a:ext cx="318215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IN" sz="28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</a:rPr>
                  <a:t>Energy density</a:t>
                </a: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D2ECF2B-1A10-A49E-F8AB-4FD5E2C4B14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9113" y="3634311"/>
                <a:ext cx="3182153" cy="523220"/>
              </a:xfrm>
              <a:prstGeom prst="rect">
                <a:avLst/>
              </a:prstGeom>
              <a:blipFill>
                <a:blip r:embed="rId10"/>
                <a:stretch>
                  <a:fillRect t="-10465" r="-2490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78BBD7E-13F0-DDC2-413E-F0519411853D}"/>
                  </a:ext>
                </a:extLst>
              </p:cNvPr>
              <p:cNvSpPr/>
              <p:nvPr/>
            </p:nvSpPr>
            <p:spPr>
              <a:xfrm>
                <a:off x="3607628" y="4157531"/>
                <a:ext cx="2332690" cy="91178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IN" sz="28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t</m:t>
                          </m:r>
                        </m:den>
                      </m:f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IN" sz="28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𝑒𝑛𝑒𝑟𝑔𝑦</m:t>
                              </m:r>
                            </m:sub>
                          </m:sSub>
                        </m:num>
                        <m:den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IN" sz="28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78BBD7E-13F0-DDC2-413E-F051941185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7628" y="4157531"/>
                <a:ext cx="2332690" cy="91178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B32E3FB-3626-0318-9C62-347E1DDFB78E}"/>
              </a:ext>
            </a:extLst>
          </p:cNvPr>
          <p:cNvSpPr/>
          <p:nvPr/>
        </p:nvSpPr>
        <p:spPr>
          <a:xfrm>
            <a:off x="3943583" y="4111764"/>
            <a:ext cx="2013969" cy="1043881"/>
          </a:xfrm>
          <a:custGeom>
            <a:avLst/>
            <a:gdLst>
              <a:gd name="connsiteX0" fmla="*/ 696997 w 2013969"/>
              <a:gd name="connsiteY0" fmla="*/ 83046 h 1043881"/>
              <a:gd name="connsiteX1" fmla="*/ 677947 w 2013969"/>
              <a:gd name="connsiteY1" fmla="*/ 540246 h 1043881"/>
              <a:gd name="connsiteX2" fmla="*/ 677947 w 2013969"/>
              <a:gd name="connsiteY2" fmla="*/ 540246 h 1043881"/>
              <a:gd name="connsiteX3" fmla="*/ 106447 w 2013969"/>
              <a:gd name="connsiteY3" fmla="*/ 568821 h 1043881"/>
              <a:gd name="connsiteX4" fmla="*/ 108352 w 2013969"/>
              <a:gd name="connsiteY4" fmla="*/ 1001256 h 1043881"/>
              <a:gd name="connsiteX5" fmla="*/ 1217062 w 2013969"/>
              <a:gd name="connsiteY5" fmla="*/ 1027926 h 1043881"/>
              <a:gd name="connsiteX6" fmla="*/ 1217062 w 2013969"/>
              <a:gd name="connsiteY6" fmla="*/ 1027926 h 1043881"/>
              <a:gd name="connsiteX7" fmla="*/ 1209442 w 2013969"/>
              <a:gd name="connsiteY7" fmla="*/ 565011 h 1043881"/>
              <a:gd name="connsiteX8" fmla="*/ 1921912 w 2013969"/>
              <a:gd name="connsiteY8" fmla="*/ 559296 h 1043881"/>
              <a:gd name="connsiteX9" fmla="*/ 1872382 w 2013969"/>
              <a:gd name="connsiteY9" fmla="*/ 37326 h 1043881"/>
              <a:gd name="connsiteX10" fmla="*/ 696997 w 2013969"/>
              <a:gd name="connsiteY10" fmla="*/ 83046 h 1043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013969" h="1043881">
                <a:moveTo>
                  <a:pt x="696997" y="83046"/>
                </a:moveTo>
                <a:lnTo>
                  <a:pt x="677947" y="540246"/>
                </a:lnTo>
                <a:lnTo>
                  <a:pt x="677947" y="540246"/>
                </a:lnTo>
                <a:cubicBezTo>
                  <a:pt x="582697" y="545008"/>
                  <a:pt x="201379" y="491986"/>
                  <a:pt x="106447" y="568821"/>
                </a:cubicBezTo>
                <a:cubicBezTo>
                  <a:pt x="11515" y="645656"/>
                  <a:pt x="-76751" y="924739"/>
                  <a:pt x="108352" y="1001256"/>
                </a:cubicBezTo>
                <a:cubicBezTo>
                  <a:pt x="293454" y="1077774"/>
                  <a:pt x="1217062" y="1027926"/>
                  <a:pt x="1217062" y="1027926"/>
                </a:cubicBezTo>
                <a:lnTo>
                  <a:pt x="1217062" y="1027926"/>
                </a:lnTo>
                <a:cubicBezTo>
                  <a:pt x="1215792" y="950774"/>
                  <a:pt x="1091967" y="643116"/>
                  <a:pt x="1209442" y="565011"/>
                </a:cubicBezTo>
                <a:cubicBezTo>
                  <a:pt x="1326917" y="486906"/>
                  <a:pt x="1811422" y="647244"/>
                  <a:pt x="1921912" y="559296"/>
                </a:cubicBezTo>
                <a:cubicBezTo>
                  <a:pt x="2032402" y="471348"/>
                  <a:pt x="2073360" y="116701"/>
                  <a:pt x="1872382" y="37326"/>
                </a:cubicBezTo>
                <a:cubicBezTo>
                  <a:pt x="1671405" y="-42049"/>
                  <a:pt x="1193726" y="20498"/>
                  <a:pt x="696997" y="83046"/>
                </a:cubicBezTo>
                <a:close/>
              </a:path>
            </a:pathLst>
          </a:custGeom>
          <a:noFill/>
          <a:ln>
            <a:solidFill>
              <a:schemeClr val="bg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AE39ACE5-F2AB-4E4C-6C89-BCEC33E0C41C}"/>
                  </a:ext>
                </a:extLst>
              </p:cNvPr>
              <p:cNvSpPr/>
              <p:nvPr/>
            </p:nvSpPr>
            <p:spPr>
              <a:xfrm>
                <a:off x="3543744" y="5330929"/>
                <a:ext cx="855811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</a:rPr>
                  <a:t> </a:t>
                </a:r>
                <a:r>
                  <a:rPr lang="en-IN" sz="2800" dirty="0">
                    <a:solidFill>
                      <a:schemeClr val="bg1"/>
                    </a:solidFill>
                    <a:latin typeface="+mj-lt"/>
                  </a:rPr>
                  <a:t>Instantaneous</a:t>
                </a:r>
                <a:r>
                  <a:rPr lang="en-IN" sz="2800" dirty="0">
                    <a:solidFill>
                      <a:schemeClr val="bg1"/>
                    </a:solidFill>
                  </a:rPr>
                  <a:t> Energy flowing per unit are per unit time</a:t>
                </a:r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AE39ACE5-F2AB-4E4C-6C89-BCEC33E0C41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744" y="5330929"/>
                <a:ext cx="8558112" cy="523220"/>
              </a:xfrm>
              <a:prstGeom prst="rect">
                <a:avLst/>
              </a:prstGeom>
              <a:blipFill>
                <a:blip r:embed="rId12"/>
                <a:stretch>
                  <a:fillRect t="-10465" r="-499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E67FA374-BD38-DDCA-4E2C-186719456869}"/>
                  </a:ext>
                </a:extLst>
              </p:cNvPr>
              <p:cNvSpPr/>
              <p:nvPr/>
            </p:nvSpPr>
            <p:spPr>
              <a:xfrm>
                <a:off x="3543744" y="5767823"/>
                <a:ext cx="256595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</a:rPr>
                  <a:t> </a:t>
                </a:r>
                <a:r>
                  <a:rPr lang="en-IN" sz="2800" dirty="0">
                    <a:solidFill>
                      <a:schemeClr val="bg1"/>
                    </a:solidFill>
                    <a:latin typeface="+mj-lt"/>
                  </a:rPr>
                  <a:t>Instantaneous</a:t>
                </a:r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E67FA374-BD38-DDCA-4E2C-18671945686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744" y="5767823"/>
                <a:ext cx="2565959" cy="523220"/>
              </a:xfrm>
              <a:prstGeom prst="rect">
                <a:avLst/>
              </a:prstGeom>
              <a:blipFill>
                <a:blip r:embed="rId13"/>
                <a:stretch>
                  <a:fillRect t="-10465" r="-2613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>
            <a:extLst>
              <a:ext uri="{FF2B5EF4-FFF2-40B4-BE49-F238E27FC236}">
                <a16:creationId xmlns:a16="http://schemas.microsoft.com/office/drawing/2014/main" id="{94FC174D-524A-F8C4-CCA1-01642F0358E3}"/>
              </a:ext>
            </a:extLst>
          </p:cNvPr>
          <p:cNvSpPr/>
          <p:nvPr/>
        </p:nvSpPr>
        <p:spPr>
          <a:xfrm>
            <a:off x="6020446" y="5753051"/>
            <a:ext cx="15416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Intensity </a:t>
            </a:r>
          </a:p>
        </p:txBody>
      </p:sp>
    </p:spTree>
    <p:extLst>
      <p:ext uri="{BB962C8B-B14F-4D97-AF65-F5344CB8AC3E}">
        <p14:creationId xmlns:p14="http://schemas.microsoft.com/office/powerpoint/2010/main" val="2915260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" grpId="0" animBg="1"/>
      <p:bldP spid="11" grpId="0"/>
      <p:bldP spid="7" grpId="0"/>
      <p:bldP spid="8" grpId="0"/>
      <p:bldP spid="9" grpId="0"/>
      <p:bldP spid="10" grpId="0"/>
      <p:bldP spid="12" grpId="0"/>
      <p:bldP spid="13" grpId="0"/>
      <p:bldP spid="16" grpId="0"/>
      <p:bldP spid="17" grpId="0" animBg="1"/>
      <p:bldP spid="18" grpId="0"/>
      <p:bldP spid="19" grpId="0"/>
      <p:bldP spid="20" grpId="0" animBg="1"/>
      <p:bldP spid="21" grpId="0"/>
      <p:bldP spid="22" grpId="0"/>
      <p:bldP spid="2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4A41630-C89B-3382-C2A8-F337968E6E43}"/>
                  </a:ext>
                </a:extLst>
              </p:cNvPr>
              <p:cNvSpPr/>
              <p:nvPr/>
            </p:nvSpPr>
            <p:spPr>
              <a:xfrm>
                <a:off x="4860523" y="214379"/>
                <a:ext cx="3182153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sz="280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 b="0" i="0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lang="en-IN" sz="2800" b="0" i="1" smtClean="0">
                        <a:solidFill>
                          <a:srgbClr val="FFFF00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IN" sz="2800" dirty="0">
                    <a:solidFill>
                      <a:srgbClr val="FFFF00"/>
                    </a:solidFill>
                  </a:rPr>
                  <a:t>Energy density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14A41630-C89B-3382-C2A8-F337968E6E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523" y="214379"/>
                <a:ext cx="3182153" cy="523220"/>
              </a:xfrm>
              <a:prstGeom prst="rect">
                <a:avLst/>
              </a:prstGeom>
              <a:blipFill>
                <a:blip r:embed="rId2"/>
                <a:stretch>
                  <a:fillRect t="-10465" r="-2490" b="-3255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865A2204-587E-7364-AB1A-003E13B6308D}"/>
              </a:ext>
            </a:extLst>
          </p:cNvPr>
          <p:cNvSpPr/>
          <p:nvPr/>
        </p:nvSpPr>
        <p:spPr>
          <a:xfrm>
            <a:off x="3482176" y="214379"/>
            <a:ext cx="154164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800" dirty="0">
                <a:solidFill>
                  <a:srgbClr val="FFFF00"/>
                </a:solidFill>
              </a:rPr>
              <a:t>Intensity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8AA2E8-D1E5-1739-7992-49AF1F6A00EF}"/>
              </a:ext>
            </a:extLst>
          </p:cNvPr>
          <p:cNvSpPr/>
          <p:nvPr/>
        </p:nvSpPr>
        <p:spPr>
          <a:xfrm>
            <a:off x="114063" y="132695"/>
            <a:ext cx="196643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NOTE: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53A9B56-ADB3-F43D-2A0A-4332FEAF5845}"/>
              </a:ext>
            </a:extLst>
          </p:cNvPr>
          <p:cNvGrpSpPr/>
          <p:nvPr/>
        </p:nvGrpSpPr>
        <p:grpSpPr>
          <a:xfrm>
            <a:off x="2683970" y="475988"/>
            <a:ext cx="6146800" cy="960559"/>
            <a:chOff x="2683970" y="475988"/>
            <a:chExt cx="6146800" cy="960559"/>
          </a:xfrm>
        </p:grpSpPr>
        <p:cxnSp>
          <p:nvCxnSpPr>
            <p:cNvPr id="7" name="Connector: Elbow 6">
              <a:extLst>
                <a:ext uri="{FF2B5EF4-FFF2-40B4-BE49-F238E27FC236}">
                  <a16:creationId xmlns:a16="http://schemas.microsoft.com/office/drawing/2014/main" id="{32973EE8-83D2-783B-B9BF-3C0CAB1E3D51}"/>
                </a:ext>
              </a:extLst>
            </p:cNvPr>
            <p:cNvCxnSpPr>
              <a:stCxn id="3" idx="1"/>
            </p:cNvCxnSpPr>
            <p:nvPr/>
          </p:nvCxnSpPr>
          <p:spPr>
            <a:xfrm rot="10800000" flipV="1">
              <a:off x="2683970" y="475988"/>
              <a:ext cx="798206" cy="960559"/>
            </a:xfrm>
            <a:prstGeom prst="bentConnector2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: Elbow 7">
              <a:extLst>
                <a:ext uri="{FF2B5EF4-FFF2-40B4-BE49-F238E27FC236}">
                  <a16:creationId xmlns:a16="http://schemas.microsoft.com/office/drawing/2014/main" id="{FADA7862-97A8-AD68-9525-C028C0730F6E}"/>
                </a:ext>
              </a:extLst>
            </p:cNvPr>
            <p:cNvCxnSpPr>
              <a:cxnSpLocks/>
              <a:stCxn id="2" idx="3"/>
            </p:cNvCxnSpPr>
            <p:nvPr/>
          </p:nvCxnSpPr>
          <p:spPr>
            <a:xfrm>
              <a:off x="8042676" y="475989"/>
              <a:ext cx="788094" cy="960557"/>
            </a:xfrm>
            <a:prstGeom prst="bentConnector2">
              <a:avLst/>
            </a:prstGeom>
            <a:ln>
              <a:solidFill>
                <a:schemeClr val="bg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70649B7C-2426-958D-1CB0-883A8677593C}"/>
              </a:ext>
            </a:extLst>
          </p:cNvPr>
          <p:cNvSpPr txBox="1"/>
          <p:nvPr/>
        </p:nvSpPr>
        <p:spPr>
          <a:xfrm>
            <a:off x="2551889" y="1459416"/>
            <a:ext cx="3362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bg1"/>
                </a:solidFill>
              </a:rPr>
              <a:t>If instantaneous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85FF42-E33C-9588-CF56-1F78D304E90B}"/>
              </a:ext>
            </a:extLst>
          </p:cNvPr>
          <p:cNvSpPr txBox="1"/>
          <p:nvPr/>
        </p:nvSpPr>
        <p:spPr>
          <a:xfrm>
            <a:off x="7042609" y="1449256"/>
            <a:ext cx="33629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bg1"/>
                </a:solidFill>
              </a:rPr>
              <a:t>than instantaneous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7EAE516-A12B-D552-827C-25813F7BCE0F}"/>
              </a:ext>
            </a:extLst>
          </p:cNvPr>
          <p:cNvSpPr txBox="1"/>
          <p:nvPr/>
        </p:nvSpPr>
        <p:spPr>
          <a:xfrm>
            <a:off x="2551889" y="2270124"/>
            <a:ext cx="2249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bg1"/>
                </a:solidFill>
              </a:rPr>
              <a:t>If Average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E0F1AA-B598-3F07-2D2F-B2AE43BAFB1F}"/>
              </a:ext>
            </a:extLst>
          </p:cNvPr>
          <p:cNvSpPr txBox="1"/>
          <p:nvPr/>
        </p:nvSpPr>
        <p:spPr>
          <a:xfrm>
            <a:off x="7042609" y="2259964"/>
            <a:ext cx="22497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chemeClr val="bg1"/>
                </a:solidFill>
              </a:rPr>
              <a:t>than Average 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1B2D2B6-9B6B-156B-5F03-DB4DC86526F9}"/>
              </a:ext>
            </a:extLst>
          </p:cNvPr>
          <p:cNvGrpSpPr/>
          <p:nvPr/>
        </p:nvGrpSpPr>
        <p:grpSpPr>
          <a:xfrm>
            <a:off x="9086391" y="2116235"/>
            <a:ext cx="1483932" cy="830997"/>
            <a:chOff x="6756621" y="2546737"/>
            <a:chExt cx="1483932" cy="8309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096E2729-B98F-CC32-84CC-C535BD01F3E5}"/>
                    </a:ext>
                  </a:extLst>
                </p:cNvPr>
                <p:cNvSpPr/>
                <p:nvPr/>
              </p:nvSpPr>
              <p:spPr>
                <a:xfrm>
                  <a:off x="6756621" y="2731404"/>
                  <a:ext cx="1483932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sSubSup>
                          <m:sSubSupPr>
                            <m:ctrlPr>
                              <a:rPr lang="en-IN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IN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𝑟𝑚𝑠</m:t>
                            </m:r>
                          </m:sub>
                          <m:sup>
                            <m:r>
                              <a:rPr lang="en-IN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IN" sz="2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096E2729-B98F-CC32-84CC-C535BD01F3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6621" y="2731404"/>
                  <a:ext cx="1483932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7E046DF1-C934-0C88-7A10-F172C01977DA}"/>
                </a:ext>
              </a:extLst>
            </p:cNvPr>
            <p:cNvSpPr/>
            <p:nvPr/>
          </p:nvSpPr>
          <p:spPr>
            <a:xfrm>
              <a:off x="7139129" y="2546737"/>
              <a:ext cx="1074217" cy="830997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3AA1A8E-6249-18F5-1A67-9B47EFFBB7B9}"/>
              </a:ext>
            </a:extLst>
          </p:cNvPr>
          <p:cNvGrpSpPr/>
          <p:nvPr/>
        </p:nvGrpSpPr>
        <p:grpSpPr>
          <a:xfrm>
            <a:off x="114063" y="2816215"/>
            <a:ext cx="9992565" cy="923330"/>
            <a:chOff x="114063" y="3317662"/>
            <a:chExt cx="9992565" cy="92333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EEA69D7F-C30C-31F4-E604-1A72C597911C}"/>
                </a:ext>
              </a:extLst>
            </p:cNvPr>
            <p:cNvSpPr/>
            <p:nvPr/>
          </p:nvSpPr>
          <p:spPr>
            <a:xfrm>
              <a:off x="114063" y="3317662"/>
              <a:ext cx="1966436" cy="923330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sz="5400" b="1" cap="none" spc="0" dirty="0">
                  <a:ln w="10160">
                    <a:solidFill>
                      <a:schemeClr val="accent5"/>
                    </a:solidFill>
                    <a:prstDash val="solid"/>
                  </a:ln>
                  <a:solidFill>
                    <a:srgbClr val="FFFFFF"/>
                  </a:solidFill>
                  <a:effectLst>
                    <a:outerShdw blurRad="38100" dist="22860" dir="5400000" algn="tl" rotWithShape="0">
                      <a:srgbClr val="000000">
                        <a:alpha val="30000"/>
                      </a:srgbClr>
                    </a:outerShdw>
                  </a:effectLst>
                </a:rPr>
                <a:t>NOTE: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4650D5C-8461-AFB3-DE97-F35231152599}"/>
                </a:ext>
              </a:extLst>
            </p:cNvPr>
            <p:cNvSpPr txBox="1"/>
            <p:nvPr/>
          </p:nvSpPr>
          <p:spPr>
            <a:xfrm>
              <a:off x="2085372" y="3552878"/>
              <a:ext cx="80212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IN" sz="2800" dirty="0">
                  <a:solidFill>
                    <a:schemeClr val="bg1"/>
                  </a:solidFill>
                </a:rPr>
                <a:t>Suppose power of a bulb is given as 400W then this is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CA68C789-B923-E4E0-4099-746514DB8883}"/>
              </a:ext>
            </a:extLst>
          </p:cNvPr>
          <p:cNvSpPr txBox="1"/>
          <p:nvPr/>
        </p:nvSpPr>
        <p:spPr>
          <a:xfrm>
            <a:off x="2067568" y="3542179"/>
            <a:ext cx="29562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IN" sz="2800" dirty="0">
                <a:solidFill>
                  <a:srgbClr val="FFFF00"/>
                </a:solidFill>
              </a:rPr>
              <a:t>Average power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9775AE3-A43F-AB98-7493-1693A9E40600}"/>
              </a:ext>
            </a:extLst>
          </p:cNvPr>
          <p:cNvGrpSpPr/>
          <p:nvPr/>
        </p:nvGrpSpPr>
        <p:grpSpPr>
          <a:xfrm>
            <a:off x="10026106" y="1310974"/>
            <a:ext cx="1456725" cy="830997"/>
            <a:chOff x="6756621" y="2546737"/>
            <a:chExt cx="1456725" cy="83099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C0797B05-05D2-44BC-68C9-7481BEBEA984}"/>
                    </a:ext>
                  </a:extLst>
                </p:cNvPr>
                <p:cNvSpPr/>
                <p:nvPr/>
              </p:nvSpPr>
              <p:spPr>
                <a:xfrm>
                  <a:off x="6756621" y="2731404"/>
                  <a:ext cx="1200137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IN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sSubSup>
                          <m:sSubSupPr>
                            <m:ctrlPr>
                              <a:rPr lang="en-IN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IN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IN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  <m:sup>
                            <m:r>
                              <a:rPr lang="en-IN" sz="240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lang="en-IN" sz="2400" dirty="0">
                    <a:solidFill>
                      <a:schemeClr val="bg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C0797B05-05D2-44BC-68C9-7481BEBEA98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56621" y="2731404"/>
                  <a:ext cx="1200137" cy="46166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6C3585D7-FD3F-D8D9-058B-A5E230AE31DC}"/>
                </a:ext>
              </a:extLst>
            </p:cNvPr>
            <p:cNvSpPr/>
            <p:nvPr/>
          </p:nvSpPr>
          <p:spPr>
            <a:xfrm>
              <a:off x="7139129" y="2546737"/>
              <a:ext cx="1074217" cy="830997"/>
            </a:xfrm>
            <a:prstGeom prst="roundRect">
              <a:avLst/>
            </a:prstGeom>
            <a:noFill/>
            <a:ln>
              <a:solidFill>
                <a:schemeClr val="bg1"/>
              </a:solidFill>
            </a:ln>
            <a:effectLst>
              <a:glow rad="635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951072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  <p:bldP spid="2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8A587F0-C459-897B-1D9A-012EF327342F}"/>
              </a:ext>
            </a:extLst>
          </p:cNvPr>
          <p:cNvSpPr/>
          <p:nvPr/>
        </p:nvSpPr>
        <p:spPr>
          <a:xfrm>
            <a:off x="0" y="0"/>
            <a:ext cx="9753600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Relating  power Intensity Electric field Amplitude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C68E6C-3D05-EAE6-329C-2366AB0D4E28}"/>
              </a:ext>
            </a:extLst>
          </p:cNvPr>
          <p:cNvSpPr/>
          <p:nvPr/>
        </p:nvSpPr>
        <p:spPr>
          <a:xfrm>
            <a:off x="-1" y="2666261"/>
            <a:ext cx="11415253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NOTE: If a charge is oscillating with frequency f it produce EM wave </a:t>
            </a:r>
            <a:r>
              <a:rPr lang="en-US" sz="36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of frequency </a:t>
            </a:r>
            <a:r>
              <a:rPr lang="en-US" sz="3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f</a:t>
            </a:r>
          </a:p>
        </p:txBody>
      </p:sp>
    </p:spTree>
    <p:extLst>
      <p:ext uri="{BB962C8B-B14F-4D97-AF65-F5344CB8AC3E}">
        <p14:creationId xmlns:p14="http://schemas.microsoft.com/office/powerpoint/2010/main" val="30186126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3906" name="Picture 2" descr="P9.0 - Electromagnetic Spectrum - IGCSE AID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7176"/>
            <a:ext cx="12189633" cy="68408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838810" y="5329906"/>
                <a:ext cx="6556603" cy="70788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4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IN" sz="4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  </m:t>
                      </m:r>
                      <m:r>
                        <a:rPr lang="en-IN" sz="4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𝑰</m:t>
                      </m:r>
                      <m:r>
                        <a:rPr lang="en-IN" sz="4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IN" sz="4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𝑩</m:t>
                      </m:r>
                      <m:r>
                        <a:rPr lang="en-IN" sz="4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IN" sz="4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𝑮</m:t>
                      </m:r>
                      <m:r>
                        <a:rPr lang="en-IN" sz="4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IN" sz="4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IN" sz="4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IN" sz="4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𝑶</m:t>
                      </m:r>
                      <m:r>
                        <a:rPr lang="en-IN" sz="4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  <m:r>
                        <a:rPr lang="en-IN" sz="4000" b="1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𝑹</m:t>
                      </m:r>
                    </m:oMath>
                  </m:oMathPara>
                </a14:m>
                <a:endParaRPr lang="en-IN" sz="4000" b="1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8810" y="5329906"/>
                <a:ext cx="6556603" cy="70788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92188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0834" name="Picture 2" descr="https://www.visionlearning.com/blog/wp-content/uploads/2014/04/EM_Spectrum3-new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75" y="0"/>
            <a:ext cx="10462905" cy="6853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10532355" y="4578124"/>
                <a:ext cx="1544205" cy="8300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IN" sz="28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IN" sz="2800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IN" sz="28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den>
                      </m:f>
                    </m:oMath>
                  </m:oMathPara>
                </a14:m>
                <a:endParaRPr lang="en-I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32355" y="4578124"/>
                <a:ext cx="1544205" cy="8300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65548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121625A-E57F-F26C-619F-A1E103BF6040}"/>
              </a:ext>
            </a:extLst>
          </p:cNvPr>
          <p:cNvSpPr/>
          <p:nvPr/>
        </p:nvSpPr>
        <p:spPr>
          <a:xfrm>
            <a:off x="4334622" y="2967335"/>
            <a:ext cx="35227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5400" b="1" i="0" u="none" strike="noStrike" kern="1200" cap="none" spc="0" normalizeH="0" baseline="0" noProof="0" dirty="0">
                <a:ln w="10160">
                  <a:solidFill>
                    <a:srgbClr val="5B9BD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Home work</a:t>
            </a:r>
          </a:p>
        </p:txBody>
      </p:sp>
    </p:spTree>
    <p:extLst>
      <p:ext uri="{BB962C8B-B14F-4D97-AF65-F5344CB8AC3E}">
        <p14:creationId xmlns:p14="http://schemas.microsoft.com/office/powerpoint/2010/main" val="3742290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FBB7FA-54AF-AA0F-7FD0-7C7FD5905B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1" y="418614"/>
            <a:ext cx="10871198" cy="6020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7231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29B7F4-BF33-14DA-4E22-ACD54533E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1274" y="237068"/>
            <a:ext cx="9509452" cy="6383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833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07AC26-C485-6559-7EDE-FAD774DADE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6942" y="251969"/>
            <a:ext cx="7278116" cy="6354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5214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B787FE-B1E6-19FB-BF3D-435F12D26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01" y="289591"/>
            <a:ext cx="9347198" cy="627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62340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131394-AD41-630E-C1A7-9D8ADF881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201" y="197577"/>
            <a:ext cx="8737598" cy="6462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27673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8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fa6e671f1cd7e4d96ff9652be322dd5e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4e2496f70b101db0b8013f30a071bbf7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18F16D9-EB65-4F11-9CD9-58377B437CF8}">
  <ds:schemaRefs>
    <ds:schemaRef ds:uri="http://purl.org/dc/terms/"/>
    <ds:schemaRef ds:uri="http://schemas.microsoft.com/office/2006/documentManagement/types"/>
    <ds:schemaRef ds:uri="http://schemas.openxmlformats.org/package/2006/metadata/core-properties"/>
    <ds:schemaRef ds:uri="16c05727-aa75-4e4a-9b5f-8a80a1165891"/>
    <ds:schemaRef ds:uri="http://purl.org/dc/elements/1.1/"/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A09386F-CDB5-4CE9-AE70-AE4E53A6335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C65060F-1094-41F3-95E3-03DA10677C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Vidyapeeth_PPT_Template (2)</Template>
  <TotalTime>0</TotalTime>
  <Words>715</Words>
  <Application>Microsoft Office PowerPoint</Application>
  <PresentationFormat>Widescreen</PresentationFormat>
  <Paragraphs>194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Cambria Math</vt:lpstr>
      <vt:lpstr>Poppins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2021-05-20T11:59:18Z</dcterms:created>
  <dcterms:modified xsi:type="dcterms:W3CDTF">2026-03-25T15:02:39Z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