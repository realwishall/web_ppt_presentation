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 bookmarkIdSeed="2">
  <p:sldMasterIdLst>
    <p:sldMasterId id="2147483875" r:id="rId4"/>
  </p:sldMasterIdLst>
  <p:notesMasterIdLst>
    <p:notesMasterId r:id="rId22"/>
  </p:notesMasterIdLst>
  <p:handoutMasterIdLst>
    <p:handoutMasterId r:id="rId23"/>
  </p:handoutMasterIdLst>
  <p:sldIdLst>
    <p:sldId id="1690" r:id="rId5"/>
    <p:sldId id="1266" r:id="rId6"/>
    <p:sldId id="1691" r:id="rId7"/>
    <p:sldId id="1333" r:id="rId8"/>
    <p:sldId id="453" r:id="rId9"/>
    <p:sldId id="1267" r:id="rId10"/>
    <p:sldId id="1268" r:id="rId11"/>
    <p:sldId id="454" r:id="rId12"/>
    <p:sldId id="455" r:id="rId13"/>
    <p:sldId id="1270" r:id="rId14"/>
    <p:sldId id="1271" r:id="rId15"/>
    <p:sldId id="1272" r:id="rId16"/>
    <p:sldId id="1275" r:id="rId17"/>
    <p:sldId id="1276" r:id="rId18"/>
    <p:sldId id="1273" r:id="rId19"/>
    <p:sldId id="460" r:id="rId20"/>
    <p:sldId id="461" r:id="rId21"/>
  </p:sldIdLst>
  <p:sldSz cx="12192000" cy="6858000"/>
  <p:notesSz cx="7102475" cy="102330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Nuclei" id="{BCD2F0CA-40CC-4533-B914-94963AA70D53}">
          <p14:sldIdLst>
            <p14:sldId id="1690"/>
            <p14:sldId id="1266"/>
            <p14:sldId id="1691"/>
            <p14:sldId id="1333"/>
            <p14:sldId id="453"/>
            <p14:sldId id="1267"/>
            <p14:sldId id="1268"/>
            <p14:sldId id="454"/>
            <p14:sldId id="455"/>
            <p14:sldId id="1270"/>
            <p14:sldId id="1271"/>
            <p14:sldId id="1272"/>
            <p14:sldId id="1275"/>
            <p14:sldId id="1276"/>
            <p14:sldId id="1273"/>
            <p14:sldId id="460"/>
            <p14:sldId id="4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4249" autoAdjust="0"/>
  </p:normalViewPr>
  <p:slideViewPr>
    <p:cSldViewPr snapToGrid="0" showGuides="1">
      <p:cViewPr>
        <p:scale>
          <a:sx n="50" d="100"/>
          <a:sy n="50" d="100"/>
        </p:scale>
        <p:origin x="917" y="667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59" d="100"/>
          <a:sy n="59" d="100"/>
        </p:scale>
        <p:origin x="3254" y="67"/>
      </p:cViewPr>
      <p:guideLst>
        <p:guide orient="horz" pos="3223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169671B-947A-44A3-A764-A91E66D4692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428"/>
          </a:xfrm>
          <a:prstGeom prst="rect">
            <a:avLst/>
          </a:prstGeom>
        </p:spPr>
        <p:txBody>
          <a:bodyPr vert="horz" lIns="99031" tIns="49513" rIns="99031" bIns="49513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4B23CC-4610-41C4-A0CF-67A30700C47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096" y="0"/>
            <a:ext cx="3077739" cy="513428"/>
          </a:xfrm>
          <a:prstGeom prst="rect">
            <a:avLst/>
          </a:prstGeom>
        </p:spPr>
        <p:txBody>
          <a:bodyPr vert="horz" lIns="99031" tIns="49513" rIns="99031" bIns="49513" rtlCol="0"/>
          <a:lstStyle>
            <a:lvl1pPr algn="r">
              <a:defRPr sz="1300"/>
            </a:lvl1pPr>
          </a:lstStyle>
          <a:p>
            <a:fld id="{C07299BE-0F96-4D8C-8AC3-AFAE1A841C66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94FC55-2324-40BC-8420-15EC835D957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19602"/>
            <a:ext cx="3077739" cy="513427"/>
          </a:xfrm>
          <a:prstGeom prst="rect">
            <a:avLst/>
          </a:prstGeom>
        </p:spPr>
        <p:txBody>
          <a:bodyPr vert="horz" lIns="99031" tIns="49513" rIns="99031" bIns="49513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3EC604-E5A5-4A58-AC5A-211F83D37C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096" y="9719602"/>
            <a:ext cx="3077739" cy="513427"/>
          </a:xfrm>
          <a:prstGeom prst="rect">
            <a:avLst/>
          </a:prstGeom>
        </p:spPr>
        <p:txBody>
          <a:bodyPr vert="horz" lIns="99031" tIns="49513" rIns="99031" bIns="49513" rtlCol="0" anchor="b"/>
          <a:lstStyle>
            <a:lvl1pPr algn="r">
              <a:defRPr sz="1300"/>
            </a:lvl1pPr>
          </a:lstStyle>
          <a:p>
            <a:fld id="{9E3B048B-0EBA-466F-928F-37073F3BFB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5076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428"/>
          </a:xfrm>
          <a:prstGeom prst="rect">
            <a:avLst/>
          </a:prstGeom>
        </p:spPr>
        <p:txBody>
          <a:bodyPr vert="horz" lIns="99031" tIns="49513" rIns="99031" bIns="49513" rtlCol="0"/>
          <a:lstStyle>
            <a:lvl1pPr algn="l">
              <a:defRPr sz="13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6" y="0"/>
            <a:ext cx="3077739" cy="513428"/>
          </a:xfrm>
          <a:prstGeom prst="rect">
            <a:avLst/>
          </a:prstGeom>
        </p:spPr>
        <p:txBody>
          <a:bodyPr vert="horz" lIns="99031" tIns="49513" rIns="99031" bIns="49513" rtlCol="0"/>
          <a:lstStyle>
            <a:lvl1pPr algn="r">
              <a:defRPr sz="1300"/>
            </a:lvl1pPr>
          </a:lstStyle>
          <a:p>
            <a:fld id="{454692AC-01A2-4EFF-966B-504F28E82D7A}" type="datetimeFigureOut">
              <a:rPr lang="en-US" noProof="0" smtClean="0"/>
              <a:t>10/16/2025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7275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31" tIns="49513" rIns="99031" bIns="49513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vert="horz" lIns="99031" tIns="49513" rIns="99031" bIns="49513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19602"/>
            <a:ext cx="3077739" cy="513427"/>
          </a:xfrm>
          <a:prstGeom prst="rect">
            <a:avLst/>
          </a:prstGeom>
        </p:spPr>
        <p:txBody>
          <a:bodyPr vert="horz" lIns="99031" tIns="49513" rIns="99031" bIns="49513" rtlCol="0" anchor="b"/>
          <a:lstStyle>
            <a:lvl1pPr algn="l">
              <a:defRPr sz="13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6" y="9719602"/>
            <a:ext cx="3077739" cy="513427"/>
          </a:xfrm>
          <a:prstGeom prst="rect">
            <a:avLst/>
          </a:prstGeom>
        </p:spPr>
        <p:txBody>
          <a:bodyPr vert="horz" lIns="99031" tIns="49513" rIns="99031" bIns="49513" rtlCol="0" anchor="b"/>
          <a:lstStyle>
            <a:lvl1pPr algn="r">
              <a:defRPr sz="1300"/>
            </a:lvl1pPr>
          </a:lstStyle>
          <a:p>
            <a:fld id="{4AED498D-6977-40EC-8E5E-7EB644D5E75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2264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1466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3104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5574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8775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3149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3914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6887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8419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8923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F6620-902F-F1E8-D0D9-1D91962720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8CA7F7-AC5E-3278-7CC6-F660B609B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A5E90-3E1F-7DAC-54BA-12ABCBA92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DFA5BF-6F95-4B84-B8A6-78FEC60AFA32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FF17D-A900-F81A-AA83-8AC465EB2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2EFD5-5C38-B817-C796-04A3FDD4E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9658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B79B0-CB93-70C3-596B-42055B47E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7A89E-B411-A694-AA1E-55912893F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5091C-C81E-5AF1-AC2A-BD76B7480A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DFA5BF-6F95-4B84-B8A6-78FEC60AFA32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1C22A-E147-A0CA-E175-E36E046DF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CC307-0F83-39C9-B790-DB6BA850B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5431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F7005-4F94-C14A-B08D-06E06F2B6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9634A4-2496-A1D1-E0B5-F67E51292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C6CF5-C17A-E459-C756-62DC72406F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DFA5BF-6F95-4B84-B8A6-78FEC60AFA32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E126F-FF1F-2E4B-3D1B-8FDB96520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BDC35-902C-3E86-5533-00AD0BD81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1855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050B0-50F6-F9B9-F101-B92373B60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1E354-2DEF-881F-8F7F-35443EE567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A1D1B4-128C-FE76-2B34-49AD137091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C9B0F6-6220-D266-70E5-84B39CD751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DFA5BF-6F95-4B84-B8A6-78FEC60AFA32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CE63F2-9487-B5BE-D84B-2114351C1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CFFE2-DFBB-CFC7-7D3C-49DF357A2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100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26E2D-1AAC-05C0-F0A3-E276C86D0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9AFBC7-71DA-75A4-228D-B853B459B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4F27FE-F1F2-F525-74F7-44F0445F7A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498466-24EA-A1E4-F44D-96D6A8F6B7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3FA844-4070-FC83-2D70-55A12EE14F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B553BA-3A43-E72F-0FB2-67054AC44B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DFA5BF-6F95-4B84-B8A6-78FEC60AFA32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43EDD4-2330-F41D-27BB-F7D1B2B63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6A832F-BD38-688A-C952-C0DE85213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1825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9EAED-C54A-4E99-F5AC-1FBF9E541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993DBF-970B-7D6F-E63E-1DDE012F03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DFA5BF-6F95-4B84-B8A6-78FEC60AFA32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564642-B2B6-70F5-E497-A00578846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5643AB-ADAB-A588-1016-09784CA8B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3494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CA4D4E-BDB6-1AE6-BDC3-3A468305C3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DFA5BF-6F95-4B84-B8A6-78FEC60AFA32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42083D-ED91-6AB8-7EC8-33DCC75D5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ACF1BE-E01D-3D32-F08F-A9F91DDB6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9256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6202F-BF1C-5F3D-5181-CE939F811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90BD2-2F2F-FC72-F3F3-F35DB7BEB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270F44-1A0A-3E7B-6207-27502332F4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74CBC6-3820-365E-3ED3-4BFB50F722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DFA5BF-6F95-4B84-B8A6-78FEC60AFA32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943FD0-6798-91FF-6140-BB7D9058D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060421-A9DC-27AE-BA13-E4D230FAC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7441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FCD38-AACF-3C14-09E8-5CB12FE1A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3F5C9D-296F-A771-C92B-9F34E4250C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E70184-0A80-2879-18F6-7191F7195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1EE481-E6B6-6A4D-7D09-D9F77134E8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DFA5BF-6F95-4B84-B8A6-78FEC60AFA32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CB1FE4-CB11-12F3-3D25-58ABC9006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0651D5-E1C1-9C56-D0C5-DCC467CE4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145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0599A-8562-7673-8C71-A2546DFD3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AC74FB-EC60-84BD-0B19-889B48783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03CBD-FA1F-863E-84E6-4C758688E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DFA5BF-6F95-4B84-B8A6-78FEC60AFA32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8992C-6526-E8FB-26D1-515DEE88B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F3850-9CE1-E28F-C08C-0AAA523AA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1760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53BA0B-D795-5618-E8D1-2B9A1927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847677-FB61-704E-CE6B-F037DE6D54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A825B-9248-EA7B-3259-E72FD34D7C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DFA5BF-6F95-4B84-B8A6-78FEC60AFA32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475EB-670C-A0F8-D93A-600158E93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47FAD-4D4E-141B-FE0C-48C1330AC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308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Pictur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 userDrawn="1"/>
        </p:nvSpPr>
        <p:spPr>
          <a:xfrm>
            <a:off x="3175" y="6446838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743200" cy="365125"/>
          </a:xfrm>
        </p:spPr>
        <p:txBody>
          <a:bodyPr/>
          <a:lstStyle/>
          <a:p>
            <a:fld id="{C00AA550-4A9C-4163-A907-28A242DA52B3}" type="datetime1">
              <a:rPr lang="en-IN" smtClean="0"/>
              <a:t>16-10-2025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itle 7">
            <a:extLst>
              <a:ext uri="{FF2B5EF4-FFF2-40B4-BE49-F238E27FC236}">
                <a16:creationId xmlns:a16="http://schemas.microsoft.com/office/drawing/2014/main" id="{8BBD3378-DD0B-4070-88AA-07DEEA1B7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296537"/>
          </a:xfrm>
          <a:solidFill>
            <a:schemeClr val="accent1">
              <a:lumMod val="40000"/>
              <a:lumOff val="60000"/>
              <a:alpha val="50000"/>
            </a:schemeClr>
          </a:solidFill>
        </p:spPr>
        <p:txBody>
          <a:bodyPr lIns="684000" tIns="108000" anchor="ctr" anchorCtr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B0AF26B-41C3-4BBB-A8E9-8EAB965C6D7A}"/>
              </a:ext>
            </a:extLst>
          </p:cNvPr>
          <p:cNvCxnSpPr/>
          <p:nvPr userDrawn="1"/>
        </p:nvCxnSpPr>
        <p:spPr>
          <a:xfrm>
            <a:off x="-600" y="1283417"/>
            <a:ext cx="121932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hlinkClick r:id="rId2" action="ppaction://hlinksldjump"/>
          </p:cNvPr>
          <p:cNvSpPr/>
          <p:nvPr userDrawn="1"/>
        </p:nvSpPr>
        <p:spPr>
          <a:xfrm>
            <a:off x="3184071" y="6581001"/>
            <a:ext cx="1273629" cy="2769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1576374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F119E1A-8310-F8FE-C575-2EB29045D925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F6693F-7DF4-2BFE-2257-60414133E79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1217" y="0"/>
            <a:ext cx="960783" cy="946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117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6" r:id="rId1"/>
    <p:sldLayoutId id="2147483877" r:id="rId2"/>
    <p:sldLayoutId id="2147483878" r:id="rId3"/>
    <p:sldLayoutId id="2147483879" r:id="rId4"/>
    <p:sldLayoutId id="2147483880" r:id="rId5"/>
    <p:sldLayoutId id="2147483881" r:id="rId6"/>
    <p:sldLayoutId id="2147483882" r:id="rId7"/>
    <p:sldLayoutId id="2147483883" r:id="rId8"/>
    <p:sldLayoutId id="2147483884" r:id="rId9"/>
    <p:sldLayoutId id="2147483885" r:id="rId10"/>
    <p:sldLayoutId id="2147483886" r:id="rId11"/>
    <p:sldLayoutId id="21474841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3" Type="http://schemas.openxmlformats.org/officeDocument/2006/relationships/image" Target="../media/image24.png"/><Relationship Id="rId21" Type="http://schemas.openxmlformats.org/officeDocument/2006/relationships/image" Target="../media/image42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7.png"/><Relationship Id="rId20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10" Type="http://schemas.openxmlformats.org/officeDocument/2006/relationships/image" Target="../media/image31.png"/><Relationship Id="rId19" Type="http://schemas.openxmlformats.org/officeDocument/2006/relationships/image" Target="../media/image40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Relationship Id="rId22" Type="http://schemas.openxmlformats.org/officeDocument/2006/relationships/image" Target="../media/image4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84.pn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12" Type="http://schemas.openxmlformats.org/officeDocument/2006/relationships/image" Target="../media/image83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11" Type="http://schemas.openxmlformats.org/officeDocument/2006/relationships/image" Target="../media/image82.png"/><Relationship Id="rId5" Type="http://schemas.openxmlformats.org/officeDocument/2006/relationships/image" Target="../media/image76.png"/><Relationship Id="rId10" Type="http://schemas.openxmlformats.org/officeDocument/2006/relationships/image" Target="../media/image81.png"/><Relationship Id="rId4" Type="http://schemas.openxmlformats.org/officeDocument/2006/relationships/image" Target="../media/image75.png"/><Relationship Id="rId9" Type="http://schemas.openxmlformats.org/officeDocument/2006/relationships/image" Target="../media/image8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em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z="2800" smtClean="0">
                <a:solidFill>
                  <a:schemeClr val="bg1"/>
                </a:solidFill>
              </a:rPr>
              <a:t>1</a:t>
            </a:fld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81546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Radioactivity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23330"/>
            <a:ext cx="6400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As we know some element are unstable they will decay into other element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1977846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And these element are called radioactive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2045823" y="2572626"/>
                <a:ext cx="1469377" cy="9103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𝑑𝑁</m:t>
                          </m:r>
                        </m:num>
                        <m:den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823" y="2572626"/>
                <a:ext cx="1469377" cy="9103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2045823" y="3470561"/>
                <a:ext cx="1939057" cy="9103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𝑑𝑁</m:t>
                          </m:r>
                        </m:num>
                        <m:den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823" y="3470561"/>
                <a:ext cx="1939057" cy="9103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/>
          <p:cNvSpPr/>
          <p:nvPr/>
        </p:nvSpPr>
        <p:spPr>
          <a:xfrm>
            <a:off x="3180135" y="3676513"/>
            <a:ext cx="457146" cy="428128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0">
              <a:solidFill>
                <a:schemeClr val="bg1"/>
              </a:solidFill>
            </a:endParaRPr>
          </a:p>
        </p:txBody>
      </p:sp>
      <p:cxnSp>
        <p:nvCxnSpPr>
          <p:cNvPr id="10" name="Curved Connector 9"/>
          <p:cNvCxnSpPr>
            <a:stCxn id="9" idx="3"/>
          </p:cNvCxnSpPr>
          <p:nvPr/>
        </p:nvCxnSpPr>
        <p:spPr>
          <a:xfrm>
            <a:off x="3637281" y="3890577"/>
            <a:ext cx="602211" cy="233014"/>
          </a:xfrm>
          <a:prstGeom prst="curved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332033" y="3890577"/>
            <a:ext cx="458182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IN" sz="2800" dirty="0">
                <a:solidFill>
                  <a:schemeClr val="bg1"/>
                </a:solidFill>
                <a:latin typeface="Calibri" panose="020F0502020204030204" pitchFamily="34" charset="0"/>
              </a:rPr>
              <a:t>Activity </a:t>
            </a:r>
            <a:endParaRPr lang="en-IN" sz="2800" dirty="0">
              <a:solidFill>
                <a:schemeClr val="bg1"/>
              </a:solidFill>
              <a:latin typeface="Noto Sans Symbols"/>
            </a:endParaRPr>
          </a:p>
          <a:p>
            <a:pPr marL="742950" lvl="1" indent="-285750" fontAlgn="base">
              <a:buFont typeface="Wingdings" panose="05000000000000000000" pitchFamily="2" charset="2"/>
              <a:buChar char="q"/>
            </a:pPr>
            <a:r>
              <a:rPr lang="en-IN" sz="2800" dirty="0">
                <a:solidFill>
                  <a:schemeClr val="bg1"/>
                </a:solidFill>
                <a:latin typeface="Calibri" panose="020F0502020204030204" pitchFamily="34" charset="0"/>
              </a:rPr>
              <a:t>Becquerel (1 decay/sec)</a:t>
            </a:r>
            <a:endParaRPr lang="en-IN" sz="2800" dirty="0">
              <a:solidFill>
                <a:schemeClr val="bg1"/>
              </a:solidFill>
              <a:latin typeface="Noto Sans Symbols"/>
            </a:endParaRPr>
          </a:p>
          <a:p>
            <a:pPr marL="742950" lvl="1" indent="-285750" fontAlgn="base">
              <a:buFont typeface="Wingdings" panose="05000000000000000000" pitchFamily="2" charset="2"/>
              <a:buChar char="q"/>
            </a:pPr>
            <a:r>
              <a:rPr lang="en-IN" sz="2800" dirty="0">
                <a:solidFill>
                  <a:schemeClr val="bg1"/>
                </a:solidFill>
                <a:latin typeface="Calibri" panose="020F0502020204030204" pitchFamily="34" charset="0"/>
              </a:rPr>
              <a:t>Curie = (3.7 *10</a:t>
            </a:r>
            <a:r>
              <a:rPr lang="en-IN" sz="2800" baseline="30000" dirty="0">
                <a:solidFill>
                  <a:schemeClr val="bg1"/>
                </a:solidFill>
                <a:latin typeface="Calibri" panose="020F0502020204030204" pitchFamily="34" charset="0"/>
              </a:rPr>
              <a:t>10</a:t>
            </a:r>
            <a:r>
              <a:rPr lang="en-IN" sz="2800" dirty="0">
                <a:solidFill>
                  <a:schemeClr val="bg1"/>
                </a:solidFill>
                <a:latin typeface="Calibri" panose="020F0502020204030204" pitchFamily="34" charset="0"/>
              </a:rPr>
              <a:t> decay/sec)</a:t>
            </a:r>
            <a:endParaRPr lang="en-IN" sz="2800" dirty="0">
              <a:solidFill>
                <a:schemeClr val="bg1"/>
              </a:solidFill>
              <a:latin typeface="Noto Sans Symbols"/>
            </a:endParaRPr>
          </a:p>
          <a:p>
            <a:pPr marL="742950" lvl="1" indent="-285750" fontAlgn="base">
              <a:buFont typeface="Wingdings" panose="05000000000000000000" pitchFamily="2" charset="2"/>
              <a:buChar char="q"/>
            </a:pPr>
            <a:r>
              <a:rPr lang="en-IN" sz="2800" dirty="0">
                <a:solidFill>
                  <a:schemeClr val="bg1"/>
                </a:solidFill>
                <a:latin typeface="Calibri" panose="020F0502020204030204" pitchFamily="34" charset="0"/>
              </a:rPr>
              <a:t>Rutherford (10</a:t>
            </a:r>
            <a:r>
              <a:rPr lang="en-IN" sz="2800" baseline="30000" dirty="0">
                <a:solidFill>
                  <a:schemeClr val="bg1"/>
                </a:solidFill>
                <a:latin typeface="Calibri" panose="020F0502020204030204" pitchFamily="34" charset="0"/>
              </a:rPr>
              <a:t>6</a:t>
            </a:r>
            <a:r>
              <a:rPr lang="en-IN" sz="2800" dirty="0">
                <a:solidFill>
                  <a:schemeClr val="bg1"/>
                </a:solidFill>
                <a:latin typeface="Calibri" panose="020F0502020204030204" pitchFamily="34" charset="0"/>
              </a:rPr>
              <a:t> decay/sec)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/>
              <p:cNvSpPr/>
              <p:nvPr/>
            </p:nvSpPr>
            <p:spPr>
              <a:xfrm>
                <a:off x="7315200" y="5521793"/>
                <a:ext cx="487800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𝐴𝑐𝑡𝑖𝑣𝑖𝑡𝑦</m:t>
                      </m:r>
                      <m:r>
                        <m:rPr>
                          <m:nor/>
                        </m:rP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m:rPr>
                          <m:nor/>
                        </m:rP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𝑔𝑟𝑎𝑚</m:t>
                      </m:r>
                      <m:r>
                        <m:rPr>
                          <m:nor/>
                        </m:rP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m:rPr>
                          <m:nor/>
                        </m:rP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𝑟𝑎𝑑𝑖𝑢𝑚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0" y="5521793"/>
                <a:ext cx="487800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Elbow Connector 14"/>
          <p:cNvCxnSpPr>
            <a:endCxn id="13" idx="0"/>
          </p:cNvCxnSpPr>
          <p:nvPr/>
        </p:nvCxnSpPr>
        <p:spPr>
          <a:xfrm>
            <a:off x="8818880" y="4947920"/>
            <a:ext cx="935321" cy="573873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8815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4">
            <a:extLst>
              <a:ext uri="{FF2B5EF4-FFF2-40B4-BE49-F238E27FC236}">
                <a16:creationId xmlns:a16="http://schemas.microsoft.com/office/drawing/2014/main" id="{2C9DFBED-0159-4EAC-AAAF-5AA47CA2F8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493520" y="-1193800"/>
            <a:ext cx="9144000" cy="2387600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Calibri" panose="020F0502020204030204" pitchFamily="34" charset="0"/>
              </a:rPr>
              <a:t>Radioactive laws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z="2800" smtClean="0">
                <a:solidFill>
                  <a:schemeClr val="bg1"/>
                </a:solidFill>
              </a:rPr>
              <a:t>2</a:t>
            </a:fld>
            <a:endParaRPr lang="en-US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Object 7"/>
              <p:cNvSpPr txBox="1"/>
              <p:nvPr/>
            </p:nvSpPr>
            <p:spPr>
              <a:xfrm>
                <a:off x="828675" y="1468438"/>
                <a:ext cx="2188845" cy="83185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𝑑𝑁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8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675" y="1468438"/>
                <a:ext cx="2188845" cy="831850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Object 8"/>
              <p:cNvSpPr txBox="1"/>
              <p:nvPr/>
            </p:nvSpPr>
            <p:spPr>
              <a:xfrm>
                <a:off x="798404" y="2474021"/>
                <a:ext cx="2188636" cy="755029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𝑑𝑁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9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404" y="2474021"/>
                <a:ext cx="2188636" cy="755029"/>
              </a:xfrm>
              <a:prstGeom prst="rect">
                <a:avLst/>
              </a:prstGeom>
              <a:blipFill>
                <a:blip r:embed="rId4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Object 9"/>
              <p:cNvSpPr txBox="1"/>
              <p:nvPr/>
            </p:nvSpPr>
            <p:spPr>
              <a:xfrm>
                <a:off x="875288" y="3671011"/>
                <a:ext cx="2645152" cy="766584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800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r>
                                    <a:rPr lang="en-US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func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sub>
                        <m:sup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0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288" y="3671011"/>
                <a:ext cx="2645152" cy="7665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Object 10"/>
              <p:cNvSpPr txBox="1"/>
              <p:nvPr/>
            </p:nvSpPr>
            <p:spPr>
              <a:xfrm>
                <a:off x="4495960" y="1468385"/>
                <a:ext cx="2453480" cy="86957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1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960" y="1468385"/>
                <a:ext cx="2453480" cy="869570"/>
              </a:xfrm>
              <a:prstGeom prst="rect">
                <a:avLst/>
              </a:prstGeom>
              <a:blipFill>
                <a:blip r:embed="rId6"/>
                <a:stretch>
                  <a:fillRect b="-55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Object 11"/>
              <p:cNvSpPr txBox="1"/>
              <p:nvPr/>
            </p:nvSpPr>
            <p:spPr>
              <a:xfrm>
                <a:off x="4480030" y="2535765"/>
                <a:ext cx="2118889" cy="1022239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den>
                      </m:f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2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0030" y="2535765"/>
                <a:ext cx="2118889" cy="102223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Object 12"/>
              <p:cNvSpPr txBox="1"/>
              <p:nvPr/>
            </p:nvSpPr>
            <p:spPr>
              <a:xfrm>
                <a:off x="4465480" y="3868271"/>
                <a:ext cx="2070001" cy="715091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sSup>
                        <m:sSup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3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5480" y="3868271"/>
                <a:ext cx="2070001" cy="71509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Rectangle 30"/>
              <p:cNvSpPr/>
              <p:nvPr/>
            </p:nvSpPr>
            <p:spPr>
              <a:xfrm>
                <a:off x="335458" y="1572857"/>
                <a:ext cx="58701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≫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458" y="1572857"/>
                <a:ext cx="587019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Rectangle 31"/>
              <p:cNvSpPr/>
              <p:nvPr/>
            </p:nvSpPr>
            <p:spPr>
              <a:xfrm>
                <a:off x="270577" y="2547484"/>
                <a:ext cx="58701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≫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577" y="2547484"/>
                <a:ext cx="587019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Rectangle 32"/>
              <p:cNvSpPr/>
              <p:nvPr/>
            </p:nvSpPr>
            <p:spPr>
              <a:xfrm>
                <a:off x="270577" y="3685864"/>
                <a:ext cx="58701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≫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577" y="3685864"/>
                <a:ext cx="587019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Rectangle 33"/>
              <p:cNvSpPr/>
              <p:nvPr/>
            </p:nvSpPr>
            <p:spPr>
              <a:xfrm>
                <a:off x="3891249" y="1550164"/>
                <a:ext cx="58701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≫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1249" y="1550164"/>
                <a:ext cx="587019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Rectangle 34"/>
              <p:cNvSpPr/>
              <p:nvPr/>
            </p:nvSpPr>
            <p:spPr>
              <a:xfrm>
                <a:off x="3860769" y="2763686"/>
                <a:ext cx="58701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≫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0769" y="2763686"/>
                <a:ext cx="587019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Rectangle 35"/>
              <p:cNvSpPr/>
              <p:nvPr/>
            </p:nvSpPr>
            <p:spPr>
              <a:xfrm>
                <a:off x="3860769" y="3855288"/>
                <a:ext cx="58701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≫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0769" y="3855288"/>
                <a:ext cx="587019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/>
          <p:cNvSpPr/>
          <p:nvPr/>
        </p:nvSpPr>
        <p:spPr>
          <a:xfrm>
            <a:off x="6894270" y="3775642"/>
            <a:ext cx="441667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Exponential </a:t>
            </a:r>
          </a:p>
          <a:p>
            <a:r>
              <a:rPr lang="en-GB" sz="2800" dirty="0">
                <a:solidFill>
                  <a:schemeClr val="bg1"/>
                </a:solidFill>
              </a:rPr>
              <a:t>Activity is also exponential</a:t>
            </a:r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5159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517237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Half life (1/n life) 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4"/>
              <p:cNvSpPr txBox="1"/>
              <p:nvPr/>
            </p:nvSpPr>
            <p:spPr>
              <a:xfrm>
                <a:off x="2001398" y="2334806"/>
                <a:ext cx="2585842" cy="83395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h𝑎𝑙𝑓</m:t>
                          </m:r>
                        </m:sub>
                      </m:sSub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</m:num>
                        <m:den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5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1398" y="2334806"/>
                <a:ext cx="2585842" cy="833950"/>
              </a:xfrm>
              <a:prstGeom prst="rect">
                <a:avLst/>
              </a:prstGeom>
              <a:blipFill>
                <a:blip r:embed="rId2"/>
                <a:stretch>
                  <a:fillRect b="-2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6314318" y="1498476"/>
                <a:ext cx="5364674" cy="18086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IN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I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𝑇𝑖𝑚𝑒</m:t>
                            </m:r>
                            <m:r>
                              <m:rPr>
                                <m:nor/>
                              </m:rPr>
                              <a:rPr lang="en-I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𝑡𝑜</m:t>
                            </m:r>
                            <m:r>
                              <m:rPr>
                                <m:nor/>
                              </m:rPr>
                              <a:rPr lang="en-I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f>
                              <m:fPr>
                                <m:type m:val="lin"/>
                                <m:ctrlPr>
                                  <a:rPr lang="en-IN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80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80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nor/>
                              </m:rPr>
                              <a:rPr lang="en-I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  </m:t>
                            </m:r>
                            <m:r>
                              <a:rPr lang="en-IN" sz="2800" i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IN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80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  <m:r>
                                  <a:rPr lang="en-IN" sz="280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den>
                            </m:f>
                          </m:e>
                        </m:mr>
                        <m:mr>
                          <m:e>
                            <m:r>
                              <a:rPr lang="en-I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𝑇𝑖𝑚𝑒</m:t>
                            </m:r>
                            <m:r>
                              <m:rPr>
                                <m:nor/>
                              </m:rPr>
                              <a:rPr lang="en-I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𝑡𝑜</m:t>
                            </m:r>
                            <m:r>
                              <m:rPr>
                                <m:nor/>
                              </m:rPr>
                              <a:rPr lang="en-I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𝑏𝑒𝑐𝑜𝑚𝑒</m:t>
                            </m:r>
                            <m:r>
                              <m:rPr>
                                <m:nor/>
                              </m:rPr>
                              <a:rPr lang="en-I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800" i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4%=</m:t>
                            </m:r>
                            <m:f>
                              <m:fPr>
                                <m:ctrlPr>
                                  <a:rPr lang="en-IN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80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  <m:d>
                                  <m:dPr>
                                    <m:ctrlPr>
                                      <a:rPr lang="en-IN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lin"/>
                                        <m:ctrlPr>
                                          <a:rPr lang="en-IN" sz="28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800" i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100</m:t>
                                        </m:r>
                                      </m:num>
                                      <m:den>
                                        <m:r>
                                          <a:rPr lang="en-IN" sz="2800" i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</m:num>
                              <m:den>
                                <m:r>
                                  <a:rPr lang="en-IN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den>
                            </m:f>
                          </m:e>
                        </m:mr>
                      </m:m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4318" y="1498476"/>
                <a:ext cx="5364674" cy="18086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/>
          <p:cNvSpPr/>
          <p:nvPr/>
        </p:nvSpPr>
        <p:spPr>
          <a:xfrm>
            <a:off x="764385" y="1476880"/>
            <a:ext cx="175847" cy="17584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764385" y="2419475"/>
            <a:ext cx="175847" cy="17584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764385" y="3186223"/>
            <a:ext cx="175847" cy="17584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/>
              <p:cNvSpPr/>
              <p:nvPr/>
            </p:nvSpPr>
            <p:spPr>
              <a:xfrm>
                <a:off x="1519622" y="902243"/>
                <a:ext cx="2884737" cy="11808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num>
                        <m:den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9622" y="902243"/>
                <a:ext cx="2884737" cy="11808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8435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4">
            <a:extLst>
              <a:ext uri="{FF2B5EF4-FFF2-40B4-BE49-F238E27FC236}">
                <a16:creationId xmlns:a16="http://schemas.microsoft.com/office/drawing/2014/main" id="{2C9DFBED-0159-4EAC-AAAF-5AA47CA2F8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8884920" cy="1051560"/>
          </a:xfrm>
        </p:spPr>
        <p:txBody>
          <a:bodyPr/>
          <a:lstStyle/>
          <a:p>
            <a:pPr fontAlgn="base"/>
            <a:r>
              <a:rPr lang="en-GB" sz="4800" dirty="0">
                <a:solidFill>
                  <a:schemeClr val="bg1"/>
                </a:solidFill>
                <a:latin typeface="Noto Sans Symbols"/>
              </a:rPr>
              <a:t>Mean life(just remember answer)</a:t>
            </a:r>
            <a:endParaRPr lang="en-IN" sz="4800" dirty="0">
              <a:solidFill>
                <a:schemeClr val="bg1"/>
              </a:solidFill>
              <a:latin typeface="Noto Sans Symbol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>
                <a:solidFill>
                  <a:schemeClr val="bg1"/>
                </a:solidFill>
              </a:rPr>
              <a:t>4</a:t>
            </a:fld>
            <a:endParaRPr 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Object 27"/>
              <p:cNvSpPr txBox="1"/>
              <p:nvPr/>
            </p:nvSpPr>
            <p:spPr>
              <a:xfrm>
                <a:off x="6321938" y="3872681"/>
                <a:ext cx="4269862" cy="1339399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𝑚𝑒𝑎𝑛</m:t>
                          </m:r>
                        </m:sub>
                      </m:sSub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limLoc m:val="undOvr"/>
                              <m:ctrlP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𝑑𝑁</m:t>
                              </m:r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nary>
                        </m:num>
                        <m:den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den>
                      </m:f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8" name="Object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1938" y="3872681"/>
                <a:ext cx="4269862" cy="13393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428053" y="1097593"/>
            <a:ext cx="112469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bg1"/>
                </a:solidFill>
                <a:latin typeface="arial" panose="020B0604020202020204" pitchFamily="34" charset="0"/>
              </a:rPr>
              <a:t>Average lifetime of all the nuclei of a particular unstable atomic species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28053" y="1937089"/>
            <a:ext cx="96995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Q:Find mean life of inset if 2 live for 3 days and 3 live of 4 days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/>
              <p:cNvSpPr/>
              <p:nvPr/>
            </p:nvSpPr>
            <p:spPr>
              <a:xfrm>
                <a:off x="1100743" y="2590328"/>
                <a:ext cx="2925866" cy="7923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2∗3+3∗4</m:t>
                          </m:r>
                        </m:num>
                        <m:den>
                          <m:r>
                            <a:rPr lang="en-IN" sz="24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2+3</m:t>
                          </m:r>
                        </m:den>
                      </m:f>
                      <m:r>
                        <a:rPr lang="en-IN" sz="24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18</m:t>
                          </m:r>
                        </m:num>
                        <m:den>
                          <m:r>
                            <a:rPr lang="en-IN" sz="24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IN" sz="24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743" y="2590328"/>
                <a:ext cx="2925866" cy="7923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/>
              <p:cNvSpPr/>
              <p:nvPr/>
            </p:nvSpPr>
            <p:spPr>
              <a:xfrm>
                <a:off x="405273" y="3626105"/>
                <a:ext cx="445352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𝐹𝑜𝑟</m:t>
                      </m:r>
                      <m:r>
                        <m:rPr>
                          <m:nor/>
                        </m:rP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𝑟𝑎𝑑𝑖𝑜</m:t>
                      </m:r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𝑎𝑐𝑡𝑖𝑣𝑒</m:t>
                      </m:r>
                      <m:r>
                        <m:rPr>
                          <m:nor/>
                        </m:rP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𝑠𝑝𝑒𝑐𝑖𝑒𝑠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273" y="3626105"/>
                <a:ext cx="4453527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/>
          <p:cNvSpPr/>
          <p:nvPr/>
        </p:nvSpPr>
        <p:spPr>
          <a:xfrm>
            <a:off x="3587262" y="5284264"/>
            <a:ext cx="260876" cy="26087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7372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z="2800" smtClean="0">
                <a:solidFill>
                  <a:schemeClr val="bg1"/>
                </a:solidFill>
              </a:rPr>
              <a:t>5</a:t>
            </a:fld>
            <a:endParaRPr lang="en-US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Object 5"/>
              <p:cNvSpPr txBox="1"/>
              <p:nvPr/>
            </p:nvSpPr>
            <p:spPr>
              <a:xfrm>
                <a:off x="243806" y="1133688"/>
                <a:ext cx="719852" cy="762196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US" sz="280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6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06" y="1133688"/>
                <a:ext cx="719852" cy="7621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>
            <a:off x="790051" y="1483713"/>
            <a:ext cx="178291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Object 14"/>
              <p:cNvSpPr txBox="1"/>
              <p:nvPr/>
            </p:nvSpPr>
            <p:spPr>
              <a:xfrm>
                <a:off x="365405" y="2399569"/>
                <a:ext cx="700574" cy="741784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US" sz="280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5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405" y="2399569"/>
                <a:ext cx="700574" cy="7417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/>
          <p:cNvCxnSpPr/>
          <p:nvPr/>
        </p:nvCxnSpPr>
        <p:spPr>
          <a:xfrm>
            <a:off x="978633" y="2908034"/>
            <a:ext cx="2029752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Object 16"/>
              <p:cNvSpPr txBox="1"/>
              <p:nvPr/>
            </p:nvSpPr>
            <p:spPr>
              <a:xfrm>
                <a:off x="365405" y="3906386"/>
                <a:ext cx="628562" cy="665536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US" sz="280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7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405" y="3906386"/>
                <a:ext cx="628562" cy="6655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/>
          <p:cNvCxnSpPr/>
          <p:nvPr/>
        </p:nvCxnSpPr>
        <p:spPr>
          <a:xfrm>
            <a:off x="835707" y="4215708"/>
            <a:ext cx="1383988" cy="234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Object 18"/>
              <p:cNvSpPr txBox="1"/>
              <p:nvPr/>
            </p:nvSpPr>
            <p:spPr>
              <a:xfrm>
                <a:off x="5521478" y="989198"/>
                <a:ext cx="628562" cy="665536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US" sz="280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9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1478" y="989198"/>
                <a:ext cx="628562" cy="66553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/>
          <p:cNvCxnSpPr/>
          <p:nvPr/>
        </p:nvCxnSpPr>
        <p:spPr>
          <a:xfrm>
            <a:off x="6134706" y="1222516"/>
            <a:ext cx="13153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Object 13"/>
              <p:cNvSpPr txBox="1"/>
              <p:nvPr/>
            </p:nvSpPr>
            <p:spPr>
              <a:xfrm>
                <a:off x="1336103" y="864941"/>
                <a:ext cx="531213" cy="627797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sz="280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4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6103" y="864941"/>
                <a:ext cx="531213" cy="6277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Object 22"/>
              <p:cNvSpPr txBox="1"/>
              <p:nvPr/>
            </p:nvSpPr>
            <p:spPr>
              <a:xfrm>
                <a:off x="1445791" y="2421619"/>
                <a:ext cx="590647" cy="48641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sz="280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3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5791" y="2421619"/>
                <a:ext cx="590647" cy="48641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Object 23"/>
              <p:cNvSpPr txBox="1"/>
              <p:nvPr/>
            </p:nvSpPr>
            <p:spPr>
              <a:xfrm>
                <a:off x="1291842" y="3906543"/>
                <a:ext cx="560532" cy="61658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en-US" sz="280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4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1842" y="3906543"/>
                <a:ext cx="560532" cy="61658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Object 24"/>
              <p:cNvSpPr txBox="1"/>
              <p:nvPr/>
            </p:nvSpPr>
            <p:spPr>
              <a:xfrm>
                <a:off x="6459540" y="1051708"/>
                <a:ext cx="496772" cy="43467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en-US" sz="280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5" name="Object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9540" y="1051708"/>
                <a:ext cx="496772" cy="4346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Object 29"/>
              <p:cNvSpPr txBox="1"/>
              <p:nvPr/>
            </p:nvSpPr>
            <p:spPr>
              <a:xfrm>
                <a:off x="2541382" y="892394"/>
                <a:ext cx="1356135" cy="76234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/2</m:t>
                      </m:r>
                    </m:oMath>
                  </m:oMathPara>
                </a14:m>
                <a:endParaRPr lang="en-US" sz="280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0" name="Object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1382" y="892394"/>
                <a:ext cx="1356135" cy="76234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Object 30"/>
              <p:cNvSpPr txBox="1"/>
              <p:nvPr/>
            </p:nvSpPr>
            <p:spPr>
              <a:xfrm>
                <a:off x="2445771" y="2430238"/>
                <a:ext cx="1279440" cy="741923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en-US" sz="280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1" name="Object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5771" y="2430238"/>
                <a:ext cx="1279440" cy="74192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Object 31"/>
              <p:cNvSpPr txBox="1"/>
              <p:nvPr/>
            </p:nvSpPr>
            <p:spPr>
              <a:xfrm>
                <a:off x="2396178" y="3921163"/>
                <a:ext cx="1147927" cy="665661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 sz="280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2" name="Object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6178" y="3921163"/>
                <a:ext cx="1147927" cy="66566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Object 32"/>
              <p:cNvSpPr txBox="1"/>
              <p:nvPr/>
            </p:nvSpPr>
            <p:spPr>
              <a:xfrm>
                <a:off x="7617772" y="888376"/>
                <a:ext cx="1295096" cy="701888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3" name="Object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7772" y="888376"/>
                <a:ext cx="1295096" cy="70188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" name="Group 49"/>
          <p:cNvGrpSpPr/>
          <p:nvPr/>
        </p:nvGrpSpPr>
        <p:grpSpPr>
          <a:xfrm>
            <a:off x="2541119" y="514172"/>
            <a:ext cx="1412302" cy="1538750"/>
            <a:chOff x="4860324" y="1919445"/>
            <a:chExt cx="1020575" cy="1103841"/>
          </a:xfrm>
        </p:grpSpPr>
        <p:sp>
          <p:nvSpPr>
            <p:cNvPr id="51" name="Oval 50"/>
            <p:cNvSpPr/>
            <p:nvPr/>
          </p:nvSpPr>
          <p:spPr>
            <a:xfrm>
              <a:off x="4860324" y="2030647"/>
              <a:ext cx="1020575" cy="992639"/>
            </a:xfrm>
            <a:prstGeom prst="ellipse">
              <a:avLst/>
            </a:prstGeom>
            <a:ln>
              <a:noFill/>
            </a:ln>
            <a:effectLst/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800">
                <a:solidFill>
                  <a:schemeClr val="bg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Object 51"/>
                <p:cNvSpPr txBox="1"/>
                <p:nvPr/>
              </p:nvSpPr>
              <p:spPr>
                <a:xfrm>
                  <a:off x="5527217" y="1919445"/>
                  <a:ext cx="204460" cy="438255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?</m:t>
                        </m:r>
                      </m:oMath>
                    </m:oMathPara>
                  </a14:m>
                  <a:endParaRPr lang="en-US" sz="280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52" name="Object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7217" y="1919445"/>
                  <a:ext cx="204460" cy="438255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Group 52"/>
          <p:cNvGrpSpPr/>
          <p:nvPr/>
        </p:nvGrpSpPr>
        <p:grpSpPr>
          <a:xfrm>
            <a:off x="2525813" y="1986447"/>
            <a:ext cx="1374478" cy="1497448"/>
            <a:chOff x="4860324" y="1919513"/>
            <a:chExt cx="1020575" cy="1103773"/>
          </a:xfrm>
        </p:grpSpPr>
        <p:sp>
          <p:nvSpPr>
            <p:cNvPr id="54" name="Oval 53"/>
            <p:cNvSpPr/>
            <p:nvPr/>
          </p:nvSpPr>
          <p:spPr>
            <a:xfrm>
              <a:off x="4860324" y="2030647"/>
              <a:ext cx="1020575" cy="992639"/>
            </a:xfrm>
            <a:prstGeom prst="ellipse">
              <a:avLst/>
            </a:prstGeom>
            <a:ln>
              <a:noFill/>
            </a:ln>
            <a:effectLst/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800">
                <a:solidFill>
                  <a:schemeClr val="bg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5" name="Object 54"/>
                <p:cNvSpPr txBox="1"/>
                <p:nvPr/>
              </p:nvSpPr>
              <p:spPr>
                <a:xfrm>
                  <a:off x="5633308" y="1919513"/>
                  <a:ext cx="204460" cy="438255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?</m:t>
                        </m:r>
                      </m:oMath>
                    </m:oMathPara>
                  </a14:m>
                  <a:endParaRPr lang="en-US" sz="280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55" name="Object 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33308" y="1919513"/>
                  <a:ext cx="204460" cy="438255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6" name="Group 55"/>
          <p:cNvGrpSpPr/>
          <p:nvPr/>
        </p:nvGrpSpPr>
        <p:grpSpPr>
          <a:xfrm>
            <a:off x="2353543" y="3459423"/>
            <a:ext cx="1233196" cy="1343608"/>
            <a:chOff x="4860324" y="1919445"/>
            <a:chExt cx="1020575" cy="1103841"/>
          </a:xfrm>
        </p:grpSpPr>
        <p:sp>
          <p:nvSpPr>
            <p:cNvPr id="57" name="Oval 56"/>
            <p:cNvSpPr/>
            <p:nvPr/>
          </p:nvSpPr>
          <p:spPr>
            <a:xfrm>
              <a:off x="4860324" y="2030647"/>
              <a:ext cx="1020575" cy="992639"/>
            </a:xfrm>
            <a:prstGeom prst="ellipse">
              <a:avLst/>
            </a:prstGeom>
            <a:ln>
              <a:noFill/>
            </a:ln>
            <a:effectLst/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800">
                <a:solidFill>
                  <a:schemeClr val="bg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8" name="Object 57"/>
                <p:cNvSpPr txBox="1"/>
                <p:nvPr/>
              </p:nvSpPr>
              <p:spPr>
                <a:xfrm>
                  <a:off x="5527217" y="1919445"/>
                  <a:ext cx="204460" cy="438255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?</m:t>
                        </m:r>
                      </m:oMath>
                    </m:oMathPara>
                  </a14:m>
                  <a:endParaRPr lang="en-US" sz="280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58" name="Object 5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7217" y="1919445"/>
                  <a:ext cx="204460" cy="438255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Group 58"/>
          <p:cNvGrpSpPr/>
          <p:nvPr/>
        </p:nvGrpSpPr>
        <p:grpSpPr>
          <a:xfrm>
            <a:off x="7625180" y="595503"/>
            <a:ext cx="1233196" cy="1343608"/>
            <a:chOff x="4860324" y="1919445"/>
            <a:chExt cx="1020575" cy="1103841"/>
          </a:xfrm>
        </p:grpSpPr>
        <p:sp>
          <p:nvSpPr>
            <p:cNvPr id="60" name="Oval 59"/>
            <p:cNvSpPr/>
            <p:nvPr/>
          </p:nvSpPr>
          <p:spPr>
            <a:xfrm>
              <a:off x="4860324" y="2030647"/>
              <a:ext cx="1020575" cy="992639"/>
            </a:xfrm>
            <a:prstGeom prst="ellipse">
              <a:avLst/>
            </a:prstGeom>
            <a:ln>
              <a:noFill/>
            </a:ln>
            <a:effectLst/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800">
                <a:solidFill>
                  <a:schemeClr val="bg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1" name="Object 60"/>
                <p:cNvSpPr txBox="1"/>
                <p:nvPr/>
              </p:nvSpPr>
              <p:spPr>
                <a:xfrm>
                  <a:off x="5527217" y="1919445"/>
                  <a:ext cx="204460" cy="438255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?</m:t>
                        </m:r>
                      </m:oMath>
                    </m:oMathPara>
                  </a14:m>
                  <a:endParaRPr lang="en-US" sz="280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61" name="Object 6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7217" y="1919445"/>
                  <a:ext cx="204460" cy="438255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5" name="Object 84"/>
              <p:cNvSpPr txBox="1"/>
              <p:nvPr/>
            </p:nvSpPr>
            <p:spPr>
              <a:xfrm>
                <a:off x="5521478" y="2318948"/>
                <a:ext cx="656433" cy="695046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US" sz="280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85" name="Object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1478" y="2318948"/>
                <a:ext cx="656433" cy="69504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6" name="Straight Arrow Connector 85"/>
          <p:cNvCxnSpPr/>
          <p:nvPr/>
        </p:nvCxnSpPr>
        <p:spPr>
          <a:xfrm>
            <a:off x="6047975" y="2632664"/>
            <a:ext cx="15259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7" name="Object 86"/>
              <p:cNvSpPr txBox="1"/>
              <p:nvPr/>
            </p:nvSpPr>
            <p:spPr>
              <a:xfrm>
                <a:off x="6498446" y="2318948"/>
                <a:ext cx="585386" cy="643924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en-US" sz="280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87" name="Object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8446" y="2318948"/>
                <a:ext cx="585386" cy="64392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Rectangle 87"/>
          <p:cNvSpPr/>
          <p:nvPr/>
        </p:nvSpPr>
        <p:spPr>
          <a:xfrm>
            <a:off x="9193558" y="1870033"/>
            <a:ext cx="383075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  <a:latin typeface="Calibri" panose="020F0502020204030204" pitchFamily="34" charset="0"/>
              </a:rPr>
              <a:t>Probability of remaining</a:t>
            </a:r>
            <a:endParaRPr lang="en-GB" sz="2800" dirty="0">
              <a:solidFill>
                <a:schemeClr val="bg1"/>
              </a:solidFill>
              <a:latin typeface="Noto Sans Symbols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  <a:latin typeface="Calibri" panose="020F0502020204030204" pitchFamily="34" charset="0"/>
              </a:rPr>
              <a:t>Probability of decay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9" name="Object 88"/>
              <p:cNvSpPr txBox="1"/>
              <p:nvPr/>
            </p:nvSpPr>
            <p:spPr>
              <a:xfrm>
                <a:off x="7881010" y="2143218"/>
                <a:ext cx="2535529" cy="966046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num>
                        <m:den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den>
                      </m:f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=1/</m:t>
                      </m:r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89" name="Object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1010" y="2143218"/>
                <a:ext cx="2535529" cy="966046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" name="Object 89"/>
              <p:cNvSpPr txBox="1"/>
              <p:nvPr/>
            </p:nvSpPr>
            <p:spPr>
              <a:xfrm>
                <a:off x="7774331" y="3665752"/>
                <a:ext cx="3670909" cy="897244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num>
                        <m:den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den>
                      </m:f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=1−1/</m:t>
                      </m:r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90" name="Object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4331" y="3665752"/>
                <a:ext cx="3670909" cy="897244"/>
              </a:xfrm>
              <a:prstGeom prst="rect">
                <a:avLst/>
              </a:prstGeom>
              <a:blipFill>
                <a:blip r:embed="rId22"/>
                <a:stretch>
                  <a:fillRect b="-33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Rectangle 90"/>
          <p:cNvSpPr/>
          <p:nvPr/>
        </p:nvSpPr>
        <p:spPr>
          <a:xfrm>
            <a:off x="7761713" y="2110759"/>
            <a:ext cx="1703752" cy="105311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0">
              <a:solidFill>
                <a:schemeClr val="bg1"/>
              </a:solidFill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7725932" y="3596632"/>
            <a:ext cx="3688828" cy="1038591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557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z="2800" smtClean="0">
                <a:solidFill>
                  <a:schemeClr val="bg1"/>
                </a:solidFill>
              </a:rPr>
              <a:t>6</a:t>
            </a:fld>
            <a:endParaRPr lang="en-US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Object 63"/>
              <p:cNvSpPr txBox="1"/>
              <p:nvPr/>
            </p:nvSpPr>
            <p:spPr>
              <a:xfrm>
                <a:off x="16032" y="1199228"/>
                <a:ext cx="1440351" cy="70226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/3</m:t>
                      </m:r>
                    </m:oMath>
                  </m:oMathPara>
                </a14:m>
                <a:endParaRPr lang="en-US" sz="280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64" name="Object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32" y="1199228"/>
                <a:ext cx="1440351" cy="7022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Arrow Connector 64"/>
          <p:cNvCxnSpPr/>
          <p:nvPr/>
        </p:nvCxnSpPr>
        <p:spPr>
          <a:xfrm flipV="1">
            <a:off x="1424817" y="1522673"/>
            <a:ext cx="1921242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Object 65"/>
              <p:cNvSpPr txBox="1"/>
              <p:nvPr/>
            </p:nvSpPr>
            <p:spPr>
              <a:xfrm>
                <a:off x="2190380" y="1265680"/>
                <a:ext cx="489349" cy="578321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sz="280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66" name="Object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0380" y="1265680"/>
                <a:ext cx="489349" cy="5783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Object 66"/>
              <p:cNvSpPr txBox="1"/>
              <p:nvPr/>
            </p:nvSpPr>
            <p:spPr>
              <a:xfrm>
                <a:off x="3425391" y="1199228"/>
                <a:ext cx="1211042" cy="702261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/3</m:t>
                      </m:r>
                    </m:oMath>
                  </m:oMathPara>
                </a14:m>
                <a:endParaRPr lang="en-US" sz="280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67" name="Object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5391" y="1199228"/>
                <a:ext cx="1211042" cy="70226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8" name="Group 67"/>
          <p:cNvGrpSpPr/>
          <p:nvPr/>
        </p:nvGrpSpPr>
        <p:grpSpPr>
          <a:xfrm>
            <a:off x="1769437" y="742535"/>
            <a:ext cx="1300999" cy="1417482"/>
            <a:chOff x="4860324" y="1919445"/>
            <a:chExt cx="1020575" cy="1103841"/>
          </a:xfrm>
        </p:grpSpPr>
        <p:sp>
          <p:nvSpPr>
            <p:cNvPr id="69" name="Oval 68"/>
            <p:cNvSpPr/>
            <p:nvPr/>
          </p:nvSpPr>
          <p:spPr>
            <a:xfrm>
              <a:off x="4860324" y="2030647"/>
              <a:ext cx="1020575" cy="992639"/>
            </a:xfrm>
            <a:prstGeom prst="ellipse">
              <a:avLst/>
            </a:prstGeom>
            <a:ln>
              <a:noFill/>
            </a:ln>
            <a:effectLst/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800">
                <a:solidFill>
                  <a:schemeClr val="bg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0" name="Object 69"/>
                <p:cNvSpPr txBox="1"/>
                <p:nvPr/>
              </p:nvSpPr>
              <p:spPr>
                <a:xfrm>
                  <a:off x="5527217" y="1919445"/>
                  <a:ext cx="204460" cy="438255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?</m:t>
                        </m:r>
                      </m:oMath>
                    </m:oMathPara>
                  </a14:m>
                  <a:endParaRPr lang="en-US" sz="280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70" name="Object 6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7217" y="1919445"/>
                  <a:ext cx="204460" cy="43825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Object 70"/>
              <p:cNvSpPr txBox="1"/>
              <p:nvPr/>
            </p:nvSpPr>
            <p:spPr>
              <a:xfrm>
                <a:off x="5447716" y="1139558"/>
                <a:ext cx="2104393" cy="623436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20%</m:t>
                      </m:r>
                      <m:r>
                        <a:rPr lang="en-US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𝑑𝑒𝑐𝑎𝑦</m:t>
                      </m:r>
                    </m:oMath>
                  </m:oMathPara>
                </a14:m>
                <a:endParaRPr lang="en-US" sz="280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1" name="Object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716" y="1139558"/>
                <a:ext cx="2104393" cy="62343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Straight Arrow Connector 71"/>
          <p:cNvCxnSpPr/>
          <p:nvPr/>
        </p:nvCxnSpPr>
        <p:spPr>
          <a:xfrm flipV="1">
            <a:off x="7751026" y="1451276"/>
            <a:ext cx="1921242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Object 72"/>
              <p:cNvSpPr txBox="1"/>
              <p:nvPr/>
            </p:nvSpPr>
            <p:spPr>
              <a:xfrm>
                <a:off x="8347619" y="1276197"/>
                <a:ext cx="757200" cy="578051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sz="280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3" name="Object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7619" y="1276197"/>
                <a:ext cx="757200" cy="57805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Object 73"/>
              <p:cNvSpPr txBox="1"/>
              <p:nvPr/>
            </p:nvSpPr>
            <p:spPr>
              <a:xfrm>
                <a:off x="9954955" y="1126949"/>
                <a:ext cx="2109169" cy="625824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80%</m:t>
                      </m:r>
                      <m:r>
                        <a:rPr lang="en-US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𝑑𝑒𝑐𝑎𝑦</m:t>
                      </m:r>
                    </m:oMath>
                  </m:oMathPara>
                </a14:m>
                <a:endParaRPr lang="en-US" sz="280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4" name="Object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4955" y="1126949"/>
                <a:ext cx="2109169" cy="62582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5" name="Group 74"/>
          <p:cNvGrpSpPr/>
          <p:nvPr/>
        </p:nvGrpSpPr>
        <p:grpSpPr>
          <a:xfrm>
            <a:off x="8088581" y="659721"/>
            <a:ext cx="1300999" cy="1417482"/>
            <a:chOff x="4860324" y="1919445"/>
            <a:chExt cx="1020575" cy="1103841"/>
          </a:xfrm>
        </p:grpSpPr>
        <p:sp>
          <p:nvSpPr>
            <p:cNvPr id="76" name="Oval 75"/>
            <p:cNvSpPr/>
            <p:nvPr/>
          </p:nvSpPr>
          <p:spPr>
            <a:xfrm>
              <a:off x="4860324" y="2030647"/>
              <a:ext cx="1020575" cy="992639"/>
            </a:xfrm>
            <a:prstGeom prst="ellipse">
              <a:avLst/>
            </a:prstGeom>
            <a:ln>
              <a:noFill/>
            </a:ln>
            <a:effectLst/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800" dirty="0">
                <a:solidFill>
                  <a:schemeClr val="bg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7" name="Object 76"/>
                <p:cNvSpPr txBox="1"/>
                <p:nvPr/>
              </p:nvSpPr>
              <p:spPr>
                <a:xfrm>
                  <a:off x="5527217" y="1919445"/>
                  <a:ext cx="204460" cy="438255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?</m:t>
                        </m:r>
                      </m:oMath>
                    </m:oMathPara>
                  </a14:m>
                  <a:endParaRPr lang="en-US" sz="280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77" name="Object 7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7217" y="1919445"/>
                  <a:ext cx="204460" cy="43825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8" name="Object 77"/>
              <p:cNvSpPr txBox="1"/>
              <p:nvPr/>
            </p:nvSpPr>
            <p:spPr>
              <a:xfrm>
                <a:off x="3819114" y="3554432"/>
                <a:ext cx="389348" cy="508782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80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8" name="Object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9114" y="3554432"/>
                <a:ext cx="389348" cy="50878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Straight Arrow Connector 78"/>
          <p:cNvCxnSpPr/>
          <p:nvPr/>
        </p:nvCxnSpPr>
        <p:spPr>
          <a:xfrm flipV="1">
            <a:off x="4246858" y="3808823"/>
            <a:ext cx="1921242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0" name="Object 79"/>
              <p:cNvSpPr txBox="1"/>
              <p:nvPr/>
            </p:nvSpPr>
            <p:spPr>
              <a:xfrm>
                <a:off x="5207479" y="3611141"/>
                <a:ext cx="401292" cy="625824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sz="280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80" name="Object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7479" y="3611141"/>
                <a:ext cx="401292" cy="62582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1" name="Object 80"/>
              <p:cNvSpPr txBox="1"/>
              <p:nvPr/>
            </p:nvSpPr>
            <p:spPr>
              <a:xfrm>
                <a:off x="6279527" y="3503781"/>
                <a:ext cx="274693" cy="506392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81" name="Object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9527" y="3503781"/>
                <a:ext cx="274693" cy="50639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2" name="Group 81"/>
          <p:cNvGrpSpPr/>
          <p:nvPr/>
        </p:nvGrpSpPr>
        <p:grpSpPr>
          <a:xfrm>
            <a:off x="4593495" y="3048236"/>
            <a:ext cx="1300999" cy="1417482"/>
            <a:chOff x="4860324" y="1919445"/>
            <a:chExt cx="1020575" cy="1103841"/>
          </a:xfrm>
        </p:grpSpPr>
        <p:sp>
          <p:nvSpPr>
            <p:cNvPr id="83" name="Oval 82"/>
            <p:cNvSpPr/>
            <p:nvPr/>
          </p:nvSpPr>
          <p:spPr>
            <a:xfrm>
              <a:off x="4860324" y="2030647"/>
              <a:ext cx="1020575" cy="992639"/>
            </a:xfrm>
            <a:prstGeom prst="ellipse">
              <a:avLst/>
            </a:prstGeom>
            <a:ln>
              <a:noFill/>
            </a:ln>
            <a:effectLst/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800">
                <a:solidFill>
                  <a:schemeClr val="bg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4" name="Object 83"/>
                <p:cNvSpPr txBox="1"/>
                <p:nvPr/>
              </p:nvSpPr>
              <p:spPr>
                <a:xfrm>
                  <a:off x="5527217" y="1919445"/>
                  <a:ext cx="204460" cy="438255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?</m:t>
                        </m:r>
                      </m:oMath>
                    </m:oMathPara>
                  </a14:m>
                  <a:endParaRPr lang="en-US" sz="280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84" name="Object 8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7217" y="1919445"/>
                  <a:ext cx="204460" cy="438255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589221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4">
            <a:extLst>
              <a:ext uri="{FF2B5EF4-FFF2-40B4-BE49-F238E27FC236}">
                <a16:creationId xmlns:a16="http://schemas.microsoft.com/office/drawing/2014/main" id="{2C9DFBED-0159-4EAC-AAAF-5AA47CA2F8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14400" y="-1193800"/>
            <a:ext cx="9144000" cy="2387600"/>
          </a:xfrm>
        </p:spPr>
        <p:txBody>
          <a:bodyPr/>
          <a:lstStyle/>
          <a:p>
            <a:pPr fontAlgn="base"/>
            <a:r>
              <a:rPr lang="en-GB" b="1" dirty="0">
                <a:solidFill>
                  <a:schemeClr val="bg1"/>
                </a:solidFill>
                <a:latin typeface="Calibri" panose="020F0502020204030204" pitchFamily="34" charset="0"/>
              </a:rPr>
              <a:t>Simultaneous decay</a:t>
            </a:r>
            <a:endParaRPr lang="en-GB" b="1" dirty="0">
              <a:solidFill>
                <a:schemeClr val="bg1"/>
              </a:solidFill>
              <a:latin typeface="Noto Sans Symbol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>
                <a:solidFill>
                  <a:schemeClr val="bg1"/>
                </a:solidFill>
              </a:rPr>
              <a:t>7</a:t>
            </a:fld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716692" y="1758465"/>
            <a:ext cx="2788158" cy="8936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716692" y="2825579"/>
            <a:ext cx="2788158" cy="1707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Object 37"/>
              <p:cNvSpPr txBox="1"/>
              <p:nvPr/>
            </p:nvSpPr>
            <p:spPr>
              <a:xfrm>
                <a:off x="1741946" y="1758465"/>
                <a:ext cx="394709" cy="592064"/>
              </a:xfrm>
              <a:prstGeom prst="rect">
                <a:avLst/>
              </a:prstGeom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8" name="Object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1946" y="1758465"/>
                <a:ext cx="394709" cy="5920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Object 38"/>
              <p:cNvSpPr txBox="1"/>
              <p:nvPr/>
            </p:nvSpPr>
            <p:spPr>
              <a:xfrm>
                <a:off x="1857875" y="3172549"/>
                <a:ext cx="411972" cy="529678"/>
              </a:xfrm>
              <a:prstGeom prst="rect">
                <a:avLst/>
              </a:prstGeom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9" name="Object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7875" y="3172549"/>
                <a:ext cx="411972" cy="5296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Object 39"/>
              <p:cNvSpPr txBox="1"/>
              <p:nvPr/>
            </p:nvSpPr>
            <p:spPr>
              <a:xfrm>
                <a:off x="372419" y="2562826"/>
                <a:ext cx="467959" cy="467959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sz="280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0" name="Object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419" y="2562826"/>
                <a:ext cx="467959" cy="467959"/>
              </a:xfrm>
              <a:prstGeom prst="rect">
                <a:avLst/>
              </a:prstGeom>
              <a:blipFill>
                <a:blip r:embed="rId5"/>
                <a:stretch>
                  <a:fillRect l="-2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Object 49"/>
              <p:cNvSpPr txBox="1"/>
              <p:nvPr/>
            </p:nvSpPr>
            <p:spPr>
              <a:xfrm>
                <a:off x="1835739" y="2149622"/>
                <a:ext cx="374880" cy="613441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50" name="Object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739" y="2149622"/>
                <a:ext cx="374880" cy="613441"/>
              </a:xfrm>
              <a:prstGeom prst="rect">
                <a:avLst/>
              </a:prstGeom>
              <a:blipFill>
                <a:blip r:embed="rId6"/>
                <a:stretch>
                  <a:fillRect l="-3226" r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Object 50"/>
              <p:cNvSpPr txBox="1"/>
              <p:nvPr/>
            </p:nvSpPr>
            <p:spPr>
              <a:xfrm>
                <a:off x="1783220" y="3518464"/>
                <a:ext cx="440198" cy="61282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51" name="Object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220" y="3518464"/>
                <a:ext cx="440198" cy="61282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Object 51"/>
              <p:cNvSpPr txBox="1"/>
              <p:nvPr/>
            </p:nvSpPr>
            <p:spPr>
              <a:xfrm>
                <a:off x="5125624" y="2044586"/>
                <a:ext cx="3112767" cy="1002417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𝑒𝑓𝑓</m:t>
                          </m:r>
                        </m:sub>
                      </m:sSub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52" name="Object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5624" y="2044586"/>
                <a:ext cx="3112767" cy="100241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Object 52"/>
              <p:cNvSpPr txBox="1"/>
              <p:nvPr/>
            </p:nvSpPr>
            <p:spPr>
              <a:xfrm>
                <a:off x="5125624" y="2907799"/>
                <a:ext cx="3271045" cy="1002417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𝑒𝑓𝑓</m:t>
                          </m:r>
                        </m:sub>
                      </m:sSub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53" name="Object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5624" y="2907799"/>
                <a:ext cx="3271045" cy="100241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Rectangle 53"/>
          <p:cNvSpPr/>
          <p:nvPr/>
        </p:nvSpPr>
        <p:spPr>
          <a:xfrm>
            <a:off x="5761918" y="1935951"/>
            <a:ext cx="146789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Object 54"/>
              <p:cNvSpPr txBox="1"/>
              <p:nvPr/>
            </p:nvSpPr>
            <p:spPr>
              <a:xfrm>
                <a:off x="5125624" y="3771011"/>
                <a:ext cx="3323485" cy="1523263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e>
                        <m:sub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𝑒𝑓𝑓</m:t>
                          </m:r>
                        </m:sub>
                      </m:sSub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e>
                        <m:sub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e>
                        <m:sub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55" name="Object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5624" y="3771011"/>
                <a:ext cx="3323485" cy="152326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3267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4">
            <a:extLst>
              <a:ext uri="{FF2B5EF4-FFF2-40B4-BE49-F238E27FC236}">
                <a16:creationId xmlns:a16="http://schemas.microsoft.com/office/drawing/2014/main" id="{2C9DFBED-0159-4EAC-AAAF-5AA47CA2F8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041003" y="-1296746"/>
            <a:ext cx="9144000" cy="2387600"/>
          </a:xfrm>
        </p:spPr>
        <p:txBody>
          <a:bodyPr/>
          <a:lstStyle/>
          <a:p>
            <a:pPr fontAlgn="base"/>
            <a:r>
              <a:rPr lang="en-GB" b="1" dirty="0">
                <a:solidFill>
                  <a:schemeClr val="bg1"/>
                </a:solidFill>
                <a:latin typeface="Calibri" panose="020F0502020204030204" pitchFamily="34" charset="0"/>
              </a:rPr>
              <a:t>Cascade decay</a:t>
            </a:r>
            <a:endParaRPr lang="en-GB" b="1" dirty="0">
              <a:solidFill>
                <a:schemeClr val="bg1"/>
              </a:solidFill>
              <a:latin typeface="Noto Sans Symbol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>
                <a:solidFill>
                  <a:schemeClr val="bg1"/>
                </a:solidFill>
              </a:rPr>
              <a:t>8</a:t>
            </a:fld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87" name="Group 86"/>
          <p:cNvGrpSpPr/>
          <p:nvPr/>
        </p:nvGrpSpPr>
        <p:grpSpPr>
          <a:xfrm>
            <a:off x="413115" y="914400"/>
            <a:ext cx="7834070" cy="1560645"/>
            <a:chOff x="4343276" y="1340546"/>
            <a:chExt cx="4919598" cy="856467"/>
          </a:xfrm>
        </p:grpSpPr>
        <p:sp>
          <p:nvSpPr>
            <p:cNvPr id="57" name="Rectangle 56"/>
            <p:cNvSpPr/>
            <p:nvPr/>
          </p:nvSpPr>
          <p:spPr>
            <a:xfrm>
              <a:off x="4343276" y="1340546"/>
              <a:ext cx="116006" cy="28713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ase"/>
              <a:endParaRPr lang="en-GB" sz="2800" b="1" dirty="0">
                <a:solidFill>
                  <a:schemeClr val="bg1"/>
                </a:solidFill>
                <a:latin typeface="Noto Sans Symbols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" name="Object 58"/>
                <p:cNvSpPr txBox="1"/>
                <p:nvPr/>
              </p:nvSpPr>
              <p:spPr>
                <a:xfrm>
                  <a:off x="4988976" y="1876555"/>
                  <a:ext cx="273001" cy="295751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sz="280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59" name="Object 5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8976" y="1876555"/>
                  <a:ext cx="273001" cy="29575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" name="Object 59"/>
                <p:cNvSpPr txBox="1"/>
                <p:nvPr/>
              </p:nvSpPr>
              <p:spPr>
                <a:xfrm>
                  <a:off x="7135332" y="1863596"/>
                  <a:ext cx="273001" cy="295751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US" sz="280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60" name="Object 5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5332" y="1863596"/>
                  <a:ext cx="273001" cy="29575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1" name="Object 60"/>
                <p:cNvSpPr txBox="1"/>
                <p:nvPr/>
              </p:nvSpPr>
              <p:spPr>
                <a:xfrm>
                  <a:off x="8989824" y="1879513"/>
                  <a:ext cx="273050" cy="31750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en-US" sz="280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61" name="Object 6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89824" y="1879513"/>
                  <a:ext cx="273050" cy="3175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3" name="Straight Arrow Connector 62"/>
            <p:cNvCxnSpPr/>
            <p:nvPr/>
          </p:nvCxnSpPr>
          <p:spPr>
            <a:xfrm>
              <a:off x="5577459" y="2024063"/>
              <a:ext cx="90521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>
            <a:xfrm>
              <a:off x="7734598" y="2024063"/>
              <a:ext cx="90521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Group 78"/>
          <p:cNvGrpSpPr/>
          <p:nvPr/>
        </p:nvGrpSpPr>
        <p:grpSpPr>
          <a:xfrm>
            <a:off x="1058815" y="3050704"/>
            <a:ext cx="2132397" cy="1850175"/>
            <a:chOff x="4988976" y="2413686"/>
            <a:chExt cx="1493699" cy="1445644"/>
          </a:xfrm>
        </p:grpSpPr>
        <p:grpSp>
          <p:nvGrpSpPr>
            <p:cNvPr id="71" name="Group 70"/>
            <p:cNvGrpSpPr/>
            <p:nvPr/>
          </p:nvGrpSpPr>
          <p:grpSpPr>
            <a:xfrm>
              <a:off x="4988976" y="2413686"/>
              <a:ext cx="1493699" cy="1445644"/>
              <a:chOff x="4988976" y="2413686"/>
              <a:chExt cx="1493699" cy="1445644"/>
            </a:xfrm>
          </p:grpSpPr>
          <p:cxnSp>
            <p:nvCxnSpPr>
              <p:cNvPr id="68" name="Straight Arrow Connector 67"/>
              <p:cNvCxnSpPr/>
              <p:nvPr/>
            </p:nvCxnSpPr>
            <p:spPr>
              <a:xfrm flipH="1" flipV="1">
                <a:off x="5165124" y="2413686"/>
                <a:ext cx="24714" cy="144564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/>
              <p:cNvCxnSpPr/>
              <p:nvPr/>
            </p:nvCxnSpPr>
            <p:spPr>
              <a:xfrm>
                <a:off x="4988976" y="3566426"/>
                <a:ext cx="149369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8" name="Freeform 77"/>
            <p:cNvSpPr/>
            <p:nvPr/>
          </p:nvSpPr>
          <p:spPr>
            <a:xfrm>
              <a:off x="5195238" y="2545492"/>
              <a:ext cx="925476" cy="981287"/>
            </a:xfrm>
            <a:custGeom>
              <a:avLst/>
              <a:gdLst>
                <a:gd name="connsiteX0" fmla="*/ 2838 w 925476"/>
                <a:gd name="connsiteY0" fmla="*/ 0 h 981287"/>
                <a:gd name="connsiteX1" fmla="*/ 142881 w 925476"/>
                <a:gd name="connsiteY1" fmla="*/ 823784 h 981287"/>
                <a:gd name="connsiteX2" fmla="*/ 925476 w 925476"/>
                <a:gd name="connsiteY2" fmla="*/ 980303 h 98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25476" h="981287">
                  <a:moveTo>
                    <a:pt x="2838" y="0"/>
                  </a:moveTo>
                  <a:cubicBezTo>
                    <a:pt x="-4027" y="330200"/>
                    <a:pt x="-10892" y="660400"/>
                    <a:pt x="142881" y="823784"/>
                  </a:cubicBezTo>
                  <a:cubicBezTo>
                    <a:pt x="296654" y="987168"/>
                    <a:pt x="611065" y="983735"/>
                    <a:pt x="925476" y="980303"/>
                  </a:cubicBezTo>
                </a:path>
              </a:pathLst>
            </a:cu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sz="2800">
                <a:solidFill>
                  <a:schemeClr val="bg1"/>
                </a:solidFill>
              </a:endParaRPr>
            </a:p>
          </p:txBody>
        </p:sp>
      </p:grpSp>
      <p:grpSp>
        <p:nvGrpSpPr>
          <p:cNvPr id="82" name="Group 81"/>
          <p:cNvGrpSpPr/>
          <p:nvPr/>
        </p:nvGrpSpPr>
        <p:grpSpPr>
          <a:xfrm>
            <a:off x="3332841" y="3050704"/>
            <a:ext cx="2132397" cy="1850175"/>
            <a:chOff x="6684238" y="2413686"/>
            <a:chExt cx="1493699" cy="1445644"/>
          </a:xfrm>
        </p:grpSpPr>
        <p:grpSp>
          <p:nvGrpSpPr>
            <p:cNvPr id="75" name="Group 74"/>
            <p:cNvGrpSpPr/>
            <p:nvPr/>
          </p:nvGrpSpPr>
          <p:grpSpPr>
            <a:xfrm>
              <a:off x="6684238" y="2413686"/>
              <a:ext cx="1493699" cy="1445644"/>
              <a:chOff x="4988976" y="2413686"/>
              <a:chExt cx="1493699" cy="1445644"/>
            </a:xfrm>
          </p:grpSpPr>
          <p:cxnSp>
            <p:nvCxnSpPr>
              <p:cNvPr id="76" name="Straight Arrow Connector 75"/>
              <p:cNvCxnSpPr/>
              <p:nvPr/>
            </p:nvCxnSpPr>
            <p:spPr>
              <a:xfrm flipH="1" flipV="1">
                <a:off x="5165124" y="2413686"/>
                <a:ext cx="24714" cy="144564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/>
              <p:cNvCxnSpPr/>
              <p:nvPr/>
            </p:nvCxnSpPr>
            <p:spPr>
              <a:xfrm>
                <a:off x="4988976" y="3566426"/>
                <a:ext cx="149369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0" name="Freeform 79"/>
            <p:cNvSpPr/>
            <p:nvPr/>
          </p:nvSpPr>
          <p:spPr>
            <a:xfrm>
              <a:off x="6886832" y="2617081"/>
              <a:ext cx="1285103" cy="949903"/>
            </a:xfrm>
            <a:custGeom>
              <a:avLst/>
              <a:gdLst>
                <a:gd name="connsiteX0" fmla="*/ 0 w 1285103"/>
                <a:gd name="connsiteY0" fmla="*/ 949903 h 949903"/>
                <a:gd name="connsiteX1" fmla="*/ 370703 w 1285103"/>
                <a:gd name="connsiteY1" fmla="*/ 2551 h 949903"/>
                <a:gd name="connsiteX2" fmla="*/ 626076 w 1285103"/>
                <a:gd name="connsiteY2" fmla="*/ 678054 h 949903"/>
                <a:gd name="connsiteX3" fmla="*/ 1161536 w 1285103"/>
                <a:gd name="connsiteY3" fmla="*/ 900476 h 949903"/>
                <a:gd name="connsiteX4" fmla="*/ 1285103 w 1285103"/>
                <a:gd name="connsiteY4" fmla="*/ 916951 h 949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5103" h="949903">
                  <a:moveTo>
                    <a:pt x="0" y="949903"/>
                  </a:moveTo>
                  <a:cubicBezTo>
                    <a:pt x="133178" y="498881"/>
                    <a:pt x="266357" y="47859"/>
                    <a:pt x="370703" y="2551"/>
                  </a:cubicBezTo>
                  <a:cubicBezTo>
                    <a:pt x="475049" y="-42757"/>
                    <a:pt x="494271" y="528400"/>
                    <a:pt x="626076" y="678054"/>
                  </a:cubicBezTo>
                  <a:cubicBezTo>
                    <a:pt x="757881" y="827708"/>
                    <a:pt x="1051698" y="860660"/>
                    <a:pt x="1161536" y="900476"/>
                  </a:cubicBezTo>
                  <a:cubicBezTo>
                    <a:pt x="1271374" y="940292"/>
                    <a:pt x="1278238" y="928621"/>
                    <a:pt x="1285103" y="916951"/>
                  </a:cubicBezTo>
                </a:path>
              </a:pathLst>
            </a:cu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sz="2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3" name="Group 82"/>
          <p:cNvGrpSpPr/>
          <p:nvPr/>
        </p:nvGrpSpPr>
        <p:grpSpPr>
          <a:xfrm>
            <a:off x="6019491" y="3047856"/>
            <a:ext cx="2443830" cy="1850175"/>
            <a:chOff x="8379500" y="2401329"/>
            <a:chExt cx="1711851" cy="1445644"/>
          </a:xfrm>
        </p:grpSpPr>
        <p:grpSp>
          <p:nvGrpSpPr>
            <p:cNvPr id="72" name="Group 71"/>
            <p:cNvGrpSpPr/>
            <p:nvPr/>
          </p:nvGrpSpPr>
          <p:grpSpPr>
            <a:xfrm>
              <a:off x="8379500" y="2401329"/>
              <a:ext cx="1493699" cy="1445644"/>
              <a:chOff x="4988976" y="2413686"/>
              <a:chExt cx="1493699" cy="1445644"/>
            </a:xfrm>
          </p:grpSpPr>
          <p:cxnSp>
            <p:nvCxnSpPr>
              <p:cNvPr id="73" name="Straight Arrow Connector 72"/>
              <p:cNvCxnSpPr/>
              <p:nvPr/>
            </p:nvCxnSpPr>
            <p:spPr>
              <a:xfrm flipH="1" flipV="1">
                <a:off x="5165124" y="2413686"/>
                <a:ext cx="24714" cy="1445644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/>
              <p:cNvCxnSpPr/>
              <p:nvPr/>
            </p:nvCxnSpPr>
            <p:spPr>
              <a:xfrm>
                <a:off x="4988976" y="3566426"/>
                <a:ext cx="1493699" cy="0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1" name="Freeform 80"/>
            <p:cNvSpPr/>
            <p:nvPr/>
          </p:nvSpPr>
          <p:spPr>
            <a:xfrm>
              <a:off x="8575589" y="2417348"/>
              <a:ext cx="1515762" cy="1133160"/>
            </a:xfrm>
            <a:custGeom>
              <a:avLst/>
              <a:gdLst>
                <a:gd name="connsiteX0" fmla="*/ 0 w 1515762"/>
                <a:gd name="connsiteY0" fmla="*/ 1133160 h 1133160"/>
                <a:gd name="connsiteX1" fmla="*/ 197708 w 1515762"/>
                <a:gd name="connsiteY1" fmla="*/ 334090 h 1133160"/>
                <a:gd name="connsiteX2" fmla="*/ 996779 w 1515762"/>
                <a:gd name="connsiteY2" fmla="*/ 45766 h 1133160"/>
                <a:gd name="connsiteX3" fmla="*/ 1515762 w 1515762"/>
                <a:gd name="connsiteY3" fmla="*/ 4576 h 1133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15762" h="1133160">
                  <a:moveTo>
                    <a:pt x="0" y="1133160"/>
                  </a:moveTo>
                  <a:cubicBezTo>
                    <a:pt x="15789" y="824241"/>
                    <a:pt x="31578" y="515322"/>
                    <a:pt x="197708" y="334090"/>
                  </a:cubicBezTo>
                  <a:cubicBezTo>
                    <a:pt x="363838" y="152858"/>
                    <a:pt x="777103" y="100685"/>
                    <a:pt x="996779" y="45766"/>
                  </a:cubicBezTo>
                  <a:cubicBezTo>
                    <a:pt x="1216455" y="-9153"/>
                    <a:pt x="1366108" y="-2289"/>
                    <a:pt x="1515762" y="4576"/>
                  </a:cubicBezTo>
                </a:path>
              </a:pathLst>
            </a:cu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sz="2800">
                <a:solidFill>
                  <a:schemeClr val="bg1"/>
                </a:solidFill>
              </a:endParaRPr>
            </a:p>
          </p:txBody>
        </p:sp>
      </p:grpSp>
      <p:cxnSp>
        <p:nvCxnSpPr>
          <p:cNvPr id="85" name="Straight Arrow Connector 84"/>
          <p:cNvCxnSpPr>
            <a:endCxn id="80" idx="1"/>
          </p:cNvCxnSpPr>
          <p:nvPr/>
        </p:nvCxnSpPr>
        <p:spPr>
          <a:xfrm flipH="1" flipV="1">
            <a:off x="4151277" y="3314280"/>
            <a:ext cx="33861" cy="18444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6" name="Object 85"/>
              <p:cNvSpPr txBox="1"/>
              <p:nvPr/>
            </p:nvSpPr>
            <p:spPr>
              <a:xfrm>
                <a:off x="2563218" y="5159488"/>
                <a:ext cx="3868062" cy="493194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func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sSub>
                        <m:sSub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sSub>
                        <m:sSub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86" name="Object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3218" y="5159488"/>
                <a:ext cx="3868062" cy="49319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0135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>
                <a:solidFill>
                  <a:schemeClr val="bg1"/>
                </a:solidFill>
              </a:rPr>
              <a:t>9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90097" y="228508"/>
            <a:ext cx="1027978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en-GB" sz="2800" dirty="0">
                <a:solidFill>
                  <a:schemeClr val="bg1"/>
                </a:solidFill>
                <a:latin typeface="Calibri" panose="020F0502020204030204" pitchFamily="34" charset="0"/>
              </a:rPr>
              <a:t>Count rate is 200decay per second after 2hours if half life is 30mins find initial count rate</a:t>
            </a:r>
            <a:endParaRPr lang="en-GB" sz="2800" dirty="0">
              <a:solidFill>
                <a:schemeClr val="bg1"/>
              </a:solidFill>
              <a:latin typeface="Noto Sans Symbol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90095" y="1239852"/>
            <a:ext cx="1044742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en-GB" sz="2800" dirty="0">
                <a:solidFill>
                  <a:schemeClr val="bg1"/>
                </a:solidFill>
                <a:latin typeface="Calibri" panose="020F0502020204030204" pitchFamily="34" charset="0"/>
              </a:rPr>
              <a:t>After how much time Number of nuclei will be same if initially there ratio is 1:2 and there half life 2year and 1years</a:t>
            </a:r>
            <a:endParaRPr lang="en-GB" sz="2800" dirty="0">
              <a:solidFill>
                <a:schemeClr val="bg1"/>
              </a:solidFill>
              <a:latin typeface="Noto Sans Symbol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90094" y="3205303"/>
            <a:ext cx="1047790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en-GB" sz="2800" dirty="0">
                <a:solidFill>
                  <a:schemeClr val="bg1"/>
                </a:solidFill>
                <a:latin typeface="Calibri" panose="020F0502020204030204" pitchFamily="34" charset="0"/>
              </a:rPr>
              <a:t>After 3000years ratio of X and Y is 1:7 is X is radioactive and converting into Y  find half life of X</a:t>
            </a:r>
            <a:endParaRPr lang="en-GB" sz="2800" dirty="0">
              <a:solidFill>
                <a:schemeClr val="bg1"/>
              </a:solidFill>
              <a:latin typeface="Noto Sans Symbol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90095" y="2251196"/>
            <a:ext cx="1044742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en-GB" sz="2800" dirty="0">
                <a:solidFill>
                  <a:schemeClr val="bg1"/>
                </a:solidFill>
                <a:latin typeface="Calibri" panose="020F0502020204030204" pitchFamily="34" charset="0"/>
              </a:rPr>
              <a:t>After how much time Number of nuclei will be same if initially they are decaying at ratio of 1:2 and there half life 2year and 1years</a:t>
            </a:r>
            <a:endParaRPr lang="en-GB" sz="2800" dirty="0">
              <a:solidFill>
                <a:schemeClr val="bg1"/>
              </a:solidFill>
              <a:latin typeface="Noto Sans Symbols"/>
            </a:endParaRPr>
          </a:p>
        </p:txBody>
      </p:sp>
    </p:spTree>
    <p:extLst>
      <p:ext uri="{BB962C8B-B14F-4D97-AF65-F5344CB8AC3E}">
        <p14:creationId xmlns:p14="http://schemas.microsoft.com/office/powerpoint/2010/main" val="587989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37327" y="2967335"/>
            <a:ext cx="55173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Radioactive decay </a:t>
            </a:r>
            <a:endParaRPr lang="en-US" sz="5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279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-2499360" y="-1468437"/>
            <a:ext cx="9144000" cy="238760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Alpha decay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>
                <a:solidFill>
                  <a:schemeClr val="bg1"/>
                </a:solidFill>
              </a:rPr>
              <a:t>11</a:t>
            </a:fld>
            <a:endParaRPr 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162578" y="992046"/>
                <a:ext cx="3688126" cy="53142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IN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  <m:sup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sPre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Pre>
                        <m:sPre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  <m:sup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−4</m:t>
                          </m:r>
                        </m:sup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sPre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Pre>
                        <m:sPre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sPre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78" y="992046"/>
                <a:ext cx="3688126" cy="53142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162578" y="1902891"/>
                <a:ext cx="4111703" cy="5880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h𝑒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78" y="1902891"/>
                <a:ext cx="4111703" cy="5880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660009" y="2653518"/>
            <a:ext cx="6093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|Momentum| of He and Y will be same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1072282" y="3199246"/>
                <a:ext cx="1735924" cy="95410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𝐾𝐸</m:t>
                      </m:r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IN" sz="28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282" y="3199246"/>
                <a:ext cx="1735924" cy="9541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1072282" y="4136632"/>
                <a:ext cx="1819216" cy="96943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282" y="4136632"/>
                <a:ext cx="1819216" cy="96943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/>
              <p:cNvSpPr/>
              <p:nvPr/>
            </p:nvSpPr>
            <p:spPr>
              <a:xfrm>
                <a:off x="3032175" y="4317828"/>
                <a:ext cx="345575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2175" y="4317828"/>
                <a:ext cx="3455754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val 9"/>
          <p:cNvSpPr/>
          <p:nvPr/>
        </p:nvSpPr>
        <p:spPr>
          <a:xfrm>
            <a:off x="931604" y="3667661"/>
            <a:ext cx="140677" cy="14067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0">
              <a:solidFill>
                <a:schemeClr val="bg1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931605" y="4394395"/>
            <a:ext cx="140677" cy="14067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0">
              <a:solidFill>
                <a:schemeClr val="bg1"/>
              </a:solidFill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8233998" y="2534393"/>
            <a:ext cx="2773971" cy="2224509"/>
            <a:chOff x="400052" y="3675185"/>
            <a:chExt cx="2773971" cy="2224509"/>
          </a:xfrm>
        </p:grpSpPr>
        <p:grpSp>
          <p:nvGrpSpPr>
            <p:cNvPr id="13" name="Group 12"/>
            <p:cNvGrpSpPr/>
            <p:nvPr/>
          </p:nvGrpSpPr>
          <p:grpSpPr>
            <a:xfrm>
              <a:off x="400052" y="3948144"/>
              <a:ext cx="2540977" cy="1820008"/>
              <a:chOff x="360485" y="2461846"/>
              <a:chExt cx="2540977" cy="1820008"/>
            </a:xfrm>
          </p:grpSpPr>
          <p:cxnSp>
            <p:nvCxnSpPr>
              <p:cNvPr id="18" name="Straight Connector 17"/>
              <p:cNvCxnSpPr/>
              <p:nvPr/>
            </p:nvCxnSpPr>
            <p:spPr>
              <a:xfrm>
                <a:off x="747346" y="2461846"/>
                <a:ext cx="0" cy="182000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>
                <a:off x="360485" y="3859823"/>
                <a:ext cx="2540977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Freeform 13"/>
            <p:cNvSpPr/>
            <p:nvPr/>
          </p:nvSpPr>
          <p:spPr>
            <a:xfrm>
              <a:off x="808892" y="3675185"/>
              <a:ext cx="1266093" cy="1661746"/>
            </a:xfrm>
            <a:custGeom>
              <a:avLst/>
              <a:gdLst>
                <a:gd name="connsiteX0" fmla="*/ 0 w 1266093"/>
                <a:gd name="connsiteY0" fmla="*/ 1661746 h 1661746"/>
                <a:gd name="connsiteX1" fmla="*/ 562708 w 1266093"/>
                <a:gd name="connsiteY1" fmla="*/ 1248507 h 1661746"/>
                <a:gd name="connsiteX2" fmla="*/ 1143000 w 1266093"/>
                <a:gd name="connsiteY2" fmla="*/ 369277 h 1661746"/>
                <a:gd name="connsiteX3" fmla="*/ 1266093 w 1266093"/>
                <a:gd name="connsiteY3" fmla="*/ 0 h 1661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6093" h="1661746">
                  <a:moveTo>
                    <a:pt x="0" y="1661746"/>
                  </a:moveTo>
                  <a:cubicBezTo>
                    <a:pt x="186104" y="1562832"/>
                    <a:pt x="372208" y="1463918"/>
                    <a:pt x="562708" y="1248507"/>
                  </a:cubicBezTo>
                  <a:cubicBezTo>
                    <a:pt x="753208" y="1033096"/>
                    <a:pt x="1025769" y="577361"/>
                    <a:pt x="1143000" y="369277"/>
                  </a:cubicBezTo>
                  <a:cubicBezTo>
                    <a:pt x="1260231" y="161193"/>
                    <a:pt x="1263162" y="80596"/>
                    <a:pt x="1266093" y="0"/>
                  </a:cubicBezTo>
                </a:path>
              </a:pathLst>
            </a:cu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00052" y="3948144"/>
              <a:ext cx="2593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</a:rPr>
                <a:t>N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655277" y="5530362"/>
              <a:ext cx="5187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</a:rPr>
                <a:t>Z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17" name="Oval 16"/>
            <p:cNvSpPr/>
            <p:nvPr/>
          </p:nvSpPr>
          <p:spPr>
            <a:xfrm rot="1651070">
              <a:off x="2009769" y="3711677"/>
              <a:ext cx="268634" cy="603317"/>
            </a:xfrm>
            <a:prstGeom prst="ellipse">
              <a:avLst/>
            </a:prstGeom>
            <a:ln>
              <a:noFill/>
            </a:ln>
            <a:effectLst/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17159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524000" y="-1"/>
            <a:ext cx="9144000" cy="94964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Beta decay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9BA87B74-287C-123A-EBDE-BB37A576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38158"/>
            <a:ext cx="9144000" cy="1655762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>
                <a:solidFill>
                  <a:schemeClr val="bg1"/>
                </a:solidFill>
              </a:rPr>
              <a:t>12</a:t>
            </a:fld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4193931" y="965982"/>
            <a:ext cx="0" cy="46159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8153400" y="965982"/>
            <a:ext cx="0" cy="46159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325817" y="904427"/>
            <a:ext cx="3060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chemeClr val="bg1"/>
                </a:solidFill>
              </a:rPr>
              <a:t>Beta + Decay</a:t>
            </a: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7570" y="904427"/>
            <a:ext cx="3060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chemeClr val="bg1"/>
                </a:solidFill>
              </a:rPr>
              <a:t>Beta Decay</a:t>
            </a: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188571" y="904427"/>
            <a:ext cx="3060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chemeClr val="bg1"/>
                </a:solidFill>
              </a:rPr>
              <a:t>Electron capture</a:t>
            </a:r>
            <a:endParaRPr lang="en-IN" sz="32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/>
              <p:cNvSpPr/>
              <p:nvPr/>
            </p:nvSpPr>
            <p:spPr>
              <a:xfrm>
                <a:off x="251234" y="1660972"/>
                <a:ext cx="3170099" cy="5325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IN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sPre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Pre>
                        <m:sPre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sPre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Pre>
                        <m:sPre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GB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sPre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234" y="1660972"/>
                <a:ext cx="3170099" cy="53258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/>
              <p:cNvSpPr/>
              <p:nvPr/>
            </p:nvSpPr>
            <p:spPr>
              <a:xfrm>
                <a:off x="4180791" y="1660971"/>
                <a:ext cx="2979342" cy="5325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IN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sPre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Pre>
                        <m:sPre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sPre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Pre>
                        <m:sPre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sPre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0791" y="1660971"/>
                <a:ext cx="2979342" cy="5325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/>
              <p:cNvSpPr/>
              <p:nvPr/>
            </p:nvSpPr>
            <p:spPr>
              <a:xfrm>
                <a:off x="8141523" y="1660970"/>
                <a:ext cx="3170099" cy="5325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IN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sPre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Pre>
                        <m:sPre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sPre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Pre>
                        <m:sPre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sPre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1523" y="1660970"/>
                <a:ext cx="3170099" cy="5325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/>
              <p:cNvSpPr/>
              <p:nvPr/>
            </p:nvSpPr>
            <p:spPr>
              <a:xfrm>
                <a:off x="251234" y="2392739"/>
                <a:ext cx="3417089" cy="5332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Pre>
                      <m:sPrePr>
                        <m:ctrlPr>
                          <a:rPr lang="en-IN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IN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  <m:sup>
                        <m:r>
                          <a:rPr lang="en-IN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  <m:e>
                        <m:r>
                          <a:rPr lang="en-IN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sPre>
                    <m:r>
                      <a:rPr lang="en-IN" sz="2800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Pre>
                      <m:sPrePr>
                        <m:ctrlPr>
                          <a:rPr lang="en-IN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IN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IN" sz="28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IN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  <m:e>
                        <m:r>
                          <a:rPr lang="en-IN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sPre>
                    <m:r>
                      <a:rPr lang="en-IN" sz="2800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sPre>
                      <m:sPrePr>
                        <m:ctrlPr>
                          <a:rPr lang="en-IN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IN" sz="28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IN" sz="28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r>
                          <a:rPr lang="en-IN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sPre>
                  </m:oMath>
                </a14:m>
                <a:r>
                  <a:rPr lang="en-GB" sz="28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sz="2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234" y="2392739"/>
                <a:ext cx="3417089" cy="5332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 13"/>
              <p:cNvSpPr/>
              <p:nvPr/>
            </p:nvSpPr>
            <p:spPr>
              <a:xfrm>
                <a:off x="4192540" y="2392739"/>
                <a:ext cx="3385863" cy="5324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IN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  <m:sup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sPre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Pre>
                        <m:sPre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sPre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Pre>
                        <m:sPre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sPre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2540" y="2392739"/>
                <a:ext cx="3385863" cy="53245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ectangle 14"/>
              <p:cNvSpPr/>
              <p:nvPr/>
            </p:nvSpPr>
            <p:spPr>
              <a:xfrm>
                <a:off x="8141523" y="2325127"/>
                <a:ext cx="3576620" cy="5324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IN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  <m:sup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sPre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Pre>
                        <m:sPre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sPre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Pre>
                        <m:sPre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sPre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1523" y="2325127"/>
                <a:ext cx="3576620" cy="53245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ectangle 15"/>
              <p:cNvSpPr/>
              <p:nvPr/>
            </p:nvSpPr>
            <p:spPr>
              <a:xfrm>
                <a:off x="251234" y="3180002"/>
                <a:ext cx="3948197" cy="5880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234" y="3180002"/>
                <a:ext cx="3948197" cy="58804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 16"/>
              <p:cNvSpPr/>
              <p:nvPr/>
            </p:nvSpPr>
            <p:spPr>
              <a:xfrm>
                <a:off x="4180791" y="3144255"/>
                <a:ext cx="3948197" cy="5880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0791" y="3144255"/>
                <a:ext cx="3948197" cy="58804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angle 17"/>
              <p:cNvSpPr/>
              <p:nvPr/>
            </p:nvSpPr>
            <p:spPr>
              <a:xfrm>
                <a:off x="8141523" y="3102302"/>
                <a:ext cx="3948197" cy="5880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1523" y="3102302"/>
                <a:ext cx="3948197" cy="58804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angle 18"/>
              <p:cNvSpPr/>
              <p:nvPr/>
            </p:nvSpPr>
            <p:spPr>
              <a:xfrm>
                <a:off x="251234" y="3971263"/>
                <a:ext cx="3021661" cy="5880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234" y="3971263"/>
                <a:ext cx="3021661" cy="58804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Rectangle 19"/>
              <p:cNvSpPr/>
              <p:nvPr/>
            </p:nvSpPr>
            <p:spPr>
              <a:xfrm>
                <a:off x="8152274" y="3985919"/>
                <a:ext cx="3021661" cy="5880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2274" y="3985919"/>
                <a:ext cx="3021661" cy="58804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ectangle 20"/>
              <p:cNvSpPr/>
              <p:nvPr/>
            </p:nvSpPr>
            <p:spPr>
              <a:xfrm>
                <a:off x="4180791" y="3985919"/>
                <a:ext cx="4114524" cy="5880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0791" y="3985919"/>
                <a:ext cx="4114524" cy="58804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/>
          <p:cNvCxnSpPr/>
          <p:nvPr/>
        </p:nvCxnSpPr>
        <p:spPr>
          <a:xfrm>
            <a:off x="251234" y="2325127"/>
            <a:ext cx="114669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239511" y="3102302"/>
            <a:ext cx="114669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227788" y="3879477"/>
            <a:ext cx="114669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216065" y="4656652"/>
            <a:ext cx="114669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3378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-3596640" y="-1498917"/>
            <a:ext cx="9144000" cy="238760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Proof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>
                <a:solidFill>
                  <a:schemeClr val="bg1"/>
                </a:solidFill>
              </a:rPr>
              <a:t>13</a:t>
            </a:fld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433944" y="1532848"/>
            <a:ext cx="4132384" cy="3439912"/>
            <a:chOff x="738554" y="1467142"/>
            <a:chExt cx="4132384" cy="3439912"/>
          </a:xfrm>
        </p:grpSpPr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2">
              <a:lum bright="70000" contrast="-70000"/>
            </a:blip>
            <a:stretch>
              <a:fillRect/>
            </a:stretch>
          </p:blipFill>
          <p:spPr>
            <a:xfrm>
              <a:off x="1107831" y="1467142"/>
              <a:ext cx="3139749" cy="3439912"/>
            </a:xfrm>
            <a:prstGeom prst="rect">
              <a:avLst/>
            </a:prstGeom>
          </p:spPr>
        </p:pic>
        <p:cxnSp>
          <p:nvCxnSpPr>
            <p:cNvPr id="28" name="Straight Connector 27"/>
            <p:cNvCxnSpPr/>
            <p:nvPr/>
          </p:nvCxnSpPr>
          <p:spPr>
            <a:xfrm>
              <a:off x="738554" y="2558562"/>
              <a:ext cx="41323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38554" y="2631832"/>
              <a:ext cx="41323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738554" y="3730870"/>
              <a:ext cx="41323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738554" y="3804140"/>
              <a:ext cx="41323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315626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-2895600" y="-1437957"/>
            <a:ext cx="9144000" cy="238760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Beta decay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>
                <a:solidFill>
                  <a:schemeClr val="bg1"/>
                </a:solidFill>
              </a:rPr>
              <a:t>14</a:t>
            </a:fld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4193931" y="1529862"/>
            <a:ext cx="0" cy="46159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8153400" y="1529862"/>
            <a:ext cx="0" cy="46159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325817" y="1468307"/>
            <a:ext cx="3060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chemeClr val="bg1"/>
                </a:solidFill>
              </a:rPr>
              <a:t>Beta + Decay</a:t>
            </a: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7570" y="1468307"/>
            <a:ext cx="3060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chemeClr val="bg1"/>
                </a:solidFill>
              </a:rPr>
              <a:t>Beta Decay</a:t>
            </a: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188571" y="1468307"/>
            <a:ext cx="3060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chemeClr val="bg1"/>
                </a:solidFill>
              </a:rPr>
              <a:t>Electron capture</a:t>
            </a: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13524" y="2116959"/>
            <a:ext cx="38122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Happen in neutron rich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72993" y="2116959"/>
            <a:ext cx="37155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Happen in Proton rich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32462" y="2116959"/>
            <a:ext cx="3715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Happen in Proton rich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Rectangle 42"/>
              <p:cNvSpPr/>
              <p:nvPr/>
            </p:nvSpPr>
            <p:spPr>
              <a:xfrm>
                <a:off x="4482581" y="2640078"/>
                <a:ext cx="2422138" cy="8961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den>
                      </m:f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𝑆𝑡𝑎𝑏𝑖𝑙𝑖𝑡𝑦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3" name="Rectangle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2581" y="2640078"/>
                <a:ext cx="2422138" cy="8961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Rectangle 43"/>
              <p:cNvSpPr/>
              <p:nvPr/>
            </p:nvSpPr>
            <p:spPr>
              <a:xfrm>
                <a:off x="8428256" y="2632899"/>
                <a:ext cx="2422138" cy="8961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den>
                      </m:f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𝑆𝑡𝑎𝑏𝑖𝑙𝑖𝑡𝑦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4" name="Rectangle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8256" y="2632899"/>
                <a:ext cx="2422138" cy="8961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Rectangle 44"/>
              <p:cNvSpPr/>
              <p:nvPr/>
            </p:nvSpPr>
            <p:spPr>
              <a:xfrm>
                <a:off x="811762" y="2632898"/>
                <a:ext cx="2422138" cy="8961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den>
                      </m:f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𝑆𝑡𝑎𝑏𝑖𝑙𝑖𝑡𝑦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762" y="2632898"/>
                <a:ext cx="2422138" cy="8961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Group 54"/>
          <p:cNvGrpSpPr/>
          <p:nvPr/>
        </p:nvGrpSpPr>
        <p:grpSpPr>
          <a:xfrm>
            <a:off x="400052" y="3675185"/>
            <a:ext cx="2773971" cy="2224509"/>
            <a:chOff x="400052" y="3675185"/>
            <a:chExt cx="2773971" cy="2224509"/>
          </a:xfrm>
        </p:grpSpPr>
        <p:grpSp>
          <p:nvGrpSpPr>
            <p:cNvPr id="29" name="Group 28"/>
            <p:cNvGrpSpPr/>
            <p:nvPr/>
          </p:nvGrpSpPr>
          <p:grpSpPr>
            <a:xfrm>
              <a:off x="400052" y="3948144"/>
              <a:ext cx="2540977" cy="1820008"/>
              <a:chOff x="360485" y="2461846"/>
              <a:chExt cx="2540977" cy="1820008"/>
            </a:xfrm>
          </p:grpSpPr>
          <p:cxnSp>
            <p:nvCxnSpPr>
              <p:cNvPr id="22" name="Straight Connector 21"/>
              <p:cNvCxnSpPr/>
              <p:nvPr/>
            </p:nvCxnSpPr>
            <p:spPr>
              <a:xfrm>
                <a:off x="747346" y="2461846"/>
                <a:ext cx="0" cy="182000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>
                <a:off x="360485" y="3859823"/>
                <a:ext cx="2540977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7" name="Freeform 36"/>
            <p:cNvSpPr/>
            <p:nvPr/>
          </p:nvSpPr>
          <p:spPr>
            <a:xfrm>
              <a:off x="808892" y="3675185"/>
              <a:ext cx="1266093" cy="1661746"/>
            </a:xfrm>
            <a:custGeom>
              <a:avLst/>
              <a:gdLst>
                <a:gd name="connsiteX0" fmla="*/ 0 w 1266093"/>
                <a:gd name="connsiteY0" fmla="*/ 1661746 h 1661746"/>
                <a:gd name="connsiteX1" fmla="*/ 562708 w 1266093"/>
                <a:gd name="connsiteY1" fmla="*/ 1248507 h 1661746"/>
                <a:gd name="connsiteX2" fmla="*/ 1143000 w 1266093"/>
                <a:gd name="connsiteY2" fmla="*/ 369277 h 1661746"/>
                <a:gd name="connsiteX3" fmla="*/ 1266093 w 1266093"/>
                <a:gd name="connsiteY3" fmla="*/ 0 h 1661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6093" h="1661746">
                  <a:moveTo>
                    <a:pt x="0" y="1661746"/>
                  </a:moveTo>
                  <a:cubicBezTo>
                    <a:pt x="186104" y="1562832"/>
                    <a:pt x="372208" y="1463918"/>
                    <a:pt x="562708" y="1248507"/>
                  </a:cubicBezTo>
                  <a:cubicBezTo>
                    <a:pt x="753208" y="1033096"/>
                    <a:pt x="1025769" y="577361"/>
                    <a:pt x="1143000" y="369277"/>
                  </a:cubicBezTo>
                  <a:cubicBezTo>
                    <a:pt x="1260231" y="161193"/>
                    <a:pt x="1263162" y="80596"/>
                    <a:pt x="1266093" y="0"/>
                  </a:cubicBezTo>
                </a:path>
              </a:pathLst>
            </a:cu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00052" y="3948144"/>
              <a:ext cx="2593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</a:rPr>
                <a:t>N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655277" y="5530362"/>
              <a:ext cx="5187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</a:rPr>
                <a:t>Z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52" name="Oval 51"/>
            <p:cNvSpPr/>
            <p:nvPr/>
          </p:nvSpPr>
          <p:spPr>
            <a:xfrm>
              <a:off x="914404" y="4315035"/>
              <a:ext cx="608866" cy="595834"/>
            </a:xfrm>
            <a:prstGeom prst="ellipse">
              <a:avLst/>
            </a:prstGeom>
            <a:ln>
              <a:noFill/>
            </a:ln>
            <a:effectLst/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8600344" y="3675185"/>
            <a:ext cx="2819397" cy="2092967"/>
            <a:chOff x="8600344" y="3675185"/>
            <a:chExt cx="2819397" cy="2092967"/>
          </a:xfrm>
        </p:grpSpPr>
        <p:grpSp>
          <p:nvGrpSpPr>
            <p:cNvPr id="33" name="Group 32"/>
            <p:cNvGrpSpPr/>
            <p:nvPr/>
          </p:nvGrpSpPr>
          <p:grpSpPr>
            <a:xfrm>
              <a:off x="8600344" y="3948144"/>
              <a:ext cx="2540977" cy="1820008"/>
              <a:chOff x="360485" y="2461846"/>
              <a:chExt cx="2540977" cy="1820008"/>
            </a:xfrm>
          </p:grpSpPr>
          <p:cxnSp>
            <p:nvCxnSpPr>
              <p:cNvPr id="34" name="Straight Connector 33"/>
              <p:cNvCxnSpPr/>
              <p:nvPr/>
            </p:nvCxnSpPr>
            <p:spPr>
              <a:xfrm>
                <a:off x="747346" y="2461846"/>
                <a:ext cx="0" cy="182000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>
              <a:xfrm>
                <a:off x="360485" y="3859823"/>
                <a:ext cx="2540977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Freeform 37"/>
            <p:cNvSpPr/>
            <p:nvPr/>
          </p:nvSpPr>
          <p:spPr>
            <a:xfrm>
              <a:off x="8990135" y="3675185"/>
              <a:ext cx="1266093" cy="1661746"/>
            </a:xfrm>
            <a:custGeom>
              <a:avLst/>
              <a:gdLst>
                <a:gd name="connsiteX0" fmla="*/ 0 w 1266093"/>
                <a:gd name="connsiteY0" fmla="*/ 1661746 h 1661746"/>
                <a:gd name="connsiteX1" fmla="*/ 562708 w 1266093"/>
                <a:gd name="connsiteY1" fmla="*/ 1248507 h 1661746"/>
                <a:gd name="connsiteX2" fmla="*/ 1143000 w 1266093"/>
                <a:gd name="connsiteY2" fmla="*/ 369277 h 1661746"/>
                <a:gd name="connsiteX3" fmla="*/ 1266093 w 1266093"/>
                <a:gd name="connsiteY3" fmla="*/ 0 h 1661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6093" h="1661746">
                  <a:moveTo>
                    <a:pt x="0" y="1661746"/>
                  </a:moveTo>
                  <a:cubicBezTo>
                    <a:pt x="186104" y="1562832"/>
                    <a:pt x="372208" y="1463918"/>
                    <a:pt x="562708" y="1248507"/>
                  </a:cubicBezTo>
                  <a:cubicBezTo>
                    <a:pt x="753208" y="1033096"/>
                    <a:pt x="1025769" y="577361"/>
                    <a:pt x="1143000" y="369277"/>
                  </a:cubicBezTo>
                  <a:cubicBezTo>
                    <a:pt x="1260231" y="161193"/>
                    <a:pt x="1263162" y="80596"/>
                    <a:pt x="1266093" y="0"/>
                  </a:cubicBezTo>
                </a:path>
              </a:pathLst>
            </a:cu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8609136" y="3899748"/>
              <a:ext cx="2593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</a:rPr>
                <a:t>N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10900995" y="5355312"/>
              <a:ext cx="5187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</a:rPr>
                <a:t>Z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53" name="Oval 52"/>
            <p:cNvSpPr/>
            <p:nvPr/>
          </p:nvSpPr>
          <p:spPr>
            <a:xfrm>
              <a:off x="9623181" y="4728307"/>
              <a:ext cx="608866" cy="595834"/>
            </a:xfrm>
            <a:prstGeom prst="ellipse">
              <a:avLst/>
            </a:prstGeom>
            <a:ln>
              <a:noFill/>
            </a:ln>
            <a:effectLst/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4476339" y="3675185"/>
            <a:ext cx="2835442" cy="2092967"/>
            <a:chOff x="4476339" y="3675185"/>
            <a:chExt cx="2835442" cy="2092967"/>
          </a:xfrm>
        </p:grpSpPr>
        <p:grpSp>
          <p:nvGrpSpPr>
            <p:cNvPr id="30" name="Group 29"/>
            <p:cNvGrpSpPr/>
            <p:nvPr/>
          </p:nvGrpSpPr>
          <p:grpSpPr>
            <a:xfrm>
              <a:off x="4500198" y="3948144"/>
              <a:ext cx="2540977" cy="1820008"/>
              <a:chOff x="360485" y="2461846"/>
              <a:chExt cx="2540977" cy="1820008"/>
            </a:xfrm>
          </p:grpSpPr>
          <p:cxnSp>
            <p:nvCxnSpPr>
              <p:cNvPr id="31" name="Straight Connector 30"/>
              <p:cNvCxnSpPr/>
              <p:nvPr/>
            </p:nvCxnSpPr>
            <p:spPr>
              <a:xfrm>
                <a:off x="747346" y="2461846"/>
                <a:ext cx="0" cy="182000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>
                <a:off x="360485" y="3859823"/>
                <a:ext cx="2540977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" name="Freeform 38"/>
            <p:cNvSpPr/>
            <p:nvPr/>
          </p:nvSpPr>
          <p:spPr>
            <a:xfrm>
              <a:off x="4884861" y="3675185"/>
              <a:ext cx="1266093" cy="1661746"/>
            </a:xfrm>
            <a:custGeom>
              <a:avLst/>
              <a:gdLst>
                <a:gd name="connsiteX0" fmla="*/ 0 w 1266093"/>
                <a:gd name="connsiteY0" fmla="*/ 1661746 h 1661746"/>
                <a:gd name="connsiteX1" fmla="*/ 562708 w 1266093"/>
                <a:gd name="connsiteY1" fmla="*/ 1248507 h 1661746"/>
                <a:gd name="connsiteX2" fmla="*/ 1143000 w 1266093"/>
                <a:gd name="connsiteY2" fmla="*/ 369277 h 1661746"/>
                <a:gd name="connsiteX3" fmla="*/ 1266093 w 1266093"/>
                <a:gd name="connsiteY3" fmla="*/ 0 h 1661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6093" h="1661746">
                  <a:moveTo>
                    <a:pt x="0" y="1661746"/>
                  </a:moveTo>
                  <a:cubicBezTo>
                    <a:pt x="186104" y="1562832"/>
                    <a:pt x="372208" y="1463918"/>
                    <a:pt x="562708" y="1248507"/>
                  </a:cubicBezTo>
                  <a:cubicBezTo>
                    <a:pt x="753208" y="1033096"/>
                    <a:pt x="1025769" y="577361"/>
                    <a:pt x="1143000" y="369277"/>
                  </a:cubicBezTo>
                  <a:cubicBezTo>
                    <a:pt x="1260231" y="161193"/>
                    <a:pt x="1263162" y="80596"/>
                    <a:pt x="1266093" y="0"/>
                  </a:cubicBezTo>
                </a:path>
              </a:pathLst>
            </a:cu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476339" y="3945702"/>
              <a:ext cx="2593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</a:rPr>
                <a:t>N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793035" y="5336931"/>
              <a:ext cx="5187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</a:rPr>
                <a:t>Z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54" name="Oval 53"/>
            <p:cNvSpPr/>
            <p:nvPr/>
          </p:nvSpPr>
          <p:spPr>
            <a:xfrm>
              <a:off x="5482002" y="4663386"/>
              <a:ext cx="608866" cy="595834"/>
            </a:xfrm>
            <a:prstGeom prst="ellipse">
              <a:avLst/>
            </a:prstGeom>
            <a:ln>
              <a:noFill/>
            </a:ln>
            <a:effectLst/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60984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/>
      <p:bldP spid="42" grpId="0"/>
      <p:bldP spid="43" grpId="0"/>
      <p:bldP spid="44" grpId="0"/>
      <p:bldP spid="4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-1996440" y="-1437957"/>
            <a:ext cx="9144000" cy="238760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Gamma decay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>
                <a:solidFill>
                  <a:schemeClr val="bg1"/>
                </a:solidFill>
              </a:rPr>
              <a:t>15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5992" y="1477108"/>
            <a:ext cx="111662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Nucleus have energy level as different arrangement can have different amount of energy</a:t>
            </a:r>
            <a:endParaRPr lang="en-IN" sz="2800" dirty="0">
              <a:solidFill>
                <a:schemeClr val="bg1"/>
              </a:solidFill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1424353" y="2611786"/>
            <a:ext cx="2593732" cy="1766783"/>
            <a:chOff x="2356338" y="2822331"/>
            <a:chExt cx="1732085" cy="1113694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2356338" y="2822331"/>
              <a:ext cx="173208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2356338" y="3185747"/>
              <a:ext cx="173208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2356338" y="3936025"/>
              <a:ext cx="173208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2743200" y="2822331"/>
              <a:ext cx="0" cy="3634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>
              <a:off x="3033346" y="3185747"/>
              <a:ext cx="0" cy="7502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3446585" y="2822331"/>
              <a:ext cx="0" cy="11136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/>
          <p:cNvSpPr txBox="1"/>
          <p:nvPr/>
        </p:nvSpPr>
        <p:spPr>
          <a:xfrm>
            <a:off x="4215723" y="2638440"/>
            <a:ext cx="73327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So neither A or Z change just energy is released</a:t>
            </a:r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71905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4">
            <a:extLst>
              <a:ext uri="{FF2B5EF4-FFF2-40B4-BE49-F238E27FC236}">
                <a16:creationId xmlns:a16="http://schemas.microsoft.com/office/drawing/2014/main" id="{2C9DFBED-0159-4EAC-AAAF-5AA47CA2F8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819400" y="-1422717"/>
            <a:ext cx="9144000" cy="2387600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5400" dirty="0">
                <a:solidFill>
                  <a:schemeClr val="bg1"/>
                </a:solidFill>
                <a:latin typeface="Arial" panose="020B0604020202020204" pitchFamily="34" charset="0"/>
              </a:rPr>
              <a:t>Compare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>
                <a:solidFill>
                  <a:schemeClr val="bg1"/>
                </a:solidFill>
              </a:rPr>
              <a:t>16</a:t>
            </a:fld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2079015"/>
              </p:ext>
            </p:extLst>
          </p:nvPr>
        </p:nvGraphicFramePr>
        <p:xfrm>
          <a:off x="188624" y="1053288"/>
          <a:ext cx="9432506" cy="4800555"/>
        </p:xfrm>
        <a:graphic>
          <a:graphicData uri="http://schemas.openxmlformats.org/drawingml/2006/table">
            <a:tbl>
              <a:tblPr/>
              <a:tblGrid>
                <a:gridCol w="2796366">
                  <a:extLst>
                    <a:ext uri="{9D8B030D-6E8A-4147-A177-3AD203B41FA5}">
                      <a16:colId xmlns:a16="http://schemas.microsoft.com/office/drawing/2014/main" val="2807968550"/>
                    </a:ext>
                  </a:extLst>
                </a:gridCol>
                <a:gridCol w="2045099">
                  <a:extLst>
                    <a:ext uri="{9D8B030D-6E8A-4147-A177-3AD203B41FA5}">
                      <a16:colId xmlns:a16="http://schemas.microsoft.com/office/drawing/2014/main" val="3568702921"/>
                    </a:ext>
                  </a:extLst>
                </a:gridCol>
                <a:gridCol w="2045099">
                  <a:extLst>
                    <a:ext uri="{9D8B030D-6E8A-4147-A177-3AD203B41FA5}">
                      <a16:colId xmlns:a16="http://schemas.microsoft.com/office/drawing/2014/main" val="3358510797"/>
                    </a:ext>
                  </a:extLst>
                </a:gridCol>
                <a:gridCol w="2545942">
                  <a:extLst>
                    <a:ext uri="{9D8B030D-6E8A-4147-A177-3AD203B41FA5}">
                      <a16:colId xmlns:a16="http://schemas.microsoft.com/office/drawing/2014/main" val="2287332540"/>
                    </a:ext>
                  </a:extLst>
                </a:gridCol>
              </a:tblGrid>
              <a:tr h="434803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32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Property</a:t>
                      </a:r>
                      <a:endParaRPr lang="en-IN" sz="3200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40294" marR="40294" marT="26863" marB="2686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32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Alpha</a:t>
                      </a:r>
                      <a:endParaRPr lang="en-IN" sz="3200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40294" marR="40294" marT="26863" marB="2686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3200" b="1" dirty="0">
                          <a:solidFill>
                            <a:schemeClr val="bg1"/>
                          </a:solidFill>
                          <a:effectLst/>
                        </a:rPr>
                        <a:t>Beta</a:t>
                      </a:r>
                      <a:endParaRPr lang="en-IN" sz="3200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40294" marR="40294" marT="26863" marB="2686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32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Gamma</a:t>
                      </a:r>
                      <a:endParaRPr lang="en-IN" sz="3200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40294" marR="40294" marT="26863" marB="2686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7100121"/>
                  </a:ext>
                </a:extLst>
              </a:tr>
              <a:tr h="497989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800" b="0" i="1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Charge</a:t>
                      </a:r>
                      <a:endParaRPr lang="en-IN" sz="2800" b="0" i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40294" marR="40294" marT="26863" marB="2686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800" dirty="0">
                          <a:solidFill>
                            <a:schemeClr val="bg1"/>
                          </a:solidFill>
                          <a:effectLst/>
                        </a:rPr>
                        <a:t>2e</a:t>
                      </a:r>
                    </a:p>
                  </a:txBody>
                  <a:tcPr marL="40294" marR="40294" marT="26863" marB="2686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2800" dirty="0">
                          <a:solidFill>
                            <a:schemeClr val="bg1"/>
                          </a:solidFill>
                          <a:effectLst/>
                        </a:rPr>
                        <a:t>e</a:t>
                      </a:r>
                      <a:endParaRPr lang="en-IN" sz="28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40294" marR="40294" marT="26863" marB="2686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2800" dirty="0">
                          <a:solidFill>
                            <a:schemeClr val="bg1"/>
                          </a:solidFill>
                          <a:effectLst/>
                        </a:rPr>
                        <a:t>0</a:t>
                      </a:r>
                      <a:endParaRPr lang="en-IN" sz="28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40294" marR="40294" marT="26863" marB="2686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6760277"/>
                  </a:ext>
                </a:extLst>
              </a:tr>
              <a:tr h="94029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800" b="0" i="1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Mass</a:t>
                      </a:r>
                      <a:endParaRPr lang="en-IN" sz="2800" b="0" i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40294" marR="40294" marT="26863" marB="2686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2800" dirty="0">
                          <a:solidFill>
                            <a:schemeClr val="bg1"/>
                          </a:solidFill>
                          <a:effectLst/>
                        </a:rPr>
                        <a:t>max</a:t>
                      </a:r>
                      <a:endParaRPr lang="en-IN" sz="28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40294" marR="40294" marT="26863" marB="2686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IN" sz="28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40294" marR="40294" marT="26863" marB="2686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br>
                        <a:rPr lang="en-IN" sz="280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IN" sz="2800" dirty="0">
                          <a:solidFill>
                            <a:schemeClr val="bg1"/>
                          </a:solidFill>
                          <a:effectLst/>
                        </a:rPr>
                        <a:t>least</a:t>
                      </a:r>
                    </a:p>
                  </a:txBody>
                  <a:tcPr marL="40294" marR="40294" marT="26863" marB="2686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5791859"/>
                  </a:ext>
                </a:extLst>
              </a:tr>
              <a:tr h="94029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800" b="0" i="1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Penetration</a:t>
                      </a:r>
                      <a:endParaRPr lang="en-IN" sz="2800" b="0" i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40294" marR="40294" marT="26863" marB="2686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800" dirty="0">
                          <a:solidFill>
                            <a:schemeClr val="bg1"/>
                          </a:solidFill>
                          <a:effectLst/>
                        </a:rPr>
                        <a:t>least</a:t>
                      </a:r>
                    </a:p>
                  </a:txBody>
                  <a:tcPr marL="40294" marR="40294" marT="26863" marB="2686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IN" sz="28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40294" marR="40294" marT="26863" marB="2686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br>
                        <a:rPr lang="en-IN" sz="280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IN" sz="2800" dirty="0">
                          <a:solidFill>
                            <a:schemeClr val="bg1"/>
                          </a:solidFill>
                          <a:effectLst/>
                        </a:rPr>
                        <a:t>max</a:t>
                      </a:r>
                    </a:p>
                  </a:txBody>
                  <a:tcPr marL="40294" marR="40294" marT="26863" marB="2686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7777554"/>
                  </a:ext>
                </a:extLst>
              </a:tr>
              <a:tr h="94029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800" b="0" i="1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Ionizing </a:t>
                      </a:r>
                      <a:endParaRPr lang="en-IN" sz="2800" b="0" i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40294" marR="40294" marT="26863" marB="2686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800" dirty="0">
                          <a:solidFill>
                            <a:schemeClr val="bg1"/>
                          </a:solidFill>
                          <a:effectLst/>
                        </a:rPr>
                        <a:t>max</a:t>
                      </a:r>
                    </a:p>
                  </a:txBody>
                  <a:tcPr marL="40294" marR="40294" marT="26863" marB="2686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IN" sz="28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40294" marR="40294" marT="26863" marB="2686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br>
                        <a:rPr lang="en-IN" sz="280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IN" sz="2800" dirty="0">
                          <a:solidFill>
                            <a:schemeClr val="bg1"/>
                          </a:solidFill>
                          <a:effectLst/>
                        </a:rPr>
                        <a:t>least</a:t>
                      </a:r>
                    </a:p>
                  </a:txBody>
                  <a:tcPr marL="40294" marR="40294" marT="26863" marB="2686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8609724"/>
                  </a:ext>
                </a:extLst>
              </a:tr>
              <a:tr h="94029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800" b="0" i="1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Velocity </a:t>
                      </a:r>
                      <a:endParaRPr lang="en-IN" sz="2800" b="0" i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40294" marR="40294" marT="26863" marB="2686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800" dirty="0">
                          <a:solidFill>
                            <a:schemeClr val="bg1"/>
                          </a:solidFill>
                          <a:effectLst/>
                        </a:rPr>
                        <a:t>least</a:t>
                      </a:r>
                    </a:p>
                  </a:txBody>
                  <a:tcPr marL="40294" marR="40294" marT="26863" marB="2686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IN" sz="28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40294" marR="40294" marT="26863" marB="2686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800" dirty="0">
                          <a:solidFill>
                            <a:schemeClr val="bg1"/>
                          </a:solidFill>
                          <a:effectLst/>
                        </a:rPr>
                        <a:t>max</a:t>
                      </a:r>
                      <a:br>
                        <a:rPr lang="en-IN" sz="2800" dirty="0">
                          <a:solidFill>
                            <a:schemeClr val="bg1"/>
                          </a:solidFill>
                          <a:effectLst/>
                        </a:rPr>
                      </a:br>
                      <a:endParaRPr lang="en-IN" sz="28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40294" marR="40294" marT="26863" marB="2686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7977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99380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>
                <a:solidFill>
                  <a:schemeClr val="bg1"/>
                </a:solidFill>
              </a:rPr>
              <a:t>17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2C9DFBED-0159-4EAC-AAAF-5AA47CA2F8A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1296988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Important Point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543530" y="707287"/>
                <a:ext cx="10623457" cy="44012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GB" sz="2800" i="1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Electron capture is followed by x rays</a:t>
                </a:r>
                <a:endParaRPr lang="en-GB" sz="2800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GB" sz="2800" i="1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Neutrino was first discovered in electron capture</a:t>
                </a:r>
                <a:endParaRPr lang="en-GB" sz="2800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GB" sz="2800" i="1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Neutrino was theoretically discovered as LHS and RHS don’t follow conservation of energy and momentum</a:t>
                </a:r>
                <a:endParaRPr lang="en-GB" sz="2800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GB" sz="2800" i="1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If mass difference is less than 2m</a:t>
                </a:r>
                <a:r>
                  <a:rPr lang="en-GB" sz="2800" i="1" baseline="-25000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e </a:t>
                </a:r>
                <a:r>
                  <a:rPr lang="en-GB" sz="2800" i="1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than electron capture happen</a:t>
                </a:r>
                <a:endParaRPr lang="en-GB" sz="2800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GB" sz="2800" i="1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Recoil velocity</a:t>
                </a:r>
                <a:endParaRPr lang="en-GB" sz="2800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GB" sz="2800" i="1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Initially all form is in form of kinetic energy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GB" sz="2800" i="1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Nuclear medicine PET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GB" sz="2800" i="1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Carbon dating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GB" sz="2800" i="1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X(</a:t>
                </a:r>
                <a:r>
                  <a:rPr lang="en-GB" sz="2800" i="1" dirty="0" err="1">
                    <a:solidFill>
                      <a:schemeClr val="bg1"/>
                    </a:solidFill>
                    <a:latin typeface="Calibri" panose="020F0502020204030204" pitchFamily="34" charset="0"/>
                  </a:rPr>
                  <a:t>a,b</a:t>
                </a:r>
                <a:r>
                  <a:rPr lang="en-GB" sz="2800" i="1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)Y mean’s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8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8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−−&gt;</m:t>
                    </m:r>
                    <m:r>
                      <a:rPr lang="en-IN" sz="2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28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30" y="707287"/>
                <a:ext cx="10623457" cy="4401205"/>
              </a:xfrm>
              <a:prstGeom prst="rect">
                <a:avLst/>
              </a:prstGeom>
              <a:blipFill>
                <a:blip r:embed="rId3"/>
                <a:stretch>
                  <a:fillRect l="-975" t="-1247" b="-30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5840060"/>
      </p:ext>
    </p:extLst>
  </p:cSld>
  <p:clrMapOvr>
    <a:masterClrMapping/>
  </p:clrMapOvr>
</p:sld>
</file>

<file path=ppt/theme/theme1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24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a6e671f1cd7e4d96ff9652be322dd5e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e2496f70b101db0b8013f30a071bbf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A09386F-CDB5-4CE9-AE70-AE4E53A6335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C65060F-1094-41F3-95E3-03DA10677C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18F16D9-EB65-4F11-9CD9-58377B437CF8}">
  <ds:schemaRefs>
    <ds:schemaRef ds:uri="http://schemas.openxmlformats.org/package/2006/metadata/core-properties"/>
    <ds:schemaRef ds:uri="http://purl.org/dc/terms/"/>
    <ds:schemaRef ds:uri="http://purl.org/dc/elements/1.1/"/>
    <ds:schemaRef ds:uri="http://schemas.microsoft.com/office/2006/documentManagement/types"/>
    <ds:schemaRef ds:uri="http://schemas.microsoft.com/office/2006/metadata/properties"/>
    <ds:schemaRef ds:uri="16c05727-aa75-4e4a-9b5f-8a80a1165891"/>
    <ds:schemaRef ds:uri="71af3243-3dd4-4a8d-8c0d-dd76da1f02a5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Vidyapeeth_PPT_Template (2)</Template>
  <TotalTime>0</TotalTime>
  <Words>647</Words>
  <Application>Microsoft Office PowerPoint</Application>
  <PresentationFormat>Widescreen</PresentationFormat>
  <Paragraphs>190</Paragraphs>
  <Slides>17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Arial</vt:lpstr>
      <vt:lpstr>Calibri</vt:lpstr>
      <vt:lpstr>Cambria Math</vt:lpstr>
      <vt:lpstr>Noto Sans Symbols</vt:lpstr>
      <vt:lpstr>Wingdings</vt:lpstr>
      <vt:lpstr>6_Custom Design</vt:lpstr>
      <vt:lpstr>PowerPoint Presentation</vt:lpstr>
      <vt:lpstr>Radioactive laws</vt:lpstr>
      <vt:lpstr>PowerPoint Presentation</vt:lpstr>
      <vt:lpstr>Mean life(just remember answer)</vt:lpstr>
      <vt:lpstr>PowerPoint Presentation</vt:lpstr>
      <vt:lpstr>PowerPoint Presentation</vt:lpstr>
      <vt:lpstr>Simultaneous decay</vt:lpstr>
      <vt:lpstr>Cascade decay</vt:lpstr>
      <vt:lpstr>PowerPoint Presentation</vt:lpstr>
      <vt:lpstr>PowerPoint Presentation</vt:lpstr>
      <vt:lpstr>Alpha decay</vt:lpstr>
      <vt:lpstr>Beta decay</vt:lpstr>
      <vt:lpstr>Proof</vt:lpstr>
      <vt:lpstr>Beta decay</vt:lpstr>
      <vt:lpstr>Gamma decay</vt:lpstr>
      <vt:lpstr>Compare</vt:lpstr>
      <vt:lpstr>Important 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2021-05-20T11:59:18Z</dcterms:created>
  <dcterms:modified xsi:type="dcterms:W3CDTF">2025-10-16T15:16:43Z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