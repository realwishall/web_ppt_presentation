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796" r:id="rId4"/>
  </p:sldMasterIdLst>
  <p:notesMasterIdLst>
    <p:notesMasterId r:id="rId29"/>
  </p:notesMasterIdLst>
  <p:handoutMasterIdLst>
    <p:handoutMasterId r:id="rId30"/>
  </p:handoutMasterIdLst>
  <p:sldIdLst>
    <p:sldId id="474" r:id="rId5"/>
    <p:sldId id="1693" r:id="rId6"/>
    <p:sldId id="1702" r:id="rId7"/>
    <p:sldId id="1703" r:id="rId8"/>
    <p:sldId id="1714" r:id="rId9"/>
    <p:sldId id="1721" r:id="rId10"/>
    <p:sldId id="1680" r:id="rId11"/>
    <p:sldId id="1720" r:id="rId12"/>
    <p:sldId id="1681" r:id="rId13"/>
    <p:sldId id="1723" r:id="rId14"/>
    <p:sldId id="1707" r:id="rId15"/>
    <p:sldId id="1722" r:id="rId16"/>
    <p:sldId id="1261" r:id="rId17"/>
    <p:sldId id="1710" r:id="rId18"/>
    <p:sldId id="1700" r:id="rId19"/>
    <p:sldId id="1711" r:id="rId20"/>
    <p:sldId id="1724" r:id="rId21"/>
    <p:sldId id="1682" r:id="rId22"/>
    <p:sldId id="1701" r:id="rId23"/>
    <p:sldId id="1725" r:id="rId24"/>
    <p:sldId id="1685" r:id="rId25"/>
    <p:sldId id="1726" r:id="rId26"/>
    <p:sldId id="1280" r:id="rId27"/>
    <p:sldId id="1717" r:id="rId28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uclei" id="{BCD2F0CA-40CC-4533-B914-94963AA70D53}">
          <p14:sldIdLst>
            <p14:sldId id="474"/>
            <p14:sldId id="1693"/>
            <p14:sldId id="1702"/>
            <p14:sldId id="1703"/>
            <p14:sldId id="1714"/>
            <p14:sldId id="1721"/>
            <p14:sldId id="1680"/>
            <p14:sldId id="1720"/>
            <p14:sldId id="1681"/>
            <p14:sldId id="1723"/>
            <p14:sldId id="1707"/>
            <p14:sldId id="1722"/>
            <p14:sldId id="1261"/>
            <p14:sldId id="1710"/>
            <p14:sldId id="1700"/>
            <p14:sldId id="1711"/>
            <p14:sldId id="1724"/>
            <p14:sldId id="1682"/>
            <p14:sldId id="1701"/>
            <p14:sldId id="1725"/>
            <p14:sldId id="1685"/>
            <p14:sldId id="1726"/>
            <p14:sldId id="1280"/>
            <p14:sldId id="17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249" autoAdjust="0"/>
  </p:normalViewPr>
  <p:slideViewPr>
    <p:cSldViewPr snapToGrid="0" showGuides="1">
      <p:cViewPr varScale="1">
        <p:scale>
          <a:sx n="82" d="100"/>
          <a:sy n="82" d="100"/>
        </p:scale>
        <p:origin x="874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10/21/2025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65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93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210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8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4D0534-12C5-4DB7-B1A1-72D4D7951E34}" type="datetime1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2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FC79FA-57A5-41E3-B263-29C3918BDF21}" type="datetime1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97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7EBCA4-F525-4E38-9026-70CB528E5E89}" type="datetime1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3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434E5-6033-4923-84C6-045F45F6CB36}" type="datetime1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06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F9295-DB07-4B9C-A333-8E554585308B}" type="datetime1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58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92031E-E322-4CE7-A488-33C6334C6E9F}" type="datetime1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8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D1977D-6ACC-4892-9AFD-5500BB2F75C9}" type="datetime1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3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412B7E-B26D-4681-8CC1-3FADC735F3DC}" type="datetime1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18DA1D-5078-4CC4-A187-50F9620FA7C6}" type="datetime1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77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7F1D4F-9118-4A4B-B453-2C07E637A3E3}" type="datetime1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5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FB492C-1BB6-4715-895F-089639E4F1FA}" type="datetime1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81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0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hyperlink" Target="https://thecontentauthority.com/blog/nucleus-vs-nuclei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1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42.png"/><Relationship Id="rId21" Type="http://schemas.openxmlformats.org/officeDocument/2006/relationships/image" Target="../media/image67.png"/><Relationship Id="rId34" Type="http://schemas.openxmlformats.org/officeDocument/2006/relationships/image" Target="../media/image8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80.png"/><Relationship Id="rId2" Type="http://schemas.openxmlformats.org/officeDocument/2006/relationships/image" Target="../media/image41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70.png"/><Relationship Id="rId32" Type="http://schemas.openxmlformats.org/officeDocument/2006/relationships/image" Target="../media/image79.png"/><Relationship Id="rId5" Type="http://schemas.openxmlformats.org/officeDocument/2006/relationships/image" Target="../media/image44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36" Type="http://schemas.openxmlformats.org/officeDocument/2006/relationships/image" Target="../media/image84.png"/><Relationship Id="rId10" Type="http://schemas.openxmlformats.org/officeDocument/2006/relationships/image" Target="../media/image49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83.png"/><Relationship Id="rId8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png"/><Relationship Id="rId13" Type="http://schemas.openxmlformats.org/officeDocument/2006/relationships/image" Target="../media/image322.png"/><Relationship Id="rId3" Type="http://schemas.openxmlformats.org/officeDocument/2006/relationships/image" Target="../media/image220.png"/><Relationship Id="rId7" Type="http://schemas.openxmlformats.org/officeDocument/2006/relationships/image" Target="../media/image261.png"/><Relationship Id="rId12" Type="http://schemas.openxmlformats.org/officeDocument/2006/relationships/image" Target="../media/image4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1.png"/><Relationship Id="rId11" Type="http://schemas.openxmlformats.org/officeDocument/2006/relationships/image" Target="../media/image301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Relationship Id="rId9" Type="http://schemas.openxmlformats.org/officeDocument/2006/relationships/image" Target="../media/image4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png"/><Relationship Id="rId3" Type="http://schemas.openxmlformats.org/officeDocument/2006/relationships/image" Target="../media/image86.png"/><Relationship Id="rId7" Type="http://schemas.openxmlformats.org/officeDocument/2006/relationships/image" Target="../media/image441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1.png"/><Relationship Id="rId11" Type="http://schemas.openxmlformats.org/officeDocument/2006/relationships/image" Target="../media/image481.png"/><Relationship Id="rId5" Type="http://schemas.openxmlformats.org/officeDocument/2006/relationships/image" Target="../media/image88.png"/><Relationship Id="rId10" Type="http://schemas.openxmlformats.org/officeDocument/2006/relationships/image" Target="../media/image471.png"/><Relationship Id="rId4" Type="http://schemas.openxmlformats.org/officeDocument/2006/relationships/image" Target="../media/image87.png"/><Relationship Id="rId9" Type="http://schemas.openxmlformats.org/officeDocument/2006/relationships/image" Target="../media/image46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gif"/><Relationship Id="rId7" Type="http://schemas.openxmlformats.org/officeDocument/2006/relationships/image" Target="../media/image119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0.png"/><Relationship Id="rId4" Type="http://schemas.openxmlformats.org/officeDocument/2006/relationships/image" Target="../media/image1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eep Learning's Uncertainty Principle - Intuition Machine ...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" y="-1"/>
            <a:ext cx="6858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 txBox="1">
            <a:spLocks/>
          </p:cNvSpPr>
          <p:nvPr/>
        </p:nvSpPr>
        <p:spPr>
          <a:xfrm>
            <a:off x="828675" y="5120639"/>
            <a:ext cx="7137263" cy="1280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dirty="0">
                <a:solidFill>
                  <a:srgbClr val="FFFFFF"/>
                </a:solidFill>
              </a:rPr>
              <a:t>Nuclei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 txBox="1">
            <a:spLocks/>
          </p:cNvSpPr>
          <p:nvPr/>
        </p:nvSpPr>
        <p:spPr>
          <a:xfrm>
            <a:off x="8289580" y="5166359"/>
            <a:ext cx="3073745" cy="1188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You need 100% in this then all is fine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65447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01FC3-C20C-7915-60FC-77201108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" y="1931438"/>
            <a:ext cx="11721570" cy="116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0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tomic GIF">
            <a:extLst>
              <a:ext uri="{FF2B5EF4-FFF2-40B4-BE49-F238E27FC236}">
                <a16:creationId xmlns:a16="http://schemas.microsoft.com/office/drawing/2014/main" id="{B21B00B0-70AF-C28C-EC4C-0809E79AAAB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8" y="87923"/>
            <a:ext cx="12166287" cy="673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F0F459C-90EC-5222-9836-5C57244C4F17}"/>
              </a:ext>
            </a:extLst>
          </p:cNvPr>
          <p:cNvSpPr/>
          <p:nvPr/>
        </p:nvSpPr>
        <p:spPr>
          <a:xfrm>
            <a:off x="4427991" y="1615440"/>
            <a:ext cx="3352800" cy="3393440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04EA2-17BC-860A-621C-758EB40A10CC}"/>
              </a:ext>
            </a:extLst>
          </p:cNvPr>
          <p:cNvSpPr txBox="1"/>
          <p:nvPr/>
        </p:nvSpPr>
        <p:spPr>
          <a:xfrm>
            <a:off x="7884047" y="490230"/>
            <a:ext cx="402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This is called 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47CC6A-A7B4-248E-5243-FE88B27E5DA6}"/>
                  </a:ext>
                </a:extLst>
              </p:cNvPr>
              <p:cNvSpPr txBox="1"/>
              <p:nvPr/>
            </p:nvSpPr>
            <p:spPr>
              <a:xfrm>
                <a:off x="7884047" y="1109990"/>
                <a:ext cx="402336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It’s size is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______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times of the size of atom or say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47CC6A-A7B4-248E-5243-FE88B27E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47" y="1109990"/>
                <a:ext cx="4023360" cy="954107"/>
              </a:xfrm>
              <a:prstGeom prst="rect">
                <a:avLst/>
              </a:prstGeom>
              <a:blipFill>
                <a:blip r:embed="rId3"/>
                <a:stretch>
                  <a:fillRect l="-3030" t="-5732" b="-17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2B9419-01D9-870D-DE9A-CA82B80A4CAE}"/>
                  </a:ext>
                </a:extLst>
              </p:cNvPr>
              <p:cNvSpPr txBox="1"/>
              <p:nvPr/>
            </p:nvSpPr>
            <p:spPr>
              <a:xfrm>
                <a:off x="7884047" y="2095510"/>
                <a:ext cx="402336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It’s volume is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_______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times of the volume of atom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2B9419-01D9-870D-DE9A-CA82B80A4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47" y="2095510"/>
                <a:ext cx="4023360" cy="954107"/>
              </a:xfrm>
              <a:prstGeom prst="rect">
                <a:avLst/>
              </a:prstGeom>
              <a:blipFill>
                <a:blip r:embed="rId4"/>
                <a:stretch>
                  <a:fillRect l="-3030" t="-6410" r="-3333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09623C6-8AA2-7A71-6A98-FBBCC972689D}"/>
              </a:ext>
            </a:extLst>
          </p:cNvPr>
          <p:cNvSpPr txBox="1"/>
          <p:nvPr/>
        </p:nvSpPr>
        <p:spPr>
          <a:xfrm>
            <a:off x="7884047" y="2979529"/>
            <a:ext cx="402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It consist of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EC9DF-3985-1193-8BF6-CB35DE00439D}"/>
              </a:ext>
            </a:extLst>
          </p:cNvPr>
          <p:cNvSpPr txBox="1"/>
          <p:nvPr/>
        </p:nvSpPr>
        <p:spPr>
          <a:xfrm>
            <a:off x="9641727" y="3003451"/>
            <a:ext cx="2442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Proton and neutron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05379-BB1F-E84A-9322-6DA41AEE35F5}"/>
              </a:ext>
            </a:extLst>
          </p:cNvPr>
          <p:cNvSpPr txBox="1"/>
          <p:nvPr/>
        </p:nvSpPr>
        <p:spPr>
          <a:xfrm>
            <a:off x="9895727" y="393571"/>
            <a:ext cx="2092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0" i="0" dirty="0">
                <a:solidFill>
                  <a:srgbClr val="FFFF00"/>
                </a:solidFill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Nucleus</a:t>
            </a:r>
            <a:endParaRPr lang="en-IN" sz="28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8A2140-CC9D-0AC9-B068-F6D8C1574036}"/>
                  </a:ext>
                </a:extLst>
              </p:cNvPr>
              <p:cNvSpPr txBox="1"/>
              <p:nvPr/>
            </p:nvSpPr>
            <p:spPr>
              <a:xfrm>
                <a:off x="9286240" y="1063823"/>
                <a:ext cx="10564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8A2140-CC9D-0AC9-B068-F6D8C157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240" y="1063823"/>
                <a:ext cx="10564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B999-C31B-F6AB-1973-154001F80673}"/>
                  </a:ext>
                </a:extLst>
              </p:cNvPr>
              <p:cNvSpPr txBox="1"/>
              <p:nvPr/>
            </p:nvSpPr>
            <p:spPr>
              <a:xfrm>
                <a:off x="9956630" y="2029053"/>
                <a:ext cx="10564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B999-C31B-F6AB-1973-154001F80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30" y="2029053"/>
                <a:ext cx="105641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18CCC40-4D67-7C26-96DB-727BB7D89588}"/>
              </a:ext>
            </a:extLst>
          </p:cNvPr>
          <p:cNvSpPr txBox="1"/>
          <p:nvPr/>
        </p:nvSpPr>
        <p:spPr>
          <a:xfrm>
            <a:off x="9611627" y="3965049"/>
            <a:ext cx="2442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Can not have electron inside it.</a:t>
            </a:r>
          </a:p>
        </p:txBody>
      </p:sp>
    </p:spTree>
    <p:extLst>
      <p:ext uri="{BB962C8B-B14F-4D97-AF65-F5344CB8AC3E}">
        <p14:creationId xmlns:p14="http://schemas.microsoft.com/office/powerpoint/2010/main" val="316949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2">
            <a:extLst>
              <a:ext uri="{FF2B5EF4-FFF2-40B4-BE49-F238E27FC236}">
                <a16:creationId xmlns:a16="http://schemas.microsoft.com/office/drawing/2014/main" id="{84BE4C2F-76D0-0674-A870-EBEAF6D9DBC5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15007-4B0B-54B5-CD11-B09B7FEBE3AA}"/>
              </a:ext>
            </a:extLst>
          </p:cNvPr>
          <p:cNvSpPr txBox="1"/>
          <p:nvPr/>
        </p:nvSpPr>
        <p:spPr>
          <a:xfrm>
            <a:off x="371062" y="261468"/>
            <a:ext cx="32878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Who discovered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54A37-3901-0959-88C5-367B0CC4E643}"/>
              </a:ext>
            </a:extLst>
          </p:cNvPr>
          <p:cNvSpPr txBox="1"/>
          <p:nvPr/>
        </p:nvSpPr>
        <p:spPr>
          <a:xfrm>
            <a:off x="214327" y="890806"/>
            <a:ext cx="1889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Electron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9321B-89A2-84CC-9DC1-66DBEB051F71}"/>
              </a:ext>
            </a:extLst>
          </p:cNvPr>
          <p:cNvSpPr txBox="1"/>
          <p:nvPr/>
        </p:nvSpPr>
        <p:spPr>
          <a:xfrm>
            <a:off x="214327" y="1769646"/>
            <a:ext cx="1889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Proton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24FB7-8023-9C38-CCB5-29866D44E8AF}"/>
              </a:ext>
            </a:extLst>
          </p:cNvPr>
          <p:cNvSpPr txBox="1"/>
          <p:nvPr/>
        </p:nvSpPr>
        <p:spPr>
          <a:xfrm>
            <a:off x="667538" y="1251342"/>
            <a:ext cx="2046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J </a:t>
            </a:r>
            <a:r>
              <a:rPr lang="en-IN" sz="2800" dirty="0" err="1">
                <a:solidFill>
                  <a:schemeClr val="bg1"/>
                </a:solidFill>
              </a:rPr>
              <a:t>J</a:t>
            </a:r>
            <a:r>
              <a:rPr lang="en-IN" sz="2800" dirty="0">
                <a:solidFill>
                  <a:schemeClr val="bg1"/>
                </a:solidFill>
              </a:rPr>
              <a:t> Thomson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17BD65-0D5E-4CCE-A316-F019ABB7D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199" y="391990"/>
            <a:ext cx="5067791" cy="36030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779CF8-9A91-48E4-1C8B-5C919C4E7948}"/>
              </a:ext>
            </a:extLst>
          </p:cNvPr>
          <p:cNvSpPr txBox="1"/>
          <p:nvPr/>
        </p:nvSpPr>
        <p:spPr>
          <a:xfrm>
            <a:off x="665326" y="2224695"/>
            <a:ext cx="2051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E. Goldstein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2B16E-03B1-789A-BD91-2B41E4979060}"/>
              </a:ext>
            </a:extLst>
          </p:cNvPr>
          <p:cNvSpPr txBox="1"/>
          <p:nvPr/>
        </p:nvSpPr>
        <p:spPr>
          <a:xfrm>
            <a:off x="667537" y="2646743"/>
            <a:ext cx="2861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Ernest Rutherford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FAB74-26C6-410E-C8C1-FFE19FB44C5B}"/>
              </a:ext>
            </a:extLst>
          </p:cNvPr>
          <p:cNvSpPr txBox="1"/>
          <p:nvPr/>
        </p:nvSpPr>
        <p:spPr>
          <a:xfrm>
            <a:off x="214327" y="3126006"/>
            <a:ext cx="1889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Nucleus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8A550-7A76-BE86-1539-EF8B231AC255}"/>
              </a:ext>
            </a:extLst>
          </p:cNvPr>
          <p:cNvSpPr txBox="1"/>
          <p:nvPr/>
        </p:nvSpPr>
        <p:spPr>
          <a:xfrm>
            <a:off x="214327" y="3953177"/>
            <a:ext cx="1889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Neutron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8636B-1A23-5871-E92D-86460F6F2470}"/>
              </a:ext>
            </a:extLst>
          </p:cNvPr>
          <p:cNvSpPr txBox="1"/>
          <p:nvPr/>
        </p:nvSpPr>
        <p:spPr>
          <a:xfrm>
            <a:off x="667537" y="3490840"/>
            <a:ext cx="2861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Ernest Rutherford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057411-8D96-923F-E019-8B3F90DA3999}"/>
              </a:ext>
            </a:extLst>
          </p:cNvPr>
          <p:cNvSpPr txBox="1"/>
          <p:nvPr/>
        </p:nvSpPr>
        <p:spPr>
          <a:xfrm>
            <a:off x="667537" y="4391978"/>
            <a:ext cx="28613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James Chadwick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85121E-7BB5-2420-B33D-5CB7C369E0BD}"/>
              </a:ext>
            </a:extLst>
          </p:cNvPr>
          <p:cNvSpPr txBox="1"/>
          <p:nvPr/>
        </p:nvSpPr>
        <p:spPr>
          <a:xfrm>
            <a:off x="3708400" y="4218149"/>
            <a:ext cx="8483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FFFF00"/>
                </a:solidFill>
              </a:rPr>
              <a:t>James Chadwick who observed emission of neutral radiation when beryllium nuclei were bombarded with alpha-particles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1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16" grpId="0"/>
      <p:bldP spid="2" grpId="0"/>
      <p:bldP spid="9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8107C4-9D98-5125-35F3-A08933FC7B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9F93D4-3EB0-941B-3529-607CA31A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" y="0"/>
            <a:ext cx="11603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BF2832-CEB1-5118-7D33-1A22E54EC442}"/>
              </a:ext>
            </a:extLst>
          </p:cNvPr>
          <p:cNvSpPr/>
          <p:nvPr/>
        </p:nvSpPr>
        <p:spPr>
          <a:xfrm>
            <a:off x="6777093" y="550506"/>
            <a:ext cx="1087843" cy="1175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301D9EC-C1AC-FED4-405B-82DA56988267}"/>
                  </a:ext>
                </a:extLst>
              </p:cNvPr>
              <p:cNvSpPr/>
              <p:nvPr/>
            </p:nvSpPr>
            <p:spPr>
              <a:xfrm>
                <a:off x="6777094" y="806712"/>
                <a:ext cx="1087843" cy="6572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IN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IN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IN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</m:oMath>
                  </m:oMathPara>
                </a14:m>
                <a:endParaRPr lang="en-IN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301D9EC-C1AC-FED4-405B-82DA56988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094" y="806712"/>
                <a:ext cx="1087843" cy="657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39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8735913-51DE-63D1-E693-CE95F44AB5D4}"/>
              </a:ext>
            </a:extLst>
          </p:cNvPr>
          <p:cNvGrpSpPr/>
          <p:nvPr/>
        </p:nvGrpSpPr>
        <p:grpSpPr>
          <a:xfrm>
            <a:off x="3795395" y="2986007"/>
            <a:ext cx="3329758" cy="718359"/>
            <a:chOff x="3795395" y="2986007"/>
            <a:chExt cx="3329758" cy="718359"/>
          </a:xfrm>
        </p:grpSpPr>
        <p:sp>
          <p:nvSpPr>
            <p:cNvPr id="2" name="Freeform 62">
              <a:extLst>
                <a:ext uri="{FF2B5EF4-FFF2-40B4-BE49-F238E27FC236}">
                  <a16:creationId xmlns:a16="http://schemas.microsoft.com/office/drawing/2014/main" id="{FEB76D8E-B084-AD4F-D9EC-AD58C184E9A4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795395" y="3524356"/>
              <a:ext cx="2046675" cy="180010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FF7B25-CDAF-DF87-26CC-A09C6F6CAE79}"/>
                </a:ext>
              </a:extLst>
            </p:cNvPr>
            <p:cNvSpPr txBox="1"/>
            <p:nvPr/>
          </p:nvSpPr>
          <p:spPr>
            <a:xfrm>
              <a:off x="3795395" y="2986007"/>
              <a:ext cx="33297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Nuclear 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201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25584" y="1493033"/>
            <a:ext cx="2116345" cy="1363715"/>
            <a:chOff x="1110432" y="3170350"/>
            <a:chExt cx="2116345" cy="1363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1110432" y="3575711"/>
                  <a:ext cx="1087843" cy="65729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IN" sz="36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IN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IN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en-IN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</m:oMath>
                    </m:oMathPara>
                  </a14:m>
                  <a:endParaRPr lang="en-IN" sz="3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32" y="3575711"/>
                  <a:ext cx="1087843" cy="65729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Curved Connector 5"/>
            <p:cNvCxnSpPr/>
            <p:nvPr/>
          </p:nvCxnSpPr>
          <p:spPr>
            <a:xfrm flipV="1">
              <a:off x="1654353" y="3170350"/>
              <a:ext cx="1572424" cy="51360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urved Connector 6"/>
            <p:cNvCxnSpPr/>
            <p:nvPr/>
          </p:nvCxnSpPr>
          <p:spPr>
            <a:xfrm>
              <a:off x="1600306" y="4161159"/>
              <a:ext cx="1538259" cy="37290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715818" y="1217053"/>
            <a:ext cx="4158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FFFF00"/>
                </a:solidFill>
              </a:rPr>
              <a:t>Atomic Mass number</a:t>
            </a:r>
            <a:endParaRPr lang="en-IN" sz="3000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5819" y="2579749"/>
            <a:ext cx="27686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FFFF00"/>
                </a:solidFill>
              </a:rPr>
              <a:t>Atomic Number</a:t>
            </a:r>
            <a:endParaRPr lang="en-IN" sz="3000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97638" y="1654632"/>
            <a:ext cx="8005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chemeClr val="bg1"/>
                </a:solidFill>
              </a:rPr>
              <a:t>Total number of proton(Z or P) and neutron(N) called nucleon</a:t>
            </a:r>
            <a:endParaRPr lang="en-IN" sz="3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9653" y="3195321"/>
            <a:ext cx="4026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chemeClr val="bg1"/>
                </a:solidFill>
              </a:rPr>
              <a:t>Total number of proton</a:t>
            </a:r>
            <a:endParaRPr lang="en-IN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31247" y="4875301"/>
                <a:ext cx="48145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𝐴𝑡𝑜𝑚𝑖𝑐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𝑗𝑢𝑠𝑡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m:rPr>
                          <m:nor/>
                        </m:rP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𝑎𝑡𝑜𝑚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47" y="4875301"/>
                <a:ext cx="4814588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 62">
            <a:extLst>
              <a:ext uri="{FF2B5EF4-FFF2-40B4-BE49-F238E27FC236}">
                <a16:creationId xmlns:a16="http://schemas.microsoft.com/office/drawing/2014/main" id="{ABB476F5-3F76-C3B0-D9EE-85B4D819795D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4254B-7858-37F8-2D66-45D40A665848}"/>
              </a:ext>
            </a:extLst>
          </p:cNvPr>
          <p:cNvSpPr txBox="1"/>
          <p:nvPr/>
        </p:nvSpPr>
        <p:spPr>
          <a:xfrm>
            <a:off x="371062" y="261468"/>
            <a:ext cx="3329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Nuclear notation</a:t>
            </a:r>
          </a:p>
        </p:txBody>
      </p:sp>
    </p:spTree>
    <p:extLst>
      <p:ext uri="{BB962C8B-B14F-4D97-AF65-F5344CB8AC3E}">
        <p14:creationId xmlns:p14="http://schemas.microsoft.com/office/powerpoint/2010/main" val="194087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2F2BB2E-A453-6CFF-7060-117D5C08909D}"/>
              </a:ext>
            </a:extLst>
          </p:cNvPr>
          <p:cNvGrpSpPr/>
          <p:nvPr/>
        </p:nvGrpSpPr>
        <p:grpSpPr>
          <a:xfrm>
            <a:off x="4336572" y="3013998"/>
            <a:ext cx="2827634" cy="718359"/>
            <a:chOff x="4336572" y="3013998"/>
            <a:chExt cx="2827634" cy="718359"/>
          </a:xfrm>
        </p:grpSpPr>
        <p:sp>
          <p:nvSpPr>
            <p:cNvPr id="2" name="Freeform 62">
              <a:extLst>
                <a:ext uri="{FF2B5EF4-FFF2-40B4-BE49-F238E27FC236}">
                  <a16:creationId xmlns:a16="http://schemas.microsoft.com/office/drawing/2014/main" id="{6CFE7389-7C0E-830D-33FB-F2F6CB49C302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336572" y="3552347"/>
              <a:ext cx="2046675" cy="180010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A41AB29-3976-3640-1177-3601105790F1}"/>
                </a:ext>
              </a:extLst>
            </p:cNvPr>
            <p:cNvSpPr txBox="1"/>
            <p:nvPr/>
          </p:nvSpPr>
          <p:spPr>
            <a:xfrm>
              <a:off x="4336572" y="3013998"/>
              <a:ext cx="28276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Type of nuclei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32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7809" y="1311999"/>
            <a:ext cx="19615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GB" sz="3200" dirty="0">
                <a:solidFill>
                  <a:srgbClr val="FFFF00"/>
                </a:solidFill>
                <a:latin typeface="Calibri" panose="020F0502020204030204" pitchFamily="34" charset="0"/>
              </a:rPr>
              <a:t>Isotopes</a:t>
            </a:r>
            <a:endParaRPr lang="en-GB" sz="32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7809" y="1896774"/>
            <a:ext cx="19615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GB" sz="3200" dirty="0">
                <a:solidFill>
                  <a:srgbClr val="FFFF00"/>
                </a:solidFill>
                <a:latin typeface="Calibri" panose="020F0502020204030204" pitchFamily="34" charset="0"/>
              </a:rPr>
              <a:t>Isotones</a:t>
            </a:r>
            <a:endParaRPr lang="en-GB" sz="32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7809" y="2415037"/>
            <a:ext cx="17406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GB" sz="3200" dirty="0">
                <a:solidFill>
                  <a:srgbClr val="FFFF00"/>
                </a:solidFill>
                <a:latin typeface="Calibri" panose="020F0502020204030204" pitchFamily="34" charset="0"/>
              </a:rPr>
              <a:t>Isobars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809" y="2999812"/>
            <a:ext cx="2676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GB" sz="3200" dirty="0">
                <a:solidFill>
                  <a:srgbClr val="FFFF00"/>
                </a:solidFill>
                <a:latin typeface="Calibri" panose="020F0502020204030204" pitchFamily="34" charset="0"/>
              </a:rPr>
              <a:t>Isodiapheres</a:t>
            </a:r>
            <a:endParaRPr lang="en-GB" sz="32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73749" y="2423730"/>
            <a:ext cx="3494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00"/>
                </a:solidFill>
              </a:rPr>
              <a:t>Mirror Nuclei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017759" y="3550463"/>
                <a:ext cx="37395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</m:sub>
                      </m:sSub>
                      <m:r>
                        <a:rPr lang="en-IN" sz="32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</m:sub>
                      </m:sSub>
                    </m:oMath>
                  </m:oMathPara>
                </a14:m>
                <a:endParaRPr lang="en-IN" sz="32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59" y="3550463"/>
                <a:ext cx="373955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017759" y="2965688"/>
                <a:ext cx="37395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</m:sub>
                      </m:sSub>
                      <m:r>
                        <a:rPr lang="en-IN" sz="32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</m:sub>
                      </m:sSub>
                    </m:oMath>
                  </m:oMathPara>
                </a14:m>
                <a:endParaRPr lang="en-IN" sz="32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59" y="2965688"/>
                <a:ext cx="373955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4969646" y="240637"/>
                <a:ext cx="4765214" cy="538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b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b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646" y="240637"/>
                <a:ext cx="4765214" cy="538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10472FD-1B38-8BDC-6C1B-7AF882042234}"/>
              </a:ext>
            </a:extLst>
          </p:cNvPr>
          <p:cNvSpPr/>
          <p:nvPr/>
        </p:nvSpPr>
        <p:spPr>
          <a:xfrm>
            <a:off x="3421412" y="1311999"/>
            <a:ext cx="2326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GB" sz="3200" dirty="0">
                <a:solidFill>
                  <a:schemeClr val="bg1"/>
                </a:solidFill>
                <a:latin typeface="Calibri" panose="020F0502020204030204" pitchFamily="34" charset="0"/>
              </a:rPr>
              <a:t>Same Proton</a:t>
            </a:r>
            <a:endParaRPr lang="en-GB" sz="32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779C4-7F7E-D4AF-8D9C-A7C99D4FC7F0}"/>
              </a:ext>
            </a:extLst>
          </p:cNvPr>
          <p:cNvSpPr/>
          <p:nvPr/>
        </p:nvSpPr>
        <p:spPr>
          <a:xfrm>
            <a:off x="3421412" y="1896774"/>
            <a:ext cx="25873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GB" sz="3200" dirty="0">
                <a:solidFill>
                  <a:schemeClr val="bg1"/>
                </a:solidFill>
                <a:latin typeface="Calibri" panose="020F0502020204030204" pitchFamily="34" charset="0"/>
              </a:rPr>
              <a:t>Same Neutron</a:t>
            </a:r>
            <a:endParaRPr lang="en-GB" sz="32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F2B86-EFCC-B82F-6E11-8587B5F34F21}"/>
              </a:ext>
            </a:extLst>
          </p:cNvPr>
          <p:cNvSpPr/>
          <p:nvPr/>
        </p:nvSpPr>
        <p:spPr>
          <a:xfrm>
            <a:off x="3421412" y="2415037"/>
            <a:ext cx="34018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GB" sz="3200" dirty="0">
                <a:solidFill>
                  <a:schemeClr val="bg1"/>
                </a:solidFill>
                <a:latin typeface="Calibri" panose="020F0502020204030204" pitchFamily="34" charset="0"/>
              </a:rPr>
              <a:t>Same Atomic mass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AF4BC9-83CB-35D6-1BDB-B28657B37A6E}"/>
              </a:ext>
            </a:extLst>
          </p:cNvPr>
          <p:cNvSpPr/>
          <p:nvPr/>
        </p:nvSpPr>
        <p:spPr>
          <a:xfrm>
            <a:off x="3421412" y="2999812"/>
            <a:ext cx="17780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GB" sz="3200" dirty="0">
                <a:solidFill>
                  <a:schemeClr val="bg1"/>
                </a:solidFill>
                <a:latin typeface="Calibri" panose="020F0502020204030204" pitchFamily="34" charset="0"/>
              </a:rPr>
              <a:t>Same N-Z</a:t>
            </a:r>
            <a:endParaRPr lang="en-GB" sz="3200" dirty="0">
              <a:solidFill>
                <a:schemeClr val="bg1"/>
              </a:solidFill>
              <a:latin typeface="Noto Sans Symbols"/>
            </a:endParaRPr>
          </a:p>
        </p:txBody>
      </p:sp>
      <p:sp>
        <p:nvSpPr>
          <p:cNvPr id="17" name="Freeform 62">
            <a:extLst>
              <a:ext uri="{FF2B5EF4-FFF2-40B4-BE49-F238E27FC236}">
                <a16:creationId xmlns:a16="http://schemas.microsoft.com/office/drawing/2014/main" id="{95CF12CF-EA39-78FB-9E04-E974F3634274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6B6BD-CF0D-8347-950F-1FEFBBF5161F}"/>
              </a:ext>
            </a:extLst>
          </p:cNvPr>
          <p:cNvSpPr txBox="1"/>
          <p:nvPr/>
        </p:nvSpPr>
        <p:spPr>
          <a:xfrm>
            <a:off x="371062" y="261468"/>
            <a:ext cx="28276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 of nuclei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A009BE-6702-E86C-D3B3-ADA226205DC3}"/>
              </a:ext>
            </a:extLst>
          </p:cNvPr>
          <p:cNvCxnSpPr/>
          <p:nvPr/>
        </p:nvCxnSpPr>
        <p:spPr>
          <a:xfrm>
            <a:off x="6905571" y="2704542"/>
            <a:ext cx="407227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173E9E48-A755-1EB1-C5D5-A359A5969641}"/>
              </a:ext>
            </a:extLst>
          </p:cNvPr>
          <p:cNvGrpSpPr/>
          <p:nvPr/>
        </p:nvGrpSpPr>
        <p:grpSpPr>
          <a:xfrm>
            <a:off x="377890" y="1179011"/>
            <a:ext cx="5647205" cy="3996478"/>
            <a:chOff x="377890" y="1561566"/>
            <a:chExt cx="5647205" cy="399647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440FE0A-8448-03C1-9384-16F6999D139D}"/>
                </a:ext>
              </a:extLst>
            </p:cNvPr>
            <p:cNvSpPr/>
            <p:nvPr/>
          </p:nvSpPr>
          <p:spPr>
            <a:xfrm>
              <a:off x="377891" y="1561566"/>
              <a:ext cx="5647204" cy="788228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D86EE53D-54FA-DED1-D6D5-E7E64393520E}"/>
                </a:ext>
              </a:extLst>
            </p:cNvPr>
            <p:cNvCxnSpPr>
              <a:cxnSpLocks/>
              <a:stCxn id="21" idx="1"/>
              <a:endCxn id="24" idx="1"/>
            </p:cNvCxnSpPr>
            <p:nvPr/>
          </p:nvCxnSpPr>
          <p:spPr>
            <a:xfrm rot="10800000" flipH="1" flipV="1">
              <a:off x="377890" y="1955680"/>
              <a:ext cx="254391" cy="3602364"/>
            </a:xfrm>
            <a:prstGeom prst="bentConnector3">
              <a:avLst>
                <a:gd name="adj1" fmla="val -89862"/>
              </a:avLst>
            </a:prstGeom>
            <a:ln>
              <a:solidFill>
                <a:schemeClr val="bg1"/>
              </a:solidFill>
              <a:tailEnd type="triangle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A96CB18-E02D-B2FB-776B-524F1A6B1F55}"/>
              </a:ext>
            </a:extLst>
          </p:cNvPr>
          <p:cNvSpPr txBox="1"/>
          <p:nvPr/>
        </p:nvSpPr>
        <p:spPr>
          <a:xfrm>
            <a:off x="632282" y="4913879"/>
            <a:ext cx="4935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In this case element is same</a:t>
            </a:r>
          </a:p>
        </p:txBody>
      </p:sp>
    </p:spTree>
    <p:extLst>
      <p:ext uri="{BB962C8B-B14F-4D97-AF65-F5344CB8AC3E}">
        <p14:creationId xmlns:p14="http://schemas.microsoft.com/office/powerpoint/2010/main" val="256243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2" grpId="0"/>
      <p:bldP spid="3" grpId="0"/>
      <p:bldP spid="15" grpId="0"/>
      <p:bldP spid="16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94E206-10A6-6070-83CD-482DA024ABF8}"/>
              </a:ext>
            </a:extLst>
          </p:cNvPr>
          <p:cNvGrpSpPr/>
          <p:nvPr/>
        </p:nvGrpSpPr>
        <p:grpSpPr>
          <a:xfrm>
            <a:off x="4336572" y="2890651"/>
            <a:ext cx="2767104" cy="718359"/>
            <a:chOff x="4336572" y="2890651"/>
            <a:chExt cx="2767104" cy="718359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FA5766FB-2CF2-6EAB-5E3C-3AC667D0440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336572" y="3429000"/>
              <a:ext cx="2046675" cy="180010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27CD7A-EDBA-9726-2B4D-3F3B4A0DC208}"/>
                </a:ext>
              </a:extLst>
            </p:cNvPr>
            <p:cNvSpPr txBox="1"/>
            <p:nvPr/>
          </p:nvSpPr>
          <p:spPr>
            <a:xfrm>
              <a:off x="4336572" y="2890651"/>
              <a:ext cx="27671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What is 1amu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692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2">
            <a:extLst>
              <a:ext uri="{FF2B5EF4-FFF2-40B4-BE49-F238E27FC236}">
                <a16:creationId xmlns:a16="http://schemas.microsoft.com/office/drawing/2014/main" id="{BED576A3-813E-39DD-65F1-47DFD1D21914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4608C-ACE2-D040-AA0F-E1EE59C6AEC3}"/>
              </a:ext>
            </a:extLst>
          </p:cNvPr>
          <p:cNvSpPr txBox="1"/>
          <p:nvPr/>
        </p:nvSpPr>
        <p:spPr>
          <a:xfrm>
            <a:off x="371062" y="261468"/>
            <a:ext cx="27671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1amu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CCDDFB-9FC7-0FFC-8F4B-1D64B08D9AA6}"/>
                  </a:ext>
                </a:extLst>
              </p:cNvPr>
              <p:cNvSpPr txBox="1"/>
              <p:nvPr/>
            </p:nvSpPr>
            <p:spPr>
              <a:xfrm>
                <a:off x="3527750" y="1803028"/>
                <a:ext cx="6097554" cy="299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n-IN" sz="28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 amu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800" b="0" i="1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___________________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IN" sz="2800" dirty="0">
                  <a:solidFill>
                    <a:schemeClr val="bg1"/>
                  </a:solidFill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CCDDFB-9FC7-0FFC-8F4B-1D64B08D9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750" y="1803028"/>
                <a:ext cx="6097554" cy="299569"/>
              </a:xfrm>
              <a:prstGeom prst="rect">
                <a:avLst/>
              </a:prstGeom>
              <a:blipFill>
                <a:blip r:embed="rId2"/>
                <a:stretch>
                  <a:fillRect l="-2100" t="-93878" b="-591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26CF80-ABEB-0205-2C67-8ECFF1F6C2F5}"/>
                  </a:ext>
                </a:extLst>
              </p:cNvPr>
              <p:cNvSpPr txBox="1"/>
              <p:nvPr/>
            </p:nvSpPr>
            <p:spPr>
              <a:xfrm>
                <a:off x="5151277" y="1653243"/>
                <a:ext cx="7291871" cy="2995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200"/>
                  </a:lnSpc>
                  <a:spcAft>
                    <a:spcPts val="1200"/>
                  </a:spcAft>
                </a:pPr>
                <a:r>
                  <a:rPr lang="en-IN" sz="28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ass</m:t>
                    </m:r>
                    <m:r>
                      <a:rPr lang="en-IN" sz="2800" b="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of</m:t>
                    </m:r>
                    <m:r>
                      <a:rPr lang="en-IN" sz="2800" b="0" i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IN" sz="280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28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C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endParaRPr lang="en-IN" sz="2800" dirty="0">
                  <a:solidFill>
                    <a:schemeClr val="bg1"/>
                  </a:solidFill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26CF80-ABEB-0205-2C67-8ECFF1F6C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277" y="1653243"/>
                <a:ext cx="7291871" cy="299569"/>
              </a:xfrm>
              <a:prstGeom prst="rect">
                <a:avLst/>
              </a:prstGeom>
              <a:blipFill>
                <a:blip r:embed="rId3"/>
                <a:stretch>
                  <a:fillRect l="-1672" t="-95918" b="-591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545C9B-E49B-4649-0F90-A45FE4A31B7F}"/>
                  </a:ext>
                </a:extLst>
              </p:cNvPr>
              <p:cNvSpPr txBox="1"/>
              <p:nvPr/>
            </p:nvSpPr>
            <p:spPr>
              <a:xfrm>
                <a:off x="5662127" y="2102597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545C9B-E49B-4649-0F90-A45FE4A31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127" y="2102597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BEC18B-40C0-A48E-FA6D-66F0AC649451}"/>
                  </a:ext>
                </a:extLst>
              </p:cNvPr>
              <p:cNvSpPr txBox="1"/>
              <p:nvPr/>
            </p:nvSpPr>
            <p:spPr>
              <a:xfrm>
                <a:off x="3683204" y="2775602"/>
                <a:ext cx="945320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BEC18B-40C0-A48E-FA6D-66F0AC649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204" y="2775602"/>
                <a:ext cx="945320" cy="556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DC9FBB-62BD-5B39-1FBC-A121E8D243D3}"/>
                  </a:ext>
                </a:extLst>
              </p:cNvPr>
              <p:cNvSpPr txBox="1"/>
              <p:nvPr/>
            </p:nvSpPr>
            <p:spPr>
              <a:xfrm>
                <a:off x="3683204" y="3348797"/>
                <a:ext cx="945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DC9FBB-62BD-5B39-1FBC-A121E8D24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204" y="3348797"/>
                <a:ext cx="94532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276CD2-0827-2BFB-9F88-01B8C308BA41}"/>
                  </a:ext>
                </a:extLst>
              </p:cNvPr>
              <p:cNvSpPr txBox="1"/>
              <p:nvPr/>
            </p:nvSpPr>
            <p:spPr>
              <a:xfrm>
                <a:off x="4477045" y="2800619"/>
                <a:ext cx="22969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1.00727</a:t>
                </a:r>
                <a:r>
                  <a:rPr lang="en-IN" sz="2800" dirty="0">
                    <a:solidFill>
                      <a:schemeClr val="bg1"/>
                    </a:solidFill>
                  </a:rPr>
                  <a:t> u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276CD2-0827-2BFB-9F88-01B8C308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045" y="2800619"/>
                <a:ext cx="2296980" cy="523220"/>
              </a:xfrm>
              <a:prstGeom prst="rect">
                <a:avLst/>
              </a:prstGeom>
              <a:blipFill>
                <a:blip r:embed="rId7"/>
                <a:stretch>
                  <a:fillRect t="-1395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310B6A-4C8E-A278-276B-2B7CEBA21643}"/>
                  </a:ext>
                </a:extLst>
              </p:cNvPr>
              <p:cNvSpPr txBox="1"/>
              <p:nvPr/>
            </p:nvSpPr>
            <p:spPr>
              <a:xfrm>
                <a:off x="4477044" y="3373814"/>
                <a:ext cx="242760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=1.00866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u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310B6A-4C8E-A278-276B-2B7CEBA21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044" y="3373814"/>
                <a:ext cx="2427609" cy="523220"/>
              </a:xfrm>
              <a:prstGeom prst="rect">
                <a:avLst/>
              </a:prstGeom>
              <a:blipFill>
                <a:blip r:embed="rId8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CF919EB-47A7-AEF6-E668-27015DBD684C}"/>
              </a:ext>
            </a:extLst>
          </p:cNvPr>
          <p:cNvSpPr txBox="1"/>
          <p:nvPr/>
        </p:nvSpPr>
        <p:spPr>
          <a:xfrm>
            <a:off x="3431333" y="198803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Google Sans"/>
              </a:rPr>
              <a:t>It is defined as one-twelfth the mass of a carbon-12 atom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0153EA-D4A5-6998-4911-0528BACB64B7}"/>
                  </a:ext>
                </a:extLst>
              </p:cNvPr>
              <p:cNvSpPr txBox="1"/>
              <p:nvPr/>
            </p:nvSpPr>
            <p:spPr>
              <a:xfrm>
                <a:off x="3837598" y="4046819"/>
                <a:ext cx="1940676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0153EA-D4A5-6998-4911-0528BACB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598" y="4046819"/>
                <a:ext cx="1940676" cy="556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55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9" grpId="0"/>
      <p:bldP spid="24" grpId="0"/>
      <p:bldP spid="25" grpId="0"/>
      <p:bldP spid="26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003084-C0DC-008B-A9CF-0AC8BD7407A6}"/>
              </a:ext>
            </a:extLst>
          </p:cNvPr>
          <p:cNvGrpSpPr/>
          <p:nvPr/>
        </p:nvGrpSpPr>
        <p:grpSpPr>
          <a:xfrm>
            <a:off x="2237182" y="2800646"/>
            <a:ext cx="6386235" cy="718359"/>
            <a:chOff x="3692760" y="2800646"/>
            <a:chExt cx="6386235" cy="718359"/>
          </a:xfrm>
        </p:grpSpPr>
        <p:sp>
          <p:nvSpPr>
            <p:cNvPr id="3" name="Freeform 62">
              <a:extLst>
                <a:ext uri="{FF2B5EF4-FFF2-40B4-BE49-F238E27FC236}">
                  <a16:creationId xmlns:a16="http://schemas.microsoft.com/office/drawing/2014/main" id="{36BA0425-F3C4-DCAE-865F-0BA26DD0679A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692760" y="3338995"/>
              <a:ext cx="2046675" cy="180010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398029-3A2B-21C2-4923-FFFBC5B010FD}"/>
                </a:ext>
              </a:extLst>
            </p:cNvPr>
            <p:cNvSpPr txBox="1"/>
            <p:nvPr/>
          </p:nvSpPr>
          <p:spPr>
            <a:xfrm>
              <a:off x="3692760" y="2800646"/>
              <a:ext cx="63862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Average atomic weight of Isotope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292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>
              <a:xfrm>
                <a:off x="3115063" y="1586844"/>
                <a:ext cx="1257274" cy="5499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63" y="1586844"/>
                <a:ext cx="1257274" cy="549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BA7CC135-3B49-7AB2-5F54-A9FE47CB1587}"/>
                  </a:ext>
                </a:extLst>
              </p:cNvPr>
              <p:cNvSpPr txBox="1"/>
              <p:nvPr/>
            </p:nvSpPr>
            <p:spPr>
              <a:xfrm>
                <a:off x="4006078" y="1575356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BA7CC135-3B49-7AB2-5F54-A9FE47CB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78" y="1575356"/>
                <a:ext cx="1414411" cy="658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AAAC724A-BD29-942F-3A87-27859EBC6F5B}"/>
                  </a:ext>
                </a:extLst>
              </p:cNvPr>
              <p:cNvSpPr txBox="1"/>
              <p:nvPr/>
            </p:nvSpPr>
            <p:spPr>
              <a:xfrm>
                <a:off x="1874139" y="1912263"/>
                <a:ext cx="5686422" cy="10318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Object 7">
                <a:extLst>
                  <a:ext uri="{FF2B5EF4-FFF2-40B4-BE49-F238E27FC236}">
                    <a16:creationId xmlns:a16="http://schemas.microsoft.com/office/drawing/2014/main" id="{AAAC724A-BD29-942F-3A87-27859EBC6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139" y="1912263"/>
                <a:ext cx="5686422" cy="1031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2C7C77C1-4555-6BD0-79F5-7488E90424A8}"/>
                  </a:ext>
                </a:extLst>
              </p:cNvPr>
              <p:cNvSpPr txBox="1"/>
              <p:nvPr/>
            </p:nvSpPr>
            <p:spPr>
              <a:xfrm>
                <a:off x="5212077" y="1608416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…..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2C7C77C1-4555-6BD0-79F5-7488E9042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7" y="1608416"/>
                <a:ext cx="1414411" cy="658637"/>
              </a:xfrm>
              <a:prstGeom prst="rect">
                <a:avLst/>
              </a:prstGeom>
              <a:blipFill>
                <a:blip r:embed="rId6"/>
                <a:stretch>
                  <a:fillRect r="-198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53723989-E9B7-1068-65CD-70B2E4DD2AD5}"/>
                  </a:ext>
                </a:extLst>
              </p:cNvPr>
              <p:cNvSpPr txBox="1"/>
              <p:nvPr/>
            </p:nvSpPr>
            <p:spPr>
              <a:xfrm>
                <a:off x="4278004" y="2263153"/>
                <a:ext cx="1078539" cy="5343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53723989-E9B7-1068-65CD-70B2E4DD2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004" y="2263153"/>
                <a:ext cx="1078539" cy="534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62">
            <a:extLst>
              <a:ext uri="{FF2B5EF4-FFF2-40B4-BE49-F238E27FC236}">
                <a16:creationId xmlns:a16="http://schemas.microsoft.com/office/drawing/2014/main" id="{D8CCF576-CB43-52BF-E30E-6B73D743A2FA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2D9B2-AE9E-CEA0-F850-10D657BA9BBB}"/>
              </a:ext>
            </a:extLst>
          </p:cNvPr>
          <p:cNvSpPr txBox="1"/>
          <p:nvPr/>
        </p:nvSpPr>
        <p:spPr>
          <a:xfrm>
            <a:off x="371062" y="261468"/>
            <a:ext cx="6386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atomic weight of Isotope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01557-CAE2-56D5-ABA6-36F56E0D6829}"/>
              </a:ext>
            </a:extLst>
          </p:cNvPr>
          <p:cNvSpPr txBox="1"/>
          <p:nvPr/>
        </p:nvSpPr>
        <p:spPr>
          <a:xfrm>
            <a:off x="991508" y="1085196"/>
            <a:ext cx="5765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Here we take weighted average</a:t>
            </a:r>
          </a:p>
        </p:txBody>
      </p:sp>
    </p:spTree>
    <p:extLst>
      <p:ext uri="{BB962C8B-B14F-4D97-AF65-F5344CB8AC3E}">
        <p14:creationId xmlns:p14="http://schemas.microsoft.com/office/powerpoint/2010/main" val="13448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3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90959" y="1959088"/>
                <a:ext cx="7706662" cy="673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59" y="1959088"/>
                <a:ext cx="7706662" cy="673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0959" y="3139905"/>
                <a:ext cx="9520875" cy="673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GB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GB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22.06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59" y="3139905"/>
                <a:ext cx="9520875" cy="673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807308" y="4284499"/>
                <a:ext cx="15027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=0.732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308" y="4284499"/>
                <a:ext cx="150271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E4C43113-E664-76EA-018A-4CABEDA97E67}"/>
              </a:ext>
            </a:extLst>
          </p:cNvPr>
          <p:cNvGrpSpPr/>
          <p:nvPr/>
        </p:nvGrpSpPr>
        <p:grpSpPr>
          <a:xfrm>
            <a:off x="287758" y="256005"/>
            <a:ext cx="11264644" cy="1501389"/>
            <a:chOff x="287758" y="697965"/>
            <a:chExt cx="11264644" cy="1501389"/>
          </a:xfrm>
        </p:grpSpPr>
        <p:sp>
          <p:nvSpPr>
            <p:cNvPr id="9" name="TextBox 8"/>
            <p:cNvSpPr txBox="1"/>
            <p:nvPr/>
          </p:nvSpPr>
          <p:spPr>
            <a:xfrm>
              <a:off x="1829334" y="732799"/>
              <a:ext cx="972306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000" dirty="0">
                  <a:solidFill>
                    <a:srgbClr val="FFFF00"/>
                  </a:solidFill>
                </a:rPr>
                <a:t>Find average atomic weight of X if it exist in three form’s 22.06,22.94 and 23.06 in percentage 22%,40%,38% </a:t>
              </a:r>
              <a:endParaRPr lang="en-IN" sz="3000" dirty="0">
                <a:solidFill>
                  <a:srgbClr val="FFFF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55A98F-B326-4E6B-DDAE-B81AB329D1AA}"/>
                </a:ext>
              </a:extLst>
            </p:cNvPr>
            <p:cNvSpPr/>
            <p:nvPr/>
          </p:nvSpPr>
          <p:spPr>
            <a:xfrm>
              <a:off x="287758" y="697965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FDFB94E-165C-B4C5-2B60-D9854AA6B5BC}"/>
                </a:ext>
              </a:extLst>
            </p:cNvPr>
            <p:cNvSpPr/>
            <p:nvPr/>
          </p:nvSpPr>
          <p:spPr>
            <a:xfrm>
              <a:off x="345852" y="1676134"/>
              <a:ext cx="142539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Solution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2E6B7B-F008-759F-DBB4-02666B35284B}"/>
                  </a:ext>
                </a:extLst>
              </p:cNvPr>
              <p:cNvSpPr/>
              <p:nvPr/>
            </p:nvSpPr>
            <p:spPr>
              <a:xfrm>
                <a:off x="1829334" y="1673909"/>
                <a:ext cx="11352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22.06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A2E6B7B-F008-759F-DBB4-02666B352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334" y="1673909"/>
                <a:ext cx="113524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FF754B-31C5-19D6-F69E-9D41F0CC9FEE}"/>
                  </a:ext>
                </a:extLst>
              </p:cNvPr>
              <p:cNvSpPr/>
              <p:nvPr/>
            </p:nvSpPr>
            <p:spPr>
              <a:xfrm>
                <a:off x="2803045" y="1663802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FF754B-31C5-19D6-F69E-9D41F0CC9F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045" y="1663802"/>
                <a:ext cx="100020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81B9F1-86CF-6521-5353-28806F99711A}"/>
                  </a:ext>
                </a:extLst>
              </p:cNvPr>
              <p:cNvSpPr/>
              <p:nvPr/>
            </p:nvSpPr>
            <p:spPr>
              <a:xfrm>
                <a:off x="3659129" y="1651873"/>
                <a:ext cx="140294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+22.94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81B9F1-86CF-6521-5353-28806F9971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29" y="1651873"/>
                <a:ext cx="14029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378F03-B93F-C115-A964-B2320484D163}"/>
                  </a:ext>
                </a:extLst>
              </p:cNvPr>
              <p:cNvSpPr/>
              <p:nvPr/>
            </p:nvSpPr>
            <p:spPr>
              <a:xfrm>
                <a:off x="5774036" y="1641625"/>
                <a:ext cx="140294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+23.06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378F03-B93F-C115-A964-B2320484D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036" y="1641625"/>
                <a:ext cx="140294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A8F8C7C-5F4C-C28F-9CBE-9BA544831329}"/>
                  </a:ext>
                </a:extLst>
              </p:cNvPr>
              <p:cNvSpPr/>
              <p:nvPr/>
            </p:nvSpPr>
            <p:spPr>
              <a:xfrm>
                <a:off x="4917952" y="1655922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A8F8C7C-5F4C-C28F-9CBE-9BA544831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952" y="1655922"/>
                <a:ext cx="100020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43EA10-7DEA-E09E-4B4E-E50A078328CA}"/>
                  </a:ext>
                </a:extLst>
              </p:cNvPr>
              <p:cNvSpPr/>
              <p:nvPr/>
            </p:nvSpPr>
            <p:spPr>
              <a:xfrm>
                <a:off x="7044582" y="1641625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43EA10-7DEA-E09E-4B4E-E50A07832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582" y="1641625"/>
                <a:ext cx="100020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863B17-43B2-697C-D067-2DF6FA8D0534}"/>
                  </a:ext>
                </a:extLst>
              </p:cNvPr>
              <p:cNvSpPr/>
              <p:nvPr/>
            </p:nvSpPr>
            <p:spPr>
              <a:xfrm>
                <a:off x="4199340" y="2266952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863B17-43B2-697C-D067-2DF6FA8D0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340" y="2266952"/>
                <a:ext cx="86273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5059F52-FEA5-74D0-649C-842C7A1DBC14}"/>
                  </a:ext>
                </a:extLst>
              </p:cNvPr>
              <p:cNvSpPr/>
              <p:nvPr/>
            </p:nvSpPr>
            <p:spPr>
              <a:xfrm>
                <a:off x="4913170" y="2899758"/>
                <a:ext cx="4651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5059F52-FEA5-74D0-649C-842C7A1DB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70" y="2899758"/>
                <a:ext cx="46519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BD9A9F-DCC4-0DC6-FAB6-6DEDDBDCEE31}"/>
                  </a:ext>
                </a:extLst>
              </p:cNvPr>
              <p:cNvSpPr/>
              <p:nvPr/>
            </p:nvSpPr>
            <p:spPr>
              <a:xfrm>
                <a:off x="5215075" y="2889651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BD9A9F-DCC4-0DC6-FAB6-6DEDDBDCE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075" y="2889651"/>
                <a:ext cx="100020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98274A-E651-7136-A996-5AB9923A1D02}"/>
                  </a:ext>
                </a:extLst>
              </p:cNvPr>
              <p:cNvSpPr/>
              <p:nvPr/>
            </p:nvSpPr>
            <p:spPr>
              <a:xfrm>
                <a:off x="6064161" y="2879744"/>
                <a:ext cx="128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+ 0.88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98274A-E651-7136-A996-5AB9923A1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161" y="2879744"/>
                <a:ext cx="128272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CBD2596-CA80-893C-1ADD-C35055C1445B}"/>
                  </a:ext>
                </a:extLst>
              </p:cNvPr>
              <p:cNvSpPr/>
              <p:nvPr/>
            </p:nvSpPr>
            <p:spPr>
              <a:xfrm>
                <a:off x="8107835" y="2877407"/>
                <a:ext cx="7328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CBD2596-CA80-893C-1ADD-C35055C14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835" y="2877407"/>
                <a:ext cx="732893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FC0D770-A282-F362-AB82-129D08ED9639}"/>
                  </a:ext>
                </a:extLst>
              </p:cNvPr>
              <p:cNvSpPr/>
              <p:nvPr/>
            </p:nvSpPr>
            <p:spPr>
              <a:xfrm>
                <a:off x="7171360" y="2881771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FC0D770-A282-F362-AB82-129D08ED96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60" y="2881771"/>
                <a:ext cx="1000209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0CAA8CC-AE60-CCAC-3DEB-92537B3EA5AB}"/>
                  </a:ext>
                </a:extLst>
              </p:cNvPr>
              <p:cNvSpPr/>
              <p:nvPr/>
            </p:nvSpPr>
            <p:spPr>
              <a:xfrm>
                <a:off x="8700830" y="2876805"/>
                <a:ext cx="100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0CAA8CC-AE60-CCAC-3DEB-92537B3EA5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830" y="2876805"/>
                <a:ext cx="1000209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D6CA06B-4813-A0C1-75F7-A35459CA18DF}"/>
                  </a:ext>
                </a:extLst>
              </p:cNvPr>
              <p:cNvSpPr/>
              <p:nvPr/>
            </p:nvSpPr>
            <p:spPr>
              <a:xfrm>
                <a:off x="6760299" y="3473447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D6CA06B-4813-A0C1-75F7-A35459CA1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299" y="3473447"/>
                <a:ext cx="862737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4A6F387-9A1B-ACF1-E300-74FACF1B1089}"/>
                  </a:ext>
                </a:extLst>
              </p:cNvPr>
              <p:cNvSpPr/>
              <p:nvPr/>
            </p:nvSpPr>
            <p:spPr>
              <a:xfrm>
                <a:off x="4400487" y="4285989"/>
                <a:ext cx="5582362" cy="673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4A6F387-9A1B-ACF1-E300-74FACF1B1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487" y="4285989"/>
                <a:ext cx="5582362" cy="67390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8E2D4D1-412B-1C70-BDE7-3A16749FB505}"/>
                  </a:ext>
                </a:extLst>
              </p:cNvPr>
              <p:cNvSpPr/>
              <p:nvPr/>
            </p:nvSpPr>
            <p:spPr>
              <a:xfrm>
                <a:off x="4913170" y="4045842"/>
                <a:ext cx="4651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8E2D4D1-412B-1C70-BDE7-3A16749FB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70" y="4045842"/>
                <a:ext cx="465191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507E33-F54B-35AB-22C8-03A5B268C892}"/>
                  </a:ext>
                </a:extLst>
              </p:cNvPr>
              <p:cNvSpPr/>
              <p:nvPr/>
            </p:nvSpPr>
            <p:spPr>
              <a:xfrm>
                <a:off x="6529998" y="4003899"/>
                <a:ext cx="128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+ 35.2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507E33-F54B-35AB-22C8-03A5B268C8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998" y="4003899"/>
                <a:ext cx="1282723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B440AB2-FF25-3919-501B-05D315B0441A}"/>
                  </a:ext>
                </a:extLst>
              </p:cNvPr>
              <p:cNvSpPr/>
              <p:nvPr/>
            </p:nvSpPr>
            <p:spPr>
              <a:xfrm>
                <a:off x="8700830" y="4022889"/>
                <a:ext cx="9316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B440AB2-FF25-3919-501B-05D315B04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830" y="4022889"/>
                <a:ext cx="931665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45B6F3E-ECB2-0DB7-0E59-E9E56349D48B}"/>
                  </a:ext>
                </a:extLst>
              </p:cNvPr>
              <p:cNvSpPr/>
              <p:nvPr/>
            </p:nvSpPr>
            <p:spPr>
              <a:xfrm>
                <a:off x="6851807" y="4581244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45B6F3E-ECB2-0DB7-0E59-E9E56349D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807" y="4581244"/>
                <a:ext cx="862737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647773E-AA86-42C6-F3C4-7402112A7B8C}"/>
                  </a:ext>
                </a:extLst>
              </p:cNvPr>
              <p:cNvSpPr/>
              <p:nvPr/>
            </p:nvSpPr>
            <p:spPr>
              <a:xfrm>
                <a:off x="3614700" y="5533119"/>
                <a:ext cx="5201167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=22.06+0.732=22.792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647773E-AA86-42C6-F3C4-7402112A7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700" y="5533119"/>
                <a:ext cx="5201167" cy="55823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64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31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F96E2AF-A409-BA1C-8F24-6451ABCEE06C}"/>
              </a:ext>
            </a:extLst>
          </p:cNvPr>
          <p:cNvGrpSpPr/>
          <p:nvPr/>
        </p:nvGrpSpPr>
        <p:grpSpPr>
          <a:xfrm>
            <a:off x="123936" y="154511"/>
            <a:ext cx="10940304" cy="988732"/>
            <a:chOff x="290225" y="230711"/>
            <a:chExt cx="10940304" cy="988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02A4EC-0C0D-A755-E278-9B8046285588}"/>
                    </a:ext>
                  </a:extLst>
                </p:cNvPr>
                <p:cNvSpPr txBox="1"/>
                <p:nvPr/>
              </p:nvSpPr>
              <p:spPr>
                <a:xfrm>
                  <a:off x="1869526" y="230711"/>
                  <a:ext cx="9361003" cy="9887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IN" sz="2800" dirty="0">
                      <a:solidFill>
                        <a:srgbClr val="FFFF00"/>
                      </a:solidFill>
                    </a:rPr>
                    <a:t>Atomic weight of Boron is 10.81 and it has two isotopes </a:t>
                  </a:r>
                  <a14:m>
                    <m:oMath xmlns:m="http://schemas.openxmlformats.org/officeDocument/2006/math">
                      <m:sPre>
                        <m:sPrePr>
                          <m:ctrlP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sPre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and</a:t>
                  </a:r>
                  <a14:m>
                    <m:oMath xmlns:m="http://schemas.openxmlformats.org/officeDocument/2006/math">
                      <m:sPre>
                        <m:sPre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sPre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. Then the ratio of </a:t>
                  </a:r>
                  <a14:m>
                    <m:oMath xmlns:m="http://schemas.openxmlformats.org/officeDocument/2006/math">
                      <m:sPre>
                        <m:sPre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sPre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and</a:t>
                  </a:r>
                  <a14:m>
                    <m:oMath xmlns:m="http://schemas.openxmlformats.org/officeDocument/2006/math">
                      <m:sPre>
                        <m:sPre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sPre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in nature would be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602A4EC-0C0D-A755-E278-9B8046285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526" y="230711"/>
                  <a:ext cx="9361003" cy="988732"/>
                </a:xfrm>
                <a:prstGeom prst="rect">
                  <a:avLst/>
                </a:prstGeom>
                <a:blipFill>
                  <a:blip r:embed="rId2"/>
                  <a:stretch>
                    <a:fillRect l="-1302" t="-3681" b="-15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F824F03-4394-66D9-F190-C71A037E148F}"/>
                </a:ext>
              </a:extLst>
            </p:cNvPr>
            <p:cNvSpPr/>
            <p:nvPr/>
          </p:nvSpPr>
          <p:spPr>
            <a:xfrm>
              <a:off x="290225" y="235710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8A1534F7-0A22-0D6B-21BB-0E9ED5514D91}"/>
                  </a:ext>
                </a:extLst>
              </p:cNvPr>
              <p:cNvSpPr txBox="1"/>
              <p:nvPr/>
            </p:nvSpPr>
            <p:spPr>
              <a:xfrm>
                <a:off x="1612777" y="1158898"/>
                <a:ext cx="1257274" cy="5499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8A1534F7-0A22-0D6B-21BB-0E9ED5514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777" y="1158898"/>
                <a:ext cx="1257274" cy="549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4194BD18-F2A9-44A3-9768-FEF2BAA18422}"/>
                  </a:ext>
                </a:extLst>
              </p:cNvPr>
              <p:cNvSpPr txBox="1"/>
              <p:nvPr/>
            </p:nvSpPr>
            <p:spPr>
              <a:xfrm>
                <a:off x="2503792" y="1147410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4194BD18-F2A9-44A3-9768-FEF2BAA18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792" y="1147410"/>
                <a:ext cx="1414411" cy="658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46C684AD-C89A-6CB5-331D-4BA05FC1D4EE}"/>
                  </a:ext>
                </a:extLst>
              </p:cNvPr>
              <p:cNvSpPr txBox="1"/>
              <p:nvPr/>
            </p:nvSpPr>
            <p:spPr>
              <a:xfrm>
                <a:off x="371853" y="1484317"/>
                <a:ext cx="5686422" cy="10318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Object 7">
                <a:extLst>
                  <a:ext uri="{FF2B5EF4-FFF2-40B4-BE49-F238E27FC236}">
                    <a16:creationId xmlns:a16="http://schemas.microsoft.com/office/drawing/2014/main" id="{46C684AD-C89A-6CB5-331D-4BA05FC1D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3" y="1484317"/>
                <a:ext cx="5686422" cy="1031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E6F70D39-C3DC-B834-316C-FFC900F1E5B3}"/>
                  </a:ext>
                </a:extLst>
              </p:cNvPr>
              <p:cNvSpPr txBox="1"/>
              <p:nvPr/>
            </p:nvSpPr>
            <p:spPr>
              <a:xfrm>
                <a:off x="3709791" y="1180470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…..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E6F70D39-C3DC-B834-316C-FFC900F1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791" y="1180470"/>
                <a:ext cx="1414411" cy="658637"/>
              </a:xfrm>
              <a:prstGeom prst="rect">
                <a:avLst/>
              </a:prstGeom>
              <a:blipFill>
                <a:blip r:embed="rId6"/>
                <a:stretch>
                  <a:fillRect r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7">
                <a:extLst>
                  <a:ext uri="{FF2B5EF4-FFF2-40B4-BE49-F238E27FC236}">
                    <a16:creationId xmlns:a16="http://schemas.microsoft.com/office/drawing/2014/main" id="{13552D7B-2965-0E0C-5C59-9AD682070E25}"/>
                  </a:ext>
                </a:extLst>
              </p:cNvPr>
              <p:cNvSpPr txBox="1"/>
              <p:nvPr/>
            </p:nvSpPr>
            <p:spPr>
              <a:xfrm>
                <a:off x="2775718" y="1835207"/>
                <a:ext cx="1078539" cy="5343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Object 7">
                <a:extLst>
                  <a:ext uri="{FF2B5EF4-FFF2-40B4-BE49-F238E27FC236}">
                    <a16:creationId xmlns:a16="http://schemas.microsoft.com/office/drawing/2014/main" id="{13552D7B-2965-0E0C-5C59-9AD682070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718" y="1835207"/>
                <a:ext cx="1078539" cy="5343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35B7394D-632B-5F49-EDCA-4B9F163F3A11}"/>
                  </a:ext>
                </a:extLst>
              </p:cNvPr>
              <p:cNvSpPr txBox="1"/>
              <p:nvPr/>
            </p:nvSpPr>
            <p:spPr>
              <a:xfrm>
                <a:off x="371853" y="2712624"/>
                <a:ext cx="5686422" cy="10318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10.81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35B7394D-632B-5F49-EDCA-4B9F163F3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3" y="2712624"/>
                <a:ext cx="5686422" cy="1031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058DCAAE-00B2-46A9-D1AF-AFF3A3F42FD0}"/>
                  </a:ext>
                </a:extLst>
              </p:cNvPr>
              <p:cNvSpPr txBox="1"/>
              <p:nvPr/>
            </p:nvSpPr>
            <p:spPr>
              <a:xfrm>
                <a:off x="1875155" y="2415361"/>
                <a:ext cx="1257274" cy="5499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058DCAAE-00B2-46A9-D1AF-AFF3A3F42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55" y="2415361"/>
                <a:ext cx="1257274" cy="5499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CC3FF6F8-5F7C-2ECA-6D4E-82E3AFC44063}"/>
                  </a:ext>
                </a:extLst>
              </p:cNvPr>
              <p:cNvSpPr txBox="1"/>
              <p:nvPr/>
            </p:nvSpPr>
            <p:spPr>
              <a:xfrm>
                <a:off x="3055969" y="2415361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11×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CC3FF6F8-5F7C-2ECA-6D4E-82E3AFC44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969" y="2415361"/>
                <a:ext cx="1414411" cy="6586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C26EB0D7-22CC-D625-A515-9F3ADA4BB8D6}"/>
                  </a:ext>
                </a:extLst>
              </p:cNvPr>
              <p:cNvSpPr txBox="1"/>
              <p:nvPr/>
            </p:nvSpPr>
            <p:spPr>
              <a:xfrm>
                <a:off x="2593159" y="3031089"/>
                <a:ext cx="1078539" cy="5343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C26EB0D7-22CC-D625-A515-9F3ADA4B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59" y="3031089"/>
                <a:ext cx="1078539" cy="5343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7">
                <a:extLst>
                  <a:ext uri="{FF2B5EF4-FFF2-40B4-BE49-F238E27FC236}">
                    <a16:creationId xmlns:a16="http://schemas.microsoft.com/office/drawing/2014/main" id="{EA4DBCAF-4588-142E-CBB9-A526A6A7AD03}"/>
                  </a:ext>
                </a:extLst>
              </p:cNvPr>
              <p:cNvSpPr txBox="1"/>
              <p:nvPr/>
            </p:nvSpPr>
            <p:spPr>
              <a:xfrm>
                <a:off x="4135890" y="2400445"/>
                <a:ext cx="1798362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(100−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Object 7">
                <a:extLst>
                  <a:ext uri="{FF2B5EF4-FFF2-40B4-BE49-F238E27FC236}">
                    <a16:creationId xmlns:a16="http://schemas.microsoft.com/office/drawing/2014/main" id="{EA4DBCAF-4588-142E-CBB9-A526A6A7A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890" y="2400445"/>
                <a:ext cx="1798362" cy="6586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2AD54192-89E2-C78B-C607-6A719C94D5C8}"/>
                  </a:ext>
                </a:extLst>
              </p:cNvPr>
              <p:cNvSpPr txBox="1"/>
              <p:nvPr/>
            </p:nvSpPr>
            <p:spPr>
              <a:xfrm>
                <a:off x="367786" y="3744499"/>
                <a:ext cx="2136006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1081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2AD54192-89E2-C78B-C607-6A719C94D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6" y="3744499"/>
                <a:ext cx="2136006" cy="65863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579DC1C1-7141-1355-8887-BA01989EC80C}"/>
                  </a:ext>
                </a:extLst>
              </p:cNvPr>
              <p:cNvSpPr txBox="1"/>
              <p:nvPr/>
            </p:nvSpPr>
            <p:spPr>
              <a:xfrm>
                <a:off x="1783463" y="3744499"/>
                <a:ext cx="1257274" cy="54994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579DC1C1-7141-1355-8887-BA01989E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63" y="3744499"/>
                <a:ext cx="1257274" cy="5499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D1735AF8-AF5A-B068-10E0-2C990417C5EB}"/>
                  </a:ext>
                </a:extLst>
              </p:cNvPr>
              <p:cNvSpPr txBox="1"/>
              <p:nvPr/>
            </p:nvSpPr>
            <p:spPr>
              <a:xfrm>
                <a:off x="2513965" y="3731111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1100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Object 7">
                <a:extLst>
                  <a:ext uri="{FF2B5EF4-FFF2-40B4-BE49-F238E27FC236}">
                    <a16:creationId xmlns:a16="http://schemas.microsoft.com/office/drawing/2014/main" id="{D1735AF8-AF5A-B068-10E0-2C990417C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965" y="3731111"/>
                <a:ext cx="1414411" cy="6586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7">
                <a:extLst>
                  <a:ext uri="{FF2B5EF4-FFF2-40B4-BE49-F238E27FC236}">
                    <a16:creationId xmlns:a16="http://schemas.microsoft.com/office/drawing/2014/main" id="{CE1BB922-2490-F42D-AF5B-BB676C35C5A0}"/>
                  </a:ext>
                </a:extLst>
              </p:cNvPr>
              <p:cNvSpPr txBox="1"/>
              <p:nvPr/>
            </p:nvSpPr>
            <p:spPr>
              <a:xfrm>
                <a:off x="3709791" y="3725527"/>
                <a:ext cx="1197551" cy="54994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Object 7">
                <a:extLst>
                  <a:ext uri="{FF2B5EF4-FFF2-40B4-BE49-F238E27FC236}">
                    <a16:creationId xmlns:a16="http://schemas.microsoft.com/office/drawing/2014/main" id="{CE1BB922-2490-F42D-AF5B-BB676C35C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791" y="3725527"/>
                <a:ext cx="1197551" cy="54994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4C99FA17-F803-08A6-B714-414E096898C1}"/>
                  </a:ext>
                </a:extLst>
              </p:cNvPr>
              <p:cNvSpPr txBox="1"/>
              <p:nvPr/>
            </p:nvSpPr>
            <p:spPr>
              <a:xfrm>
                <a:off x="905012" y="4515464"/>
                <a:ext cx="1598780" cy="55817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Object 7">
                <a:extLst>
                  <a:ext uri="{FF2B5EF4-FFF2-40B4-BE49-F238E27FC236}">
                    <a16:creationId xmlns:a16="http://schemas.microsoft.com/office/drawing/2014/main" id="{4C99FA17-F803-08A6-B714-414E09689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12" y="4515464"/>
                <a:ext cx="1598780" cy="55817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17A2F25A-5955-3212-82F7-A5A166A383D3}"/>
                  </a:ext>
                </a:extLst>
              </p:cNvPr>
              <p:cNvSpPr txBox="1"/>
              <p:nvPr/>
            </p:nvSpPr>
            <p:spPr>
              <a:xfrm>
                <a:off x="1641558" y="4519633"/>
                <a:ext cx="1414411" cy="6586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17A2F25A-5955-3212-82F7-A5A166A38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58" y="4519633"/>
                <a:ext cx="1414411" cy="6586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Brace 23">
            <a:extLst>
              <a:ext uri="{FF2B5EF4-FFF2-40B4-BE49-F238E27FC236}">
                <a16:creationId xmlns:a16="http://schemas.microsoft.com/office/drawing/2014/main" id="{6705757E-806E-3A51-5577-F1246CFCC029}"/>
              </a:ext>
            </a:extLst>
          </p:cNvPr>
          <p:cNvSpPr/>
          <p:nvPr/>
        </p:nvSpPr>
        <p:spPr>
          <a:xfrm>
            <a:off x="5794980" y="1180470"/>
            <a:ext cx="465039" cy="4662467"/>
          </a:xfrm>
          <a:prstGeom prst="rightBrace">
            <a:avLst>
              <a:gd name="adj1" fmla="val 99333"/>
              <a:gd name="adj2" fmla="val 1591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B700AE-F3D3-77F4-7B25-5B48B9151B0D}"/>
              </a:ext>
            </a:extLst>
          </p:cNvPr>
          <p:cNvSpPr/>
          <p:nvPr/>
        </p:nvSpPr>
        <p:spPr>
          <a:xfrm>
            <a:off x="6096000" y="1015063"/>
            <a:ext cx="2636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Shortcut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978B6A4-C4A2-AA43-81DE-C0C1AD04EEF9}"/>
              </a:ext>
            </a:extLst>
          </p:cNvPr>
          <p:cNvGrpSpPr/>
          <p:nvPr/>
        </p:nvGrpSpPr>
        <p:grpSpPr>
          <a:xfrm>
            <a:off x="6276197" y="1938393"/>
            <a:ext cx="5377475" cy="723994"/>
            <a:chOff x="6543709" y="2491550"/>
            <a:chExt cx="5377475" cy="723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bject 7">
                  <a:extLst>
                    <a:ext uri="{FF2B5EF4-FFF2-40B4-BE49-F238E27FC236}">
                      <a16:creationId xmlns:a16="http://schemas.microsoft.com/office/drawing/2014/main" id="{9336DFAF-AC76-188A-21CC-7F52705CBE39}"/>
                    </a:ext>
                  </a:extLst>
                </p:cNvPr>
                <p:cNvSpPr txBox="1"/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Object 7">
                  <a:extLst>
                    <a:ext uri="{FF2B5EF4-FFF2-40B4-BE49-F238E27FC236}">
                      <a16:creationId xmlns:a16="http://schemas.microsoft.com/office/drawing/2014/main" id="{9336DFAF-AC76-188A-21CC-7F52705CB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7">
                  <a:extLst>
                    <a:ext uri="{FF2B5EF4-FFF2-40B4-BE49-F238E27FC236}">
                      <a16:creationId xmlns:a16="http://schemas.microsoft.com/office/drawing/2014/main" id="{A438A125-5B19-5D44-38D5-F29FC84E0F6B}"/>
                    </a:ext>
                  </a:extLst>
                </p:cNvPr>
                <p:cNvSpPr txBox="1"/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Object 7">
                  <a:extLst>
                    <a:ext uri="{FF2B5EF4-FFF2-40B4-BE49-F238E27FC236}">
                      <a16:creationId xmlns:a16="http://schemas.microsoft.com/office/drawing/2014/main" id="{A438A125-5B19-5D44-38D5-F29FC84E0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7">
                  <a:extLst>
                    <a:ext uri="{FF2B5EF4-FFF2-40B4-BE49-F238E27FC236}">
                      <a16:creationId xmlns:a16="http://schemas.microsoft.com/office/drawing/2014/main" id="{4E677354-266D-7170-7D59-1937C91A51D9}"/>
                    </a:ext>
                  </a:extLst>
                </p:cNvPr>
                <p:cNvSpPr txBox="1"/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−−−−−−−−−−−−−−→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Object 7">
                  <a:extLst>
                    <a:ext uri="{FF2B5EF4-FFF2-40B4-BE49-F238E27FC236}">
                      <a16:creationId xmlns:a16="http://schemas.microsoft.com/office/drawing/2014/main" id="{4E677354-266D-7170-7D59-1937C91A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7">
                  <a:extLst>
                    <a:ext uri="{FF2B5EF4-FFF2-40B4-BE49-F238E27FC236}">
                      <a16:creationId xmlns:a16="http://schemas.microsoft.com/office/drawing/2014/main" id="{0E8D4225-6E6F-2689-2916-977D6F8ECED4}"/>
                    </a:ext>
                  </a:extLst>
                </p:cNvPr>
                <p:cNvSpPr txBox="1"/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10.81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Object 7">
                  <a:extLst>
                    <a:ext uri="{FF2B5EF4-FFF2-40B4-BE49-F238E27FC236}">
                      <a16:creationId xmlns:a16="http://schemas.microsoft.com/office/drawing/2014/main" id="{0E8D4225-6E6F-2689-2916-977D6F8EC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  <a:blipFill>
                  <a:blip r:embed="rId22"/>
                  <a:stretch>
                    <a:fillRect r="-490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7">
                <a:extLst>
                  <a:ext uri="{FF2B5EF4-FFF2-40B4-BE49-F238E27FC236}">
                    <a16:creationId xmlns:a16="http://schemas.microsoft.com/office/drawing/2014/main" id="{A2A05B93-03A2-0D3F-306E-7F00F03E212C}"/>
                  </a:ext>
                </a:extLst>
              </p:cNvPr>
              <p:cNvSpPr txBox="1"/>
              <p:nvPr/>
            </p:nvSpPr>
            <p:spPr>
              <a:xfrm>
                <a:off x="11006458" y="2531201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81%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bject 7">
                <a:extLst>
                  <a:ext uri="{FF2B5EF4-FFF2-40B4-BE49-F238E27FC236}">
                    <a16:creationId xmlns:a16="http://schemas.microsoft.com/office/drawing/2014/main" id="{A2A05B93-03A2-0D3F-306E-7F00F03E2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458" y="2531201"/>
                <a:ext cx="625126" cy="525751"/>
              </a:xfrm>
              <a:prstGeom prst="rect">
                <a:avLst/>
              </a:prstGeom>
              <a:blipFill>
                <a:blip r:embed="rId23"/>
                <a:stretch>
                  <a:fillRect r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7">
                <a:extLst>
                  <a:ext uri="{FF2B5EF4-FFF2-40B4-BE49-F238E27FC236}">
                    <a16:creationId xmlns:a16="http://schemas.microsoft.com/office/drawing/2014/main" id="{F5E1A3F8-B86C-D6C2-9C66-38A702EBD092}"/>
                  </a:ext>
                </a:extLst>
              </p:cNvPr>
              <p:cNvSpPr txBox="1"/>
              <p:nvPr/>
            </p:nvSpPr>
            <p:spPr>
              <a:xfrm>
                <a:off x="6026944" y="2552359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19%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bject 7">
                <a:extLst>
                  <a:ext uri="{FF2B5EF4-FFF2-40B4-BE49-F238E27FC236}">
                    <a16:creationId xmlns:a16="http://schemas.microsoft.com/office/drawing/2014/main" id="{F5E1A3F8-B86C-D6C2-9C66-38A702EBD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944" y="2552359"/>
                <a:ext cx="625126" cy="525751"/>
              </a:xfrm>
              <a:prstGeom prst="rect">
                <a:avLst/>
              </a:prstGeom>
              <a:blipFill>
                <a:blip r:embed="rId24"/>
                <a:stretch>
                  <a:fillRect r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4EFF5444-869A-1475-6A85-3D01EFB867BE}"/>
              </a:ext>
            </a:extLst>
          </p:cNvPr>
          <p:cNvGrpSpPr/>
          <p:nvPr/>
        </p:nvGrpSpPr>
        <p:grpSpPr>
          <a:xfrm>
            <a:off x="6244781" y="3123611"/>
            <a:ext cx="5377475" cy="723994"/>
            <a:chOff x="6543709" y="2491550"/>
            <a:chExt cx="5377475" cy="723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7">
                  <a:extLst>
                    <a:ext uri="{FF2B5EF4-FFF2-40B4-BE49-F238E27FC236}">
                      <a16:creationId xmlns:a16="http://schemas.microsoft.com/office/drawing/2014/main" id="{7FC9B6E4-246B-D3E4-FC28-CFDB110FD4F9}"/>
                    </a:ext>
                  </a:extLst>
                </p:cNvPr>
                <p:cNvSpPr txBox="1"/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Object 7">
                  <a:extLst>
                    <a:ext uri="{FF2B5EF4-FFF2-40B4-BE49-F238E27FC236}">
                      <a16:creationId xmlns:a16="http://schemas.microsoft.com/office/drawing/2014/main" id="{7FC9B6E4-246B-D3E4-FC28-CFDB110FD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bject 7">
                  <a:extLst>
                    <a:ext uri="{FF2B5EF4-FFF2-40B4-BE49-F238E27FC236}">
                      <a16:creationId xmlns:a16="http://schemas.microsoft.com/office/drawing/2014/main" id="{76231077-CE84-DEA5-8361-A273140B8934}"/>
                    </a:ext>
                  </a:extLst>
                </p:cNvPr>
                <p:cNvSpPr txBox="1"/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Object 7">
                  <a:extLst>
                    <a:ext uri="{FF2B5EF4-FFF2-40B4-BE49-F238E27FC236}">
                      <a16:creationId xmlns:a16="http://schemas.microsoft.com/office/drawing/2014/main" id="{76231077-CE84-DEA5-8361-A273140B8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bject 7">
                  <a:extLst>
                    <a:ext uri="{FF2B5EF4-FFF2-40B4-BE49-F238E27FC236}">
                      <a16:creationId xmlns:a16="http://schemas.microsoft.com/office/drawing/2014/main" id="{8248A7FB-3985-7FA6-FBFA-AAA2861FFD69}"/>
                    </a:ext>
                  </a:extLst>
                </p:cNvPr>
                <p:cNvSpPr txBox="1"/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−−−−−−−−−−−−−−→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bject 7">
                  <a:extLst>
                    <a:ext uri="{FF2B5EF4-FFF2-40B4-BE49-F238E27FC236}">
                      <a16:creationId xmlns:a16="http://schemas.microsoft.com/office/drawing/2014/main" id="{8248A7FB-3985-7FA6-FBFA-AAA2861FF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bject 7">
                  <a:extLst>
                    <a:ext uri="{FF2B5EF4-FFF2-40B4-BE49-F238E27FC236}">
                      <a16:creationId xmlns:a16="http://schemas.microsoft.com/office/drawing/2014/main" id="{9DDFEA8A-128C-5EC2-DFF4-9DD7130BD26E}"/>
                    </a:ext>
                  </a:extLst>
                </p:cNvPr>
                <p:cNvSpPr txBox="1"/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10.8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Object 7">
                  <a:extLst>
                    <a:ext uri="{FF2B5EF4-FFF2-40B4-BE49-F238E27FC236}">
                      <a16:creationId xmlns:a16="http://schemas.microsoft.com/office/drawing/2014/main" id="{9DDFEA8A-128C-5EC2-DFF4-9DD7130BD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  <a:blipFill>
                  <a:blip r:embed="rId28"/>
                  <a:stretch>
                    <a:fillRect r="-1862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7">
                <a:extLst>
                  <a:ext uri="{FF2B5EF4-FFF2-40B4-BE49-F238E27FC236}">
                    <a16:creationId xmlns:a16="http://schemas.microsoft.com/office/drawing/2014/main" id="{05868FEA-CC9B-03CD-C19E-38E026FCBB8C}"/>
                  </a:ext>
                </a:extLst>
              </p:cNvPr>
              <p:cNvSpPr txBox="1"/>
              <p:nvPr/>
            </p:nvSpPr>
            <p:spPr>
              <a:xfrm>
                <a:off x="10975042" y="3753738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Object 7">
                <a:extLst>
                  <a:ext uri="{FF2B5EF4-FFF2-40B4-BE49-F238E27FC236}">
                    <a16:creationId xmlns:a16="http://schemas.microsoft.com/office/drawing/2014/main" id="{05868FEA-CC9B-03CD-C19E-38E026FCB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5042" y="3753738"/>
                <a:ext cx="625126" cy="525751"/>
              </a:xfrm>
              <a:prstGeom prst="rect">
                <a:avLst/>
              </a:prstGeom>
              <a:blipFill>
                <a:blip r:embed="rId29"/>
                <a:stretch>
                  <a:fillRect r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7">
                <a:extLst>
                  <a:ext uri="{FF2B5EF4-FFF2-40B4-BE49-F238E27FC236}">
                    <a16:creationId xmlns:a16="http://schemas.microsoft.com/office/drawing/2014/main" id="{B618D490-CDC0-093A-D0D5-377968476E75}"/>
                  </a:ext>
                </a:extLst>
              </p:cNvPr>
              <p:cNvSpPr txBox="1"/>
              <p:nvPr/>
            </p:nvSpPr>
            <p:spPr>
              <a:xfrm>
                <a:off x="5995528" y="3784227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Object 7">
                <a:extLst>
                  <a:ext uri="{FF2B5EF4-FFF2-40B4-BE49-F238E27FC236}">
                    <a16:creationId xmlns:a16="http://schemas.microsoft.com/office/drawing/2014/main" id="{B618D490-CDC0-093A-D0D5-377968476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528" y="3784227"/>
                <a:ext cx="625126" cy="525751"/>
              </a:xfrm>
              <a:prstGeom prst="rect">
                <a:avLst/>
              </a:prstGeom>
              <a:blipFill>
                <a:blip r:embed="rId30"/>
                <a:stretch>
                  <a:fillRect r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2C5A3875-391A-92FD-F709-F600CD792DC9}"/>
              </a:ext>
            </a:extLst>
          </p:cNvPr>
          <p:cNvGrpSpPr/>
          <p:nvPr/>
        </p:nvGrpSpPr>
        <p:grpSpPr>
          <a:xfrm>
            <a:off x="6260020" y="4308829"/>
            <a:ext cx="5377475" cy="723994"/>
            <a:chOff x="6543709" y="2491550"/>
            <a:chExt cx="5377475" cy="723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bject 7">
                  <a:extLst>
                    <a:ext uri="{FF2B5EF4-FFF2-40B4-BE49-F238E27FC236}">
                      <a16:creationId xmlns:a16="http://schemas.microsoft.com/office/drawing/2014/main" id="{6028FDC5-1D4E-F621-81D9-68EF6DC8C518}"/>
                    </a:ext>
                  </a:extLst>
                </p:cNvPr>
                <p:cNvSpPr txBox="1"/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Object 7">
                  <a:extLst>
                    <a:ext uri="{FF2B5EF4-FFF2-40B4-BE49-F238E27FC236}">
                      <a16:creationId xmlns:a16="http://schemas.microsoft.com/office/drawing/2014/main" id="{6028FDC5-1D4E-F621-81D9-68EF6DC8C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709" y="2703181"/>
                  <a:ext cx="625126" cy="51236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Object 7">
                  <a:extLst>
                    <a:ext uri="{FF2B5EF4-FFF2-40B4-BE49-F238E27FC236}">
                      <a16:creationId xmlns:a16="http://schemas.microsoft.com/office/drawing/2014/main" id="{ED74A590-2F89-B139-D86F-4458D25691CC}"/>
                    </a:ext>
                  </a:extLst>
                </p:cNvPr>
                <p:cNvSpPr txBox="1"/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Object 7">
                  <a:extLst>
                    <a:ext uri="{FF2B5EF4-FFF2-40B4-BE49-F238E27FC236}">
                      <a16:creationId xmlns:a16="http://schemas.microsoft.com/office/drawing/2014/main" id="{ED74A590-2F89-B139-D86F-4458D2569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058" y="2689793"/>
                  <a:ext cx="625126" cy="525751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7">
                  <a:extLst>
                    <a:ext uri="{FF2B5EF4-FFF2-40B4-BE49-F238E27FC236}">
                      <a16:creationId xmlns:a16="http://schemas.microsoft.com/office/drawing/2014/main" id="{2F7BE410-BCA0-040E-619A-F4460B7C16FB}"/>
                    </a:ext>
                  </a:extLst>
                </p:cNvPr>
                <p:cNvSpPr txBox="1"/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−−−−−−−−−−−−−−→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Object 7">
                  <a:extLst>
                    <a:ext uri="{FF2B5EF4-FFF2-40B4-BE49-F238E27FC236}">
                      <a16:creationId xmlns:a16="http://schemas.microsoft.com/office/drawing/2014/main" id="{2F7BE410-BCA0-040E-619A-F4460B7C1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158" y="2681420"/>
                  <a:ext cx="4318260" cy="512363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bject 7">
                  <a:extLst>
                    <a:ext uri="{FF2B5EF4-FFF2-40B4-BE49-F238E27FC236}">
                      <a16:creationId xmlns:a16="http://schemas.microsoft.com/office/drawing/2014/main" id="{0D1CDABC-75F8-B53D-D721-80E56DA16B8B}"/>
                    </a:ext>
                  </a:extLst>
                </p:cNvPr>
                <p:cNvSpPr txBox="1"/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10.6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Object 7">
                  <a:extLst>
                    <a:ext uri="{FF2B5EF4-FFF2-40B4-BE49-F238E27FC236}">
                      <a16:creationId xmlns:a16="http://schemas.microsoft.com/office/drawing/2014/main" id="{0D1CDABC-75F8-B53D-D721-80E56DA16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9032" y="2491550"/>
                  <a:ext cx="625126" cy="512363"/>
                </a:xfrm>
                <a:prstGeom prst="rect">
                  <a:avLst/>
                </a:prstGeom>
                <a:blipFill>
                  <a:blip r:embed="rId34"/>
                  <a:stretch>
                    <a:fillRect r="-1844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7">
                <a:extLst>
                  <a:ext uri="{FF2B5EF4-FFF2-40B4-BE49-F238E27FC236}">
                    <a16:creationId xmlns:a16="http://schemas.microsoft.com/office/drawing/2014/main" id="{FA87C526-C5E2-337E-E035-CD252E6FBED0}"/>
                  </a:ext>
                </a:extLst>
              </p:cNvPr>
              <p:cNvSpPr txBox="1"/>
              <p:nvPr/>
            </p:nvSpPr>
            <p:spPr>
              <a:xfrm>
                <a:off x="10990281" y="5059638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20%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Object 7">
                <a:extLst>
                  <a:ext uri="{FF2B5EF4-FFF2-40B4-BE49-F238E27FC236}">
                    <a16:creationId xmlns:a16="http://schemas.microsoft.com/office/drawing/2014/main" id="{FA87C526-C5E2-337E-E035-CD252E6FB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281" y="5059638"/>
                <a:ext cx="625126" cy="525751"/>
              </a:xfrm>
              <a:prstGeom prst="rect">
                <a:avLst/>
              </a:prstGeom>
              <a:blipFill>
                <a:blip r:embed="rId35"/>
                <a:stretch>
                  <a:fillRect r="-25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7">
                <a:extLst>
                  <a:ext uri="{FF2B5EF4-FFF2-40B4-BE49-F238E27FC236}">
                    <a16:creationId xmlns:a16="http://schemas.microsoft.com/office/drawing/2014/main" id="{BCC7C9ED-79FE-15E1-419F-7061574E997F}"/>
                  </a:ext>
                </a:extLst>
              </p:cNvPr>
              <p:cNvSpPr txBox="1"/>
              <p:nvPr/>
            </p:nvSpPr>
            <p:spPr>
              <a:xfrm>
                <a:off x="6010767" y="5090127"/>
                <a:ext cx="625126" cy="52575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Object 7">
                <a:extLst>
                  <a:ext uri="{FF2B5EF4-FFF2-40B4-BE49-F238E27FC236}">
                    <a16:creationId xmlns:a16="http://schemas.microsoft.com/office/drawing/2014/main" id="{BCC7C9ED-79FE-15E1-419F-7061574E9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767" y="5090127"/>
                <a:ext cx="625126" cy="525751"/>
              </a:xfrm>
              <a:prstGeom prst="rect">
                <a:avLst/>
              </a:prstGeom>
              <a:blipFill>
                <a:blip r:embed="rId36"/>
                <a:stretch>
                  <a:fillRect r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85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51" grpId="0"/>
      <p:bldP spid="57" grpId="0"/>
      <p:bldP spid="58" grpId="0"/>
      <p:bldP spid="64" grpId="0"/>
      <p:bldP spid="65" grpId="0"/>
      <p:bldP spid="71" grpId="0"/>
      <p:bldP spid="7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71923-E1B3-1362-96BB-1D32C9641EEF}"/>
              </a:ext>
            </a:extLst>
          </p:cNvPr>
          <p:cNvSpPr txBox="1"/>
          <p:nvPr/>
        </p:nvSpPr>
        <p:spPr>
          <a:xfrm>
            <a:off x="198390" y="1199423"/>
            <a:ext cx="105318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</a:rPr>
              <a:t>It was found that practically every element consists of a mixture of several isotopes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38A32-0234-660C-986B-5E773F8DA67A}"/>
              </a:ext>
            </a:extLst>
          </p:cNvPr>
          <p:cNvSpPr txBox="1"/>
          <p:nvPr/>
        </p:nvSpPr>
        <p:spPr>
          <a:xfrm>
            <a:off x="198390" y="205982"/>
            <a:ext cx="105318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</a:rPr>
              <a:t>(In Greek, isotope means the same place, i.e. they occur in the same place in the periodic table of elements.) 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8C44F-F95F-E2B3-4A6E-302E0483A987}"/>
              </a:ext>
            </a:extLst>
          </p:cNvPr>
          <p:cNvSpPr txBox="1"/>
          <p:nvPr/>
        </p:nvSpPr>
        <p:spPr>
          <a:xfrm>
            <a:off x="198390" y="2311648"/>
            <a:ext cx="104818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</a:rPr>
              <a:t>The two isotopes of hydrogen are called deuterium and tritium. Tritium nuclei, being unstable, do not occur naturally and are produced artificially in laboratories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1A5C0-5AD9-F946-E470-02701145F353}"/>
              </a:ext>
            </a:extLst>
          </p:cNvPr>
          <p:cNvSpPr txBox="1"/>
          <p:nvPr/>
        </p:nvSpPr>
        <p:spPr>
          <a:xfrm>
            <a:off x="198390" y="3696643"/>
            <a:ext cx="10481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00"/>
                </a:solidFill>
              </a:rPr>
              <a:t>Prescence of isotopes give hint of existence of neutron.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349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F1AAFFF-5E6F-A135-D4DC-E342D9CD2E51}"/>
              </a:ext>
            </a:extLst>
          </p:cNvPr>
          <p:cNvGrpSpPr/>
          <p:nvPr/>
        </p:nvGrpSpPr>
        <p:grpSpPr>
          <a:xfrm>
            <a:off x="1640027" y="3060652"/>
            <a:ext cx="7946500" cy="952517"/>
            <a:chOff x="1640027" y="3060652"/>
            <a:chExt cx="7946500" cy="952517"/>
          </a:xfrm>
        </p:grpSpPr>
        <p:sp>
          <p:nvSpPr>
            <p:cNvPr id="3" name="Freeform 62">
              <a:extLst>
                <a:ext uri="{FF2B5EF4-FFF2-40B4-BE49-F238E27FC236}">
                  <a16:creationId xmlns:a16="http://schemas.microsoft.com/office/drawing/2014/main" id="{6D82D680-9AED-3F1C-C283-E80D91CC8489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640027" y="3599001"/>
              <a:ext cx="2046675" cy="180010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ln>
                  <a:noFill/>
                </a:ln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DA1B08-1E5A-EEF6-9D86-48BDE69DA60C}"/>
                </a:ext>
              </a:extLst>
            </p:cNvPr>
            <p:cNvSpPr txBox="1"/>
            <p:nvPr/>
          </p:nvSpPr>
          <p:spPr>
            <a:xfrm>
              <a:off x="1640027" y="3060652"/>
              <a:ext cx="29530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Size of nucleus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7E5E331-5517-61A1-3855-CE5BD3AF1BE0}"/>
                </a:ext>
              </a:extLst>
            </p:cNvPr>
            <p:cNvSpPr/>
            <p:nvPr/>
          </p:nvSpPr>
          <p:spPr>
            <a:xfrm>
              <a:off x="5344183" y="3502060"/>
              <a:ext cx="189942" cy="1899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97D24D-ABAD-1636-5268-86EB80392046}"/>
                </a:ext>
              </a:extLst>
            </p:cNvPr>
            <p:cNvSpPr/>
            <p:nvPr/>
          </p:nvSpPr>
          <p:spPr>
            <a:xfrm>
              <a:off x="6491453" y="3405585"/>
              <a:ext cx="382892" cy="3828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8651BA-DBE2-F269-F5C2-5519B87CF806}"/>
                </a:ext>
              </a:extLst>
            </p:cNvPr>
            <p:cNvSpPr/>
            <p:nvPr/>
          </p:nvSpPr>
          <p:spPr>
            <a:xfrm>
              <a:off x="7614901" y="3285288"/>
              <a:ext cx="623486" cy="6234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4231BA5-DC82-191A-14BF-BA23FF7BCFCD}"/>
                </a:ext>
              </a:extLst>
            </p:cNvPr>
            <p:cNvSpPr/>
            <p:nvPr/>
          </p:nvSpPr>
          <p:spPr>
            <a:xfrm>
              <a:off x="8754251" y="3180893"/>
              <a:ext cx="832276" cy="83227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1812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2013" y="1724054"/>
                <a:ext cx="2286068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13" y="1724054"/>
                <a:ext cx="2286068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62912" y="2236960"/>
                <a:ext cx="1893788" cy="8832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sz="3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𝑚𝑎𝑠𝑠</m:t>
                          </m:r>
                        </m:num>
                        <m:den>
                          <m: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𝑣𝑜𝑙</m:t>
                          </m:r>
                        </m:den>
                      </m:f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912" y="2236960"/>
                <a:ext cx="1893788" cy="8832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476893" y="1549626"/>
                <a:ext cx="89646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893" y="1549626"/>
                <a:ext cx="896464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387429" y="3101919"/>
                <a:ext cx="896463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429" y="3101919"/>
                <a:ext cx="89646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479610" y="4036826"/>
                <a:ext cx="224856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𝐶𝑜𝑛𝑠𝑡𝑎𝑛𝑡</m:t>
                      </m:r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610" y="4036826"/>
                <a:ext cx="224856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92013" y="3494928"/>
                <a:ext cx="1024127" cy="969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13" y="3494928"/>
                <a:ext cx="1024127" cy="969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 62">
            <a:extLst>
              <a:ext uri="{FF2B5EF4-FFF2-40B4-BE49-F238E27FC236}">
                <a16:creationId xmlns:a16="http://schemas.microsoft.com/office/drawing/2014/main" id="{0F79EF04-C047-BE31-A0BA-1180E6E780B9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7F255-0998-E439-4BFC-933667E2C20B}"/>
              </a:ext>
            </a:extLst>
          </p:cNvPr>
          <p:cNvSpPr txBox="1"/>
          <p:nvPr/>
        </p:nvSpPr>
        <p:spPr>
          <a:xfrm>
            <a:off x="371062" y="261468"/>
            <a:ext cx="2953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Size of nucleus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AB15BC-E65F-15AF-5A98-86283A2C4A52}"/>
                  </a:ext>
                </a:extLst>
              </p:cNvPr>
              <p:cNvSpPr/>
              <p:nvPr/>
            </p:nvSpPr>
            <p:spPr>
              <a:xfrm>
                <a:off x="497042" y="2550867"/>
                <a:ext cx="3936992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=1.2∗</m:t>
                      </m:r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3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−15</m:t>
                          </m:r>
                        </m:sup>
                      </m:sSup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AB15BC-E65F-15AF-5A98-86283A2C4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42" y="2550867"/>
                <a:ext cx="3936992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3C2FC-B28D-D09E-3552-BE4A4D032F1F}"/>
                  </a:ext>
                </a:extLst>
              </p:cNvPr>
              <p:cNvSpPr/>
              <p:nvPr/>
            </p:nvSpPr>
            <p:spPr>
              <a:xfrm>
                <a:off x="7490636" y="3106999"/>
                <a:ext cx="1083438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3C2FC-B28D-D09E-3552-BE4A4D032F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636" y="3106999"/>
                <a:ext cx="1083438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2398A9-7052-A62E-B964-F79B6EDBB7E1}"/>
                  </a:ext>
                </a:extLst>
              </p:cNvPr>
              <p:cNvSpPr/>
              <p:nvPr/>
            </p:nvSpPr>
            <p:spPr>
              <a:xfrm>
                <a:off x="8473907" y="3052650"/>
                <a:ext cx="1864357" cy="5712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3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12398A9-7052-A62E-B964-F79B6EDBB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07" y="3052650"/>
                <a:ext cx="1864357" cy="5712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76C0C11-0425-5F1D-B55D-D115ECD1FE85}"/>
                  </a:ext>
                </a:extLst>
              </p:cNvPr>
              <p:cNvSpPr/>
              <p:nvPr/>
            </p:nvSpPr>
            <p:spPr>
              <a:xfrm>
                <a:off x="7551006" y="4036826"/>
                <a:ext cx="2369816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2.3</m:t>
                          </m:r>
                          <m:r>
                            <a:rPr lang="en-IN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30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30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17</m:t>
                          </m:r>
                        </m:sup>
                      </m:sSup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76C0C11-0425-5F1D-B55D-D115ECD1F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006" y="4036826"/>
                <a:ext cx="2369816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E1B5842-DCC7-B995-1C53-6778B66EB614}"/>
              </a:ext>
            </a:extLst>
          </p:cNvPr>
          <p:cNvGrpSpPr/>
          <p:nvPr/>
        </p:nvGrpSpPr>
        <p:grpSpPr>
          <a:xfrm>
            <a:off x="5873984" y="2601097"/>
            <a:ext cx="1616652" cy="782901"/>
            <a:chOff x="5315648" y="1560607"/>
            <a:chExt cx="1616652" cy="7829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B6FA23C-35C7-C341-D033-315E9D268750}"/>
                </a:ext>
              </a:extLst>
            </p:cNvPr>
            <p:cNvSpPr/>
            <p:nvPr/>
          </p:nvSpPr>
          <p:spPr>
            <a:xfrm>
              <a:off x="5315648" y="1560607"/>
              <a:ext cx="1148077" cy="593800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7E12A0B4-18BF-3444-9D6A-4D6D921A1712}"/>
                </a:ext>
              </a:extLst>
            </p:cNvPr>
            <p:cNvCxnSpPr>
              <a:cxnSpLocks/>
              <a:stCxn id="3" idx="3"/>
              <a:endCxn id="12" idx="1"/>
            </p:cNvCxnSpPr>
            <p:nvPr/>
          </p:nvCxnSpPr>
          <p:spPr>
            <a:xfrm>
              <a:off x="6463725" y="1857507"/>
              <a:ext cx="468575" cy="486001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55B808-5646-68FB-C05B-D87451B55500}"/>
              </a:ext>
            </a:extLst>
          </p:cNvPr>
          <p:cNvGrpSpPr/>
          <p:nvPr/>
        </p:nvGrpSpPr>
        <p:grpSpPr>
          <a:xfrm>
            <a:off x="5893283" y="1826625"/>
            <a:ext cx="1583610" cy="849153"/>
            <a:chOff x="5380942" y="2315747"/>
            <a:chExt cx="1583610" cy="8491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2ED8A94-D0A9-5A99-22FC-81327F215A1E}"/>
                </a:ext>
              </a:extLst>
            </p:cNvPr>
            <p:cNvSpPr/>
            <p:nvPr/>
          </p:nvSpPr>
          <p:spPr>
            <a:xfrm>
              <a:off x="5380942" y="2571100"/>
              <a:ext cx="1148077" cy="593800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07B040BB-D89C-C6B5-DC6B-AA6C628C5B7E}"/>
                </a:ext>
              </a:extLst>
            </p:cNvPr>
            <p:cNvCxnSpPr>
              <a:cxnSpLocks/>
              <a:stCxn id="13" idx="3"/>
              <a:endCxn id="7" idx="1"/>
            </p:cNvCxnSpPr>
            <p:nvPr/>
          </p:nvCxnSpPr>
          <p:spPr>
            <a:xfrm flipV="1">
              <a:off x="6529019" y="2315747"/>
              <a:ext cx="435533" cy="552253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EFE8876-01DC-3AB0-AF65-065C6E819CBD}"/>
                  </a:ext>
                </a:extLst>
              </p:cNvPr>
              <p:cNvSpPr/>
              <p:nvPr/>
            </p:nvSpPr>
            <p:spPr>
              <a:xfrm>
                <a:off x="1437475" y="3362638"/>
                <a:ext cx="1537857" cy="11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IN" sz="28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IN" sz="28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EFE8876-01DC-3AB0-AF65-065C6E819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75" y="3362638"/>
                <a:ext cx="1537857" cy="117359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D19DE662-A0B3-9CCE-A1F1-4512E18B2B37}"/>
              </a:ext>
            </a:extLst>
          </p:cNvPr>
          <p:cNvSpPr/>
          <p:nvPr/>
        </p:nvSpPr>
        <p:spPr>
          <a:xfrm>
            <a:off x="138226" y="1049329"/>
            <a:ext cx="231210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#For radius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E27814-8414-4BE0-D41D-0FF573B835B5}"/>
              </a:ext>
            </a:extLst>
          </p:cNvPr>
          <p:cNvSpPr/>
          <p:nvPr/>
        </p:nvSpPr>
        <p:spPr>
          <a:xfrm>
            <a:off x="4565536" y="1098744"/>
            <a:ext cx="258513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#For Density</a:t>
            </a:r>
          </a:p>
        </p:txBody>
      </p:sp>
    </p:spTree>
    <p:extLst>
      <p:ext uri="{BB962C8B-B14F-4D97-AF65-F5344CB8AC3E}">
        <p14:creationId xmlns:p14="http://schemas.microsoft.com/office/powerpoint/2010/main" val="30111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4" grpId="0"/>
      <p:bldP spid="12" grpId="0"/>
      <p:bldP spid="14" grpId="0"/>
      <p:bldP spid="1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644087" y="1144451"/>
                <a:ext cx="2220160" cy="11822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087" y="1144451"/>
                <a:ext cx="2220160" cy="11822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817990" y="3456825"/>
                <a:ext cx="1342099" cy="9750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990" y="3456825"/>
                <a:ext cx="1342099" cy="975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0D95040-AE3D-6545-AD81-EE4A8838B7AD}"/>
              </a:ext>
            </a:extLst>
          </p:cNvPr>
          <p:cNvGrpSpPr/>
          <p:nvPr/>
        </p:nvGrpSpPr>
        <p:grpSpPr>
          <a:xfrm>
            <a:off x="3927255" y="139222"/>
            <a:ext cx="4427366" cy="979370"/>
            <a:chOff x="0" y="563142"/>
            <a:chExt cx="4427366" cy="9793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0" y="1012367"/>
                  <a:ext cx="4427366" cy="5301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Find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ratio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of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12367"/>
                  <a:ext cx="4427366" cy="530145"/>
                </a:xfrm>
                <a:prstGeom prst="rect">
                  <a:avLst/>
                </a:prstGeom>
                <a:blipFill>
                  <a:blip r:embed="rId4"/>
                  <a:stretch>
                    <a:fillRect l="-2751" t="-10465" b="-337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67BE2D9-7948-2CEC-5185-0657DCFAF18E}"/>
                </a:ext>
              </a:extLst>
            </p:cNvPr>
            <p:cNvSpPr/>
            <p:nvPr/>
          </p:nvSpPr>
          <p:spPr>
            <a:xfrm>
              <a:off x="119947" y="563142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CD844-F566-66A1-900B-314C06E454EA}"/>
              </a:ext>
            </a:extLst>
          </p:cNvPr>
          <p:cNvGrpSpPr/>
          <p:nvPr/>
        </p:nvGrpSpPr>
        <p:grpSpPr>
          <a:xfrm>
            <a:off x="4091377" y="2367506"/>
            <a:ext cx="7607467" cy="996298"/>
            <a:chOff x="0" y="2932102"/>
            <a:chExt cx="7607467" cy="9962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0" y="3388252"/>
                  <a:ext cx="7607467" cy="5401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What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is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ratio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of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density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for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sPre>
                        <m:sPre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sPre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a14:m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as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compared</a:t>
                  </a:r>
                  <a:r>
                    <a:rPr lang="en-US" sz="2800" i="0" dirty="0">
                      <a:solidFill>
                        <a:srgbClr val="FFFF00"/>
                      </a:solidFill>
                      <a:latin typeface="+mj-lt"/>
                    </a:rPr>
                    <a:t> </a:t>
                  </a:r>
                  <a:r>
                    <a:rPr lang="en-IN" sz="2800" i="0" dirty="0">
                      <a:solidFill>
                        <a:srgbClr val="FFFF00"/>
                      </a:solidFill>
                      <a:latin typeface="+mj-lt"/>
                    </a:rPr>
                    <a:t>to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Pre>
                        <m:sPrePr>
                          <m:ctrlP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235</m:t>
                          </m:r>
                        </m:sup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sPre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3388252"/>
                  <a:ext cx="7607467" cy="540148"/>
                </a:xfrm>
                <a:prstGeom prst="rect">
                  <a:avLst/>
                </a:prstGeom>
                <a:blipFill>
                  <a:blip r:embed="rId5"/>
                  <a:stretch>
                    <a:fillRect l="-1603" t="-6742" b="-314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709025-F44E-A170-C958-E6DE85FE3EBB}"/>
                </a:ext>
              </a:extLst>
            </p:cNvPr>
            <p:cNvSpPr/>
            <p:nvPr/>
          </p:nvSpPr>
          <p:spPr>
            <a:xfrm>
              <a:off x="31020" y="2932102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4174F9-216D-C44A-6794-036A7EE31701}"/>
                  </a:ext>
                </a:extLst>
              </p:cNvPr>
              <p:cNvSpPr/>
              <p:nvPr/>
            </p:nvSpPr>
            <p:spPr>
              <a:xfrm>
                <a:off x="94971" y="620111"/>
                <a:ext cx="2286068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4174F9-216D-C44A-6794-036A7EE31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1" y="620111"/>
                <a:ext cx="2286068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0E156F-CF7C-79EE-2E27-0E2AF47DB378}"/>
                  </a:ext>
                </a:extLst>
              </p:cNvPr>
              <p:cNvSpPr/>
              <p:nvPr/>
            </p:nvSpPr>
            <p:spPr>
              <a:xfrm>
                <a:off x="74708" y="3849834"/>
                <a:ext cx="1893788" cy="8832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IN" sz="3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𝑚𝑎𝑠𝑠</m:t>
                          </m:r>
                        </m:num>
                        <m:den>
                          <m:r>
                            <a:rPr lang="en-IN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𝑣𝑜𝑙</m:t>
                          </m:r>
                        </m:den>
                      </m:f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20E156F-CF7C-79EE-2E27-0E2AF47DB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8" y="3849834"/>
                <a:ext cx="1893788" cy="8832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0410340-8BAD-FC54-79EA-E33925C2ADD0}"/>
                  </a:ext>
                </a:extLst>
              </p:cNvPr>
              <p:cNvSpPr/>
              <p:nvPr/>
            </p:nvSpPr>
            <p:spPr>
              <a:xfrm>
                <a:off x="398355" y="4734007"/>
                <a:ext cx="224856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𝐶𝑜𝑛𝑠𝑡𝑎𝑛𝑡</m:t>
                      </m:r>
                    </m:oMath>
                  </m:oMathPara>
                </a14:m>
                <a:endParaRPr lang="en-IN" sz="3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0410340-8BAD-FC54-79EA-E33925C2A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55" y="4734007"/>
                <a:ext cx="2248564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4A476A-651A-B65E-49AD-FD49B74841AF}"/>
                  </a:ext>
                </a:extLst>
              </p:cNvPr>
              <p:cNvSpPr/>
              <p:nvPr/>
            </p:nvSpPr>
            <p:spPr>
              <a:xfrm>
                <a:off x="94971" y="2390985"/>
                <a:ext cx="1024127" cy="969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4A476A-651A-B65E-49AD-FD49B74841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1" y="2390985"/>
                <a:ext cx="1024127" cy="9694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B0DAAE-A232-C3AB-8D59-F823A506E6AC}"/>
                  </a:ext>
                </a:extLst>
              </p:cNvPr>
              <p:cNvSpPr/>
              <p:nvPr/>
            </p:nvSpPr>
            <p:spPr>
              <a:xfrm>
                <a:off x="0" y="1446924"/>
                <a:ext cx="3936992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2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=1.2∗</m:t>
                      </m:r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32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−15</m:t>
                          </m:r>
                        </m:sup>
                      </m:sSup>
                      <m:sSup>
                        <m:sSupPr>
                          <m:ctrlP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32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B0DAAE-A232-C3AB-8D59-F823A506E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6924"/>
                <a:ext cx="3936992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5DB2D6-35FA-23B7-E3BC-7CE6F557A38B}"/>
                  </a:ext>
                </a:extLst>
              </p:cNvPr>
              <p:cNvSpPr/>
              <p:nvPr/>
            </p:nvSpPr>
            <p:spPr>
              <a:xfrm>
                <a:off x="940433" y="2258695"/>
                <a:ext cx="1537857" cy="11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IN" sz="28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IN" sz="28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5DB2D6-35FA-23B7-E3BC-7CE6F557A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33" y="2258695"/>
                <a:ext cx="1537857" cy="11735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CF7D91-575C-0CB1-4BDC-EEAB095DFF60}"/>
              </a:ext>
            </a:extLst>
          </p:cNvPr>
          <p:cNvCxnSpPr/>
          <p:nvPr/>
        </p:nvCxnSpPr>
        <p:spPr>
          <a:xfrm>
            <a:off x="3927255" y="0"/>
            <a:ext cx="0" cy="6783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8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2">
            <a:extLst>
              <a:ext uri="{FF2B5EF4-FFF2-40B4-BE49-F238E27FC236}">
                <a16:creationId xmlns:a16="http://schemas.microsoft.com/office/drawing/2014/main" id="{C74686D1-3EDA-2BF6-8A88-01176BD44689}"/>
              </a:ext>
            </a:extLst>
          </p:cNvPr>
          <p:cNvSpPr>
            <a:spLocks noEditPoints="1"/>
          </p:cNvSpPr>
          <p:nvPr/>
        </p:nvSpPr>
        <p:spPr bwMode="invGray">
          <a:xfrm>
            <a:off x="3172136" y="3429000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1279E-9B90-F724-17BF-16DCC9A25EFE}"/>
              </a:ext>
            </a:extLst>
          </p:cNvPr>
          <p:cNvSpPr txBox="1"/>
          <p:nvPr/>
        </p:nvSpPr>
        <p:spPr>
          <a:xfrm>
            <a:off x="3172136" y="2890651"/>
            <a:ext cx="2793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Nuclear force </a:t>
            </a:r>
          </a:p>
        </p:txBody>
      </p:sp>
    </p:spTree>
    <p:extLst>
      <p:ext uri="{BB962C8B-B14F-4D97-AF65-F5344CB8AC3E}">
        <p14:creationId xmlns:p14="http://schemas.microsoft.com/office/powerpoint/2010/main" val="208306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2">
            <a:extLst>
              <a:ext uri="{FF2B5EF4-FFF2-40B4-BE49-F238E27FC236}">
                <a16:creationId xmlns:a16="http://schemas.microsoft.com/office/drawing/2014/main" id="{59C5DC93-830D-8D28-A496-625AE97B6AAB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420D96-57C1-E62F-BAAD-02845018EC32}"/>
              </a:ext>
            </a:extLst>
          </p:cNvPr>
          <p:cNvSpPr txBox="1"/>
          <p:nvPr/>
        </p:nvSpPr>
        <p:spPr>
          <a:xfrm>
            <a:off x="371062" y="261468"/>
            <a:ext cx="2793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Nuclear force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C5622-6701-D487-2BD7-E0979A6B709B}"/>
              </a:ext>
            </a:extLst>
          </p:cNvPr>
          <p:cNvSpPr txBox="1"/>
          <p:nvPr/>
        </p:nvSpPr>
        <p:spPr>
          <a:xfrm>
            <a:off x="167417" y="1095046"/>
            <a:ext cx="57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bg1"/>
                </a:solidFill>
              </a:rPr>
              <a:t>Range of nuclear force is ________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2B57DC-3814-6D17-DD65-2289D398BA14}"/>
              </a:ext>
            </a:extLst>
          </p:cNvPr>
          <p:cNvSpPr/>
          <p:nvPr/>
        </p:nvSpPr>
        <p:spPr>
          <a:xfrm>
            <a:off x="4459736" y="1010407"/>
            <a:ext cx="23506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3000" dirty="0">
                <a:solidFill>
                  <a:srgbClr val="FFFF00"/>
                </a:solidFill>
                <a:latin typeface="Calibri" panose="020F0502020204030204" pitchFamily="34" charset="0"/>
              </a:rPr>
              <a:t>small</a:t>
            </a:r>
            <a:endParaRPr lang="en-GB" sz="30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45F69C-DB6F-52D0-E9F4-8709B30AB4FE}"/>
              </a:ext>
            </a:extLst>
          </p:cNvPr>
          <p:cNvSpPr txBox="1"/>
          <p:nvPr/>
        </p:nvSpPr>
        <p:spPr>
          <a:xfrm>
            <a:off x="167416" y="1526982"/>
            <a:ext cx="8960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bg1"/>
                </a:solidFill>
              </a:rPr>
              <a:t>Range of Strong nuclear force is ________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0FEEC3F-D1BD-C406-E5F6-7D9FED129FB2}"/>
                  </a:ext>
                </a:extLst>
              </p:cNvPr>
              <p:cNvSpPr/>
              <p:nvPr/>
            </p:nvSpPr>
            <p:spPr>
              <a:xfrm>
                <a:off x="5418295" y="1483888"/>
                <a:ext cx="1392112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−15</m:t>
                          </m:r>
                        </m:sup>
                      </m:sSup>
                    </m:oMath>
                  </m:oMathPara>
                </a14:m>
                <a:endParaRPr lang="en-GB" sz="3000" dirty="0">
                  <a:solidFill>
                    <a:srgbClr val="FFFF00"/>
                  </a:solidFill>
                  <a:latin typeface="Noto Sans Symbols"/>
                </a:endParaRPr>
              </a:p>
            </p:txBody>
          </p:sp>
        </mc:Choice>
        <mc:Fallback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0FEEC3F-D1BD-C406-E5F6-7D9FED129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295" y="1483888"/>
                <a:ext cx="139211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TextBox 1027">
            <a:extLst>
              <a:ext uri="{FF2B5EF4-FFF2-40B4-BE49-F238E27FC236}">
                <a16:creationId xmlns:a16="http://schemas.microsoft.com/office/drawing/2014/main" id="{69383BB5-3FAE-43AF-2DA0-622F2E33B90F}"/>
              </a:ext>
            </a:extLst>
          </p:cNvPr>
          <p:cNvSpPr txBox="1"/>
          <p:nvPr/>
        </p:nvSpPr>
        <p:spPr>
          <a:xfrm>
            <a:off x="167415" y="1958918"/>
            <a:ext cx="858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bg1"/>
                </a:solidFill>
              </a:rPr>
              <a:t>Range of week nuclear force is ________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4" name="Rectangle 1033">
                <a:extLst>
                  <a:ext uri="{FF2B5EF4-FFF2-40B4-BE49-F238E27FC236}">
                    <a16:creationId xmlns:a16="http://schemas.microsoft.com/office/drawing/2014/main" id="{1C1D547B-8795-7F06-83E6-8DE63C12CA4A}"/>
                  </a:ext>
                </a:extLst>
              </p:cNvPr>
              <p:cNvSpPr/>
              <p:nvPr/>
            </p:nvSpPr>
            <p:spPr>
              <a:xfrm>
                <a:off x="5316917" y="1911751"/>
                <a:ext cx="1392112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30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GB" sz="3000" dirty="0">
                  <a:solidFill>
                    <a:srgbClr val="FFFF00"/>
                  </a:solidFill>
                  <a:latin typeface="Noto Sans Symbols"/>
                </a:endParaRPr>
              </a:p>
            </p:txBody>
          </p:sp>
        </mc:Choice>
        <mc:Fallback>
          <p:sp>
            <p:nvSpPr>
              <p:cNvPr id="1034" name="Rectangle 1033">
                <a:extLst>
                  <a:ext uri="{FF2B5EF4-FFF2-40B4-BE49-F238E27FC236}">
                    <a16:creationId xmlns:a16="http://schemas.microsoft.com/office/drawing/2014/main" id="{1C1D547B-8795-7F06-83E6-8DE63C12C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917" y="1911751"/>
                <a:ext cx="139211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8" name="TextBox 1037">
            <a:extLst>
              <a:ext uri="{FF2B5EF4-FFF2-40B4-BE49-F238E27FC236}">
                <a16:creationId xmlns:a16="http://schemas.microsoft.com/office/drawing/2014/main" id="{E6DCD365-D4BB-9DA1-E070-AF7098E1BD80}"/>
              </a:ext>
            </a:extLst>
          </p:cNvPr>
          <p:cNvSpPr txBox="1"/>
          <p:nvPr/>
        </p:nvSpPr>
        <p:spPr>
          <a:xfrm>
            <a:off x="167414" y="2445340"/>
            <a:ext cx="8584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chemeClr val="bg1"/>
                </a:solidFill>
              </a:rPr>
              <a:t>In general nuclear force is  _________  in nature but if distance is _________ it become __________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B6F3EF72-28AF-2ED2-B384-A76FC58AB03B}"/>
              </a:ext>
            </a:extLst>
          </p:cNvPr>
          <p:cNvSpPr/>
          <p:nvPr/>
        </p:nvSpPr>
        <p:spPr>
          <a:xfrm>
            <a:off x="4624751" y="2404850"/>
            <a:ext cx="20206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3000" dirty="0">
                <a:solidFill>
                  <a:srgbClr val="FFFF00"/>
                </a:solidFill>
                <a:latin typeface="Calibri" panose="020F0502020204030204" pitchFamily="34" charset="0"/>
              </a:rPr>
              <a:t>Attractive </a:t>
            </a:r>
            <a:endParaRPr lang="en-GB" sz="30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D064149-43DF-C414-CFBC-F057911818C2}"/>
              </a:ext>
            </a:extLst>
          </p:cNvPr>
          <p:cNvSpPr/>
          <p:nvPr/>
        </p:nvSpPr>
        <p:spPr>
          <a:xfrm>
            <a:off x="2439097" y="2837439"/>
            <a:ext cx="20206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3000" dirty="0">
                <a:solidFill>
                  <a:srgbClr val="FFFF00"/>
                </a:solidFill>
                <a:latin typeface="Calibri" panose="020F0502020204030204" pitchFamily="34" charset="0"/>
              </a:rPr>
              <a:t>0.8 fermi</a:t>
            </a:r>
            <a:endParaRPr lang="en-GB" sz="30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C5EBDAF-8D05-E97B-8D6B-6144F6F2802D}"/>
              </a:ext>
            </a:extLst>
          </p:cNvPr>
          <p:cNvSpPr/>
          <p:nvPr/>
        </p:nvSpPr>
        <p:spPr>
          <a:xfrm>
            <a:off x="5555823" y="2851982"/>
            <a:ext cx="20206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3000" dirty="0">
                <a:solidFill>
                  <a:srgbClr val="FFFF00"/>
                </a:solidFill>
                <a:latin typeface="Calibri" panose="020F0502020204030204" pitchFamily="34" charset="0"/>
              </a:rPr>
              <a:t>repulsive</a:t>
            </a:r>
            <a:endParaRPr lang="en-GB" sz="3000" dirty="0">
              <a:solidFill>
                <a:srgbClr val="FFFF00"/>
              </a:solidFill>
              <a:latin typeface="Noto Sans Symbols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808F1F71-53A1-295A-E242-8A6CEEDAAA58}"/>
              </a:ext>
            </a:extLst>
          </p:cNvPr>
          <p:cNvSpPr/>
          <p:nvPr/>
        </p:nvSpPr>
        <p:spPr>
          <a:xfrm>
            <a:off x="4073023" y="3399447"/>
            <a:ext cx="23506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3000" dirty="0">
                <a:solidFill>
                  <a:srgbClr val="FFFF00"/>
                </a:solidFill>
                <a:latin typeface="Calibri" panose="020F0502020204030204" pitchFamily="34" charset="0"/>
              </a:rPr>
              <a:t>independent</a:t>
            </a:r>
            <a:endParaRPr lang="en-GB" sz="3000" dirty="0">
              <a:solidFill>
                <a:srgbClr val="FFFF00"/>
              </a:solidFill>
              <a:latin typeface="Noto Sans Symbols"/>
            </a:endParaRPr>
          </a:p>
        </p:txBody>
      </p: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83792628-DD7A-7736-AC95-7459B1E425EA}"/>
              </a:ext>
            </a:extLst>
          </p:cNvPr>
          <p:cNvGrpSpPr/>
          <p:nvPr/>
        </p:nvGrpSpPr>
        <p:grpSpPr>
          <a:xfrm>
            <a:off x="167413" y="3485399"/>
            <a:ext cx="6976060" cy="1053657"/>
            <a:chOff x="369358" y="3370180"/>
            <a:chExt cx="6976060" cy="1053657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5BCA1E97-F1B4-0EEA-F8C1-2EADEB4D5B57}"/>
                </a:ext>
              </a:extLst>
            </p:cNvPr>
            <p:cNvSpPr txBox="1"/>
            <p:nvPr/>
          </p:nvSpPr>
          <p:spPr>
            <a:xfrm>
              <a:off x="369358" y="3370180"/>
              <a:ext cx="697606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l">
                <a:buFont typeface="Wingdings" panose="05000000000000000000" pitchFamily="2" charset="2"/>
                <a:buChar char="§"/>
              </a:pPr>
              <a:r>
                <a:rPr lang="en-IN" sz="2800" dirty="0">
                  <a:solidFill>
                    <a:schemeClr val="bg1"/>
                  </a:solidFill>
                </a:rPr>
                <a:t>Nuclear force is charge ____________ i.e.  Nuclear force between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4" name="Rectangle 1053">
                  <a:extLst>
                    <a:ext uri="{FF2B5EF4-FFF2-40B4-BE49-F238E27FC236}">
                      <a16:creationId xmlns:a16="http://schemas.microsoft.com/office/drawing/2014/main" id="{12B7F586-9385-9108-CB03-ED7067561311}"/>
                    </a:ext>
                  </a:extLst>
                </p:cNvPr>
                <p:cNvSpPr/>
                <p:nvPr/>
              </p:nvSpPr>
              <p:spPr>
                <a:xfrm>
                  <a:off x="4206612" y="3867403"/>
                  <a:ext cx="2640723" cy="556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𝑝𝑝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𝑝𝑛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54" name="Rectangle 1053">
                  <a:extLst>
                    <a:ext uri="{FF2B5EF4-FFF2-40B4-BE49-F238E27FC236}">
                      <a16:creationId xmlns:a16="http://schemas.microsoft.com/office/drawing/2014/main" id="{12B7F586-9385-9108-CB03-ED70675613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612" y="3867403"/>
                  <a:ext cx="2640723" cy="5564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DF06A65D-48E6-301C-2FB4-E0E8550976C9}"/>
                  </a:ext>
                </a:extLst>
              </p:cNvPr>
              <p:cNvSpPr/>
              <p:nvPr/>
            </p:nvSpPr>
            <p:spPr>
              <a:xfrm>
                <a:off x="4562544" y="3966257"/>
                <a:ext cx="15087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DF06A65D-48E6-301C-2FB4-E0E8550976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544" y="3966257"/>
                <a:ext cx="150874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3B1033-A989-50C8-C972-7132E8E7B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71" y="1411439"/>
            <a:ext cx="3172268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2" grpId="0"/>
      <p:bldP spid="1034" grpId="0"/>
      <p:bldP spid="1043" grpId="0"/>
      <p:bldP spid="1044" grpId="0"/>
      <p:bldP spid="1050" grpId="0"/>
      <p:bldP spid="1053" grpId="0"/>
      <p:bldP spid="105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F563-A4E2-97AD-4058-5922DEE6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Rectangle 1066">
            <a:extLst>
              <a:ext uri="{FF2B5EF4-FFF2-40B4-BE49-F238E27FC236}">
                <a16:creationId xmlns:a16="http://schemas.microsoft.com/office/drawing/2014/main" id="{51332FE6-8B2C-2361-CAEF-7548608D613C}"/>
              </a:ext>
            </a:extLst>
          </p:cNvPr>
          <p:cNvSpPr/>
          <p:nvPr/>
        </p:nvSpPr>
        <p:spPr>
          <a:xfrm>
            <a:off x="1594225" y="2441465"/>
            <a:ext cx="69890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rgbClr val="FFFF00"/>
                </a:solidFill>
              </a:rPr>
              <a:t>Which of the following order of nuclear force is correct between proton and neutron in atom.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D2C0F2D3-D5EB-1807-2DED-054F4C15B0F9}"/>
              </a:ext>
            </a:extLst>
          </p:cNvPr>
          <p:cNvSpPr/>
          <p:nvPr/>
        </p:nvSpPr>
        <p:spPr>
          <a:xfrm>
            <a:off x="80261" y="2420259"/>
            <a:ext cx="15415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73C38-EB3D-4EBA-F6CD-8E8BBA840996}"/>
              </a:ext>
            </a:extLst>
          </p:cNvPr>
          <p:cNvSpPr/>
          <p:nvPr/>
        </p:nvSpPr>
        <p:spPr>
          <a:xfrm>
            <a:off x="1566638" y="1257017"/>
            <a:ext cx="68966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rgbClr val="FFFF00"/>
                </a:solidFill>
              </a:rPr>
              <a:t>Which of the following order of force is correct between proton and neutron in atom.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A4AAA0-D563-8EB1-4424-3904FC423618}"/>
              </a:ext>
            </a:extLst>
          </p:cNvPr>
          <p:cNvSpPr/>
          <p:nvPr/>
        </p:nvSpPr>
        <p:spPr>
          <a:xfrm>
            <a:off x="72995" y="1235811"/>
            <a:ext cx="15415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A16F34-CAD0-585A-10D8-7EE7AC1A5B27}"/>
              </a:ext>
            </a:extLst>
          </p:cNvPr>
          <p:cNvSpPr/>
          <p:nvPr/>
        </p:nvSpPr>
        <p:spPr>
          <a:xfrm>
            <a:off x="1573905" y="3589545"/>
            <a:ext cx="69449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rgbClr val="FFFF00"/>
                </a:solidFill>
              </a:rPr>
              <a:t>If the two particle are placed 1m apart then what is the order of force in between them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12FEF4-D243-97EC-0D1C-D4479DEC5243}"/>
              </a:ext>
            </a:extLst>
          </p:cNvPr>
          <p:cNvSpPr/>
          <p:nvPr/>
        </p:nvSpPr>
        <p:spPr>
          <a:xfrm>
            <a:off x="90421" y="3578499"/>
            <a:ext cx="15415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DDD8BE8-3B28-31C3-DC09-AA191046B4EE}"/>
                  </a:ext>
                </a:extLst>
              </p:cNvPr>
              <p:cNvSpPr/>
              <p:nvPr/>
            </p:nvSpPr>
            <p:spPr>
              <a:xfrm>
                <a:off x="381018" y="2390"/>
                <a:ext cx="264072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DDD8BE8-3B28-31C3-DC09-AA191046B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18" y="2390"/>
                <a:ext cx="2640723" cy="556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DC5F8DD-16BC-B634-EC41-1BB65DCE5B96}"/>
                  </a:ext>
                </a:extLst>
              </p:cNvPr>
              <p:cNvSpPr/>
              <p:nvPr/>
            </p:nvSpPr>
            <p:spPr>
              <a:xfrm>
                <a:off x="970713" y="912"/>
                <a:ext cx="14334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        &lt;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DC5F8DD-16BC-B634-EC41-1BB65DCE5B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13" y="912"/>
                <a:ext cx="143340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1AEBEC-000D-CE30-4FC1-482196420432}"/>
                  </a:ext>
                </a:extLst>
              </p:cNvPr>
              <p:cNvSpPr/>
              <p:nvPr/>
            </p:nvSpPr>
            <p:spPr>
              <a:xfrm>
                <a:off x="404736" y="543604"/>
                <a:ext cx="264072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1AEBEC-000D-CE30-4FC1-482196420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36" y="543604"/>
                <a:ext cx="2640723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FEC3B56-C49A-3A65-537C-DB9384D7932E}"/>
                  </a:ext>
                </a:extLst>
              </p:cNvPr>
              <p:cNvSpPr/>
              <p:nvPr/>
            </p:nvSpPr>
            <p:spPr>
              <a:xfrm>
                <a:off x="994431" y="542126"/>
                <a:ext cx="15087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         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FEC3B56-C49A-3A65-537C-DB9384D79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31" y="542126"/>
                <a:ext cx="150874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C31E0DA-81DD-AD67-65E2-2ED75AB8E5D0}"/>
                  </a:ext>
                </a:extLst>
              </p:cNvPr>
              <p:cNvSpPr/>
              <p:nvPr/>
            </p:nvSpPr>
            <p:spPr>
              <a:xfrm>
                <a:off x="3855421" y="27005"/>
                <a:ext cx="264072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C31E0DA-81DD-AD67-65E2-2ED75AB8E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21" y="27005"/>
                <a:ext cx="2640723" cy="556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DDEB8C7-96F1-02AA-9D65-541262457EEC}"/>
                  </a:ext>
                </a:extLst>
              </p:cNvPr>
              <p:cNvSpPr/>
              <p:nvPr/>
            </p:nvSpPr>
            <p:spPr>
              <a:xfrm>
                <a:off x="4445116" y="25527"/>
                <a:ext cx="15087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         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DDEB8C7-96F1-02AA-9D65-541262457E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116" y="25527"/>
                <a:ext cx="150874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0B8CB7F-1728-128D-8D67-B2E907B15955}"/>
                  </a:ext>
                </a:extLst>
              </p:cNvPr>
              <p:cNvSpPr/>
              <p:nvPr/>
            </p:nvSpPr>
            <p:spPr>
              <a:xfrm>
                <a:off x="3899459" y="568219"/>
                <a:ext cx="2640723" cy="556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𝑝𝑛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0B8CB7F-1728-128D-8D67-B2E907B159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459" y="568219"/>
                <a:ext cx="2640723" cy="556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D237FBD-7AF2-30E3-EBD9-0255FA8620D9}"/>
                  </a:ext>
                </a:extLst>
              </p:cNvPr>
              <p:cNvSpPr/>
              <p:nvPr/>
            </p:nvSpPr>
            <p:spPr>
              <a:xfrm>
                <a:off x="4489154" y="566741"/>
                <a:ext cx="15087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D237FBD-7AF2-30E3-EBD9-0255FA862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154" y="566741"/>
                <a:ext cx="150874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33DC969-086B-64DB-96C6-50D21D2B93BA}"/>
              </a:ext>
            </a:extLst>
          </p:cNvPr>
          <p:cNvGrpSpPr/>
          <p:nvPr/>
        </p:nvGrpSpPr>
        <p:grpSpPr>
          <a:xfrm>
            <a:off x="8864301" y="1529207"/>
            <a:ext cx="2640723" cy="557912"/>
            <a:chOff x="8864301" y="1529207"/>
            <a:chExt cx="2640723" cy="557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B98ECE2-6512-C8B2-A735-E0BD33B11D5C}"/>
                    </a:ext>
                  </a:extLst>
                </p:cNvPr>
                <p:cNvSpPr/>
                <p:nvPr/>
              </p:nvSpPr>
              <p:spPr>
                <a:xfrm>
                  <a:off x="8864301" y="1530685"/>
                  <a:ext cx="2640723" cy="556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𝑝𝑝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𝑝𝑛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B98ECE2-6512-C8B2-A735-E0BD33B11D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4301" y="1530685"/>
                  <a:ext cx="2640723" cy="55643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2119E7B-0E07-84CB-D8B3-1ADF569EDC6A}"/>
                    </a:ext>
                  </a:extLst>
                </p:cNvPr>
                <p:cNvSpPr/>
                <p:nvPr/>
              </p:nvSpPr>
              <p:spPr>
                <a:xfrm>
                  <a:off x="9453996" y="1529207"/>
                  <a:ext cx="150874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&lt;         </m:t>
                        </m:r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22119E7B-0E07-84CB-D8B3-1ADF569EDC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996" y="1529207"/>
                  <a:ext cx="1508746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1A6F3BE-E9FA-CDB5-01CB-C555C273123B}"/>
              </a:ext>
            </a:extLst>
          </p:cNvPr>
          <p:cNvGrpSpPr/>
          <p:nvPr/>
        </p:nvGrpSpPr>
        <p:grpSpPr>
          <a:xfrm>
            <a:off x="8827376" y="3773006"/>
            <a:ext cx="2640723" cy="557912"/>
            <a:chOff x="557136" y="694526"/>
            <a:chExt cx="2640723" cy="557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865DC91-8C42-20D6-68C4-51C84A033885}"/>
                    </a:ext>
                  </a:extLst>
                </p:cNvPr>
                <p:cNvSpPr/>
                <p:nvPr/>
              </p:nvSpPr>
              <p:spPr>
                <a:xfrm>
                  <a:off x="557136" y="696004"/>
                  <a:ext cx="2640723" cy="556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𝑝𝑝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𝑝𝑛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0865DC91-8C42-20D6-68C4-51C84A0338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136" y="696004"/>
                  <a:ext cx="2640723" cy="55643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9AA73EB-AA6E-F87B-D528-9F80B30E64CF}"/>
                    </a:ext>
                  </a:extLst>
                </p:cNvPr>
                <p:cNvSpPr/>
                <p:nvPr/>
              </p:nvSpPr>
              <p:spPr>
                <a:xfrm>
                  <a:off x="1146831" y="694526"/>
                  <a:ext cx="150874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&gt;         </m:t>
                        </m:r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9AA73EB-AA6E-F87B-D528-9F80B30E64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831" y="694526"/>
                  <a:ext cx="1508746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66ED6F1-79D8-017E-51BD-BCFA8874517B}"/>
              </a:ext>
            </a:extLst>
          </p:cNvPr>
          <p:cNvGrpSpPr/>
          <p:nvPr/>
        </p:nvGrpSpPr>
        <p:grpSpPr>
          <a:xfrm>
            <a:off x="8827059" y="2659701"/>
            <a:ext cx="2640723" cy="557912"/>
            <a:chOff x="8827059" y="2659701"/>
            <a:chExt cx="2640723" cy="557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6FA6FBC-5D11-2F7D-0987-AB8D926D5F10}"/>
                    </a:ext>
                  </a:extLst>
                </p:cNvPr>
                <p:cNvSpPr/>
                <p:nvPr/>
              </p:nvSpPr>
              <p:spPr>
                <a:xfrm>
                  <a:off x="8827059" y="2661179"/>
                  <a:ext cx="2640723" cy="556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𝑝𝑝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𝑝𝑛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6FA6FBC-5D11-2F7D-0987-AB8D926D5F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7059" y="2661179"/>
                  <a:ext cx="2640723" cy="55643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FAB1FD7-FA19-DAFD-131B-B22E195BA2D3}"/>
                    </a:ext>
                  </a:extLst>
                </p:cNvPr>
                <p:cNvSpPr/>
                <p:nvPr/>
              </p:nvSpPr>
              <p:spPr>
                <a:xfrm>
                  <a:off x="9416754" y="2659701"/>
                  <a:ext cx="150874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IN" sz="280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FAB1FD7-FA19-DAFD-131B-B22E195BA2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6754" y="2659701"/>
                  <a:ext cx="1508746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4151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1CEC0F-D89E-1DCA-5670-A95618FD8EB2}"/>
              </a:ext>
            </a:extLst>
          </p:cNvPr>
          <p:cNvGrpSpPr/>
          <p:nvPr/>
        </p:nvGrpSpPr>
        <p:grpSpPr>
          <a:xfrm>
            <a:off x="159122" y="997318"/>
            <a:ext cx="11933140" cy="3075667"/>
            <a:chOff x="159122" y="997318"/>
            <a:chExt cx="11933140" cy="3075667"/>
          </a:xfrm>
        </p:grpSpPr>
        <p:sp>
          <p:nvSpPr>
            <p:cNvPr id="10" name="Rectangle 9"/>
            <p:cNvSpPr/>
            <p:nvPr/>
          </p:nvSpPr>
          <p:spPr>
            <a:xfrm>
              <a:off x="159123" y="997318"/>
              <a:ext cx="7140801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fontAlgn="base">
                <a:buFont typeface="Wingdings" panose="05000000000000000000" pitchFamily="2" charset="2"/>
                <a:buChar char="q"/>
              </a:pPr>
              <a:r>
                <a:rPr lang="en-GB" sz="3000" dirty="0">
                  <a:solidFill>
                    <a:schemeClr val="bg1"/>
                  </a:solidFill>
                  <a:latin typeface="Calibri" panose="020F0502020204030204" pitchFamily="34" charset="0"/>
                </a:rPr>
                <a:t>Nuclear force  ___________ superposition</a:t>
              </a:r>
              <a:endParaRPr lang="en-GB" sz="3000" dirty="0">
                <a:solidFill>
                  <a:schemeClr val="bg1"/>
                </a:solidFill>
                <a:latin typeface="Noto Sans Symbol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8802" y="1692736"/>
              <a:ext cx="59915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chemeClr val="bg1"/>
                  </a:solidFill>
                </a:rPr>
                <a:t>Super position _____ property of vector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9123" y="2368180"/>
              <a:ext cx="11933139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fontAlgn="base">
                <a:buFont typeface="Wingdings" panose="05000000000000000000" pitchFamily="2" charset="2"/>
                <a:buChar char="q"/>
              </a:pPr>
              <a:r>
                <a:rPr lang="en-GB" sz="3000" dirty="0">
                  <a:solidFill>
                    <a:schemeClr val="bg1"/>
                  </a:solidFill>
                  <a:latin typeface="Calibri" panose="020F0502020204030204" pitchFamily="34" charset="0"/>
                </a:rPr>
                <a:t>Force is __________________  in nature (conservative/Non-conservative)</a:t>
              </a:r>
              <a:endParaRPr lang="en-GB" sz="3000" dirty="0">
                <a:solidFill>
                  <a:schemeClr val="bg1"/>
                </a:solidFill>
                <a:latin typeface="Noto Sans Symbols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9123" y="3518987"/>
              <a:ext cx="7617598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fontAlgn="base">
                <a:buFont typeface="Wingdings" panose="05000000000000000000" pitchFamily="2" charset="2"/>
                <a:buChar char="q"/>
              </a:pPr>
              <a:r>
                <a:rPr lang="en-GB" sz="3000" dirty="0">
                  <a:solidFill>
                    <a:schemeClr val="bg1"/>
                  </a:solidFill>
                  <a:latin typeface="Calibri" panose="020F0502020204030204" pitchFamily="34" charset="0"/>
                </a:rPr>
                <a:t>Force is ____________ (central/non central)</a:t>
              </a:r>
              <a:endParaRPr lang="en-GB" sz="3000" dirty="0">
                <a:solidFill>
                  <a:schemeClr val="bg1"/>
                </a:solidFill>
                <a:latin typeface="Noto Sans Symbol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1548D8-5B91-D761-66F1-865C64EBB868}"/>
                </a:ext>
              </a:extLst>
            </p:cNvPr>
            <p:cNvSpPr/>
            <p:nvPr/>
          </p:nvSpPr>
          <p:spPr>
            <a:xfrm>
              <a:off x="159122" y="2884850"/>
              <a:ext cx="6304483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 fontAlgn="base">
                <a:buFont typeface="Wingdings" panose="05000000000000000000" pitchFamily="2" charset="2"/>
                <a:buChar char="q"/>
              </a:pPr>
              <a:r>
                <a:rPr lang="en-GB" sz="3000" dirty="0">
                  <a:solidFill>
                    <a:schemeClr val="bg1"/>
                  </a:solidFill>
                  <a:latin typeface="Calibri" panose="020F0502020204030204" pitchFamily="34" charset="0"/>
                </a:rPr>
                <a:t>_______________inverse square law</a:t>
              </a:r>
              <a:endParaRPr lang="en-GB" sz="3000" dirty="0">
                <a:solidFill>
                  <a:schemeClr val="bg1"/>
                </a:solidFill>
                <a:latin typeface="Noto Sans Symbols"/>
              </a:endParaRPr>
            </a:p>
          </p:txBody>
        </p:sp>
      </p:grpSp>
      <p:sp>
        <p:nvSpPr>
          <p:cNvPr id="5" name="Freeform 62">
            <a:extLst>
              <a:ext uri="{FF2B5EF4-FFF2-40B4-BE49-F238E27FC236}">
                <a16:creationId xmlns:a16="http://schemas.microsoft.com/office/drawing/2014/main" id="{9B34AACF-6AF3-275E-014E-6CF90535E77C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5EB96-07BD-F90B-C3D8-70CF09311DEC}"/>
              </a:ext>
            </a:extLst>
          </p:cNvPr>
          <p:cNvSpPr txBox="1"/>
          <p:nvPr/>
        </p:nvSpPr>
        <p:spPr>
          <a:xfrm>
            <a:off x="371062" y="261468"/>
            <a:ext cx="2793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Nuclear force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79504-6810-CC42-553D-4DEFC6A8E5C3}"/>
              </a:ext>
            </a:extLst>
          </p:cNvPr>
          <p:cNvSpPr txBox="1"/>
          <p:nvPr/>
        </p:nvSpPr>
        <p:spPr>
          <a:xfrm>
            <a:off x="2700449" y="979827"/>
            <a:ext cx="2369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 do not Follow 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905D9-BA1A-AB32-A879-2BAB1252E56E}"/>
              </a:ext>
            </a:extLst>
          </p:cNvPr>
          <p:cNvSpPr txBox="1"/>
          <p:nvPr/>
        </p:nvSpPr>
        <p:spPr>
          <a:xfrm>
            <a:off x="2880940" y="1611736"/>
            <a:ext cx="1314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Is not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C06BB-2934-62E8-3DA9-834D28F1EA36}"/>
              </a:ext>
            </a:extLst>
          </p:cNvPr>
          <p:cNvSpPr txBox="1"/>
          <p:nvPr/>
        </p:nvSpPr>
        <p:spPr>
          <a:xfrm>
            <a:off x="2043236" y="2308930"/>
            <a:ext cx="302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Non-Conservative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F0329-0CFD-A46A-E210-99311854AAF7}"/>
              </a:ext>
            </a:extLst>
          </p:cNvPr>
          <p:cNvSpPr txBox="1"/>
          <p:nvPr/>
        </p:nvSpPr>
        <p:spPr>
          <a:xfrm>
            <a:off x="583287" y="2868944"/>
            <a:ext cx="2369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 do not Follow </a:t>
            </a:r>
            <a:endParaRPr lang="en-IN" sz="28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E2915-AACE-9D65-EFC8-84286F1142E1}"/>
              </a:ext>
            </a:extLst>
          </p:cNvPr>
          <p:cNvSpPr txBox="1"/>
          <p:nvPr/>
        </p:nvSpPr>
        <p:spPr>
          <a:xfrm>
            <a:off x="1980144" y="3491548"/>
            <a:ext cx="2369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Non- central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95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086E-2CAD-5FE8-EB32-DB4101447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2">
            <a:extLst>
              <a:ext uri="{FF2B5EF4-FFF2-40B4-BE49-F238E27FC236}">
                <a16:creationId xmlns:a16="http://schemas.microsoft.com/office/drawing/2014/main" id="{3EDCC0B9-5FC3-F973-AA62-A791D28DAFE2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64489-6F58-FE4C-FACB-B2A4CF718C48}"/>
              </a:ext>
            </a:extLst>
          </p:cNvPr>
          <p:cNvSpPr txBox="1"/>
          <p:nvPr/>
        </p:nvSpPr>
        <p:spPr>
          <a:xfrm>
            <a:off x="371062" y="261468"/>
            <a:ext cx="6952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Nuclear force :Strength comparison </a:t>
            </a:r>
          </a:p>
        </p:txBody>
      </p:sp>
      <p:pic>
        <p:nvPicPr>
          <p:cNvPr id="15" name="Picture 14" descr="Atomic GIF">
            <a:extLst>
              <a:ext uri="{FF2B5EF4-FFF2-40B4-BE49-F238E27FC236}">
                <a16:creationId xmlns:a16="http://schemas.microsoft.com/office/drawing/2014/main" id="{C207E8D7-0B27-9F40-A0EA-4072C648B7F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7" t="31009" r="39878" b="33559"/>
          <a:stretch>
            <a:fillRect/>
          </a:stretch>
        </p:blipFill>
        <p:spPr bwMode="auto">
          <a:xfrm>
            <a:off x="789555" y="1309343"/>
            <a:ext cx="1189882" cy="1189882"/>
          </a:xfrm>
          <a:custGeom>
            <a:avLst/>
            <a:gdLst>
              <a:gd name="connsiteX0" fmla="*/ 1193163 w 2386326"/>
              <a:gd name="connsiteY0" fmla="*/ 0 h 2386326"/>
              <a:gd name="connsiteX1" fmla="*/ 2386326 w 2386326"/>
              <a:gd name="connsiteY1" fmla="*/ 1193163 h 2386326"/>
              <a:gd name="connsiteX2" fmla="*/ 1193163 w 2386326"/>
              <a:gd name="connsiteY2" fmla="*/ 2386326 h 2386326"/>
              <a:gd name="connsiteX3" fmla="*/ 0 w 2386326"/>
              <a:gd name="connsiteY3" fmla="*/ 1193163 h 2386326"/>
              <a:gd name="connsiteX4" fmla="*/ 1193163 w 2386326"/>
              <a:gd name="connsiteY4" fmla="*/ 0 h 238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326" h="2386326">
                <a:moveTo>
                  <a:pt x="1193163" y="0"/>
                </a:moveTo>
                <a:cubicBezTo>
                  <a:pt x="1852129" y="0"/>
                  <a:pt x="2386326" y="534197"/>
                  <a:pt x="2386326" y="1193163"/>
                </a:cubicBezTo>
                <a:cubicBezTo>
                  <a:pt x="2386326" y="1852129"/>
                  <a:pt x="1852129" y="2386326"/>
                  <a:pt x="1193163" y="2386326"/>
                </a:cubicBezTo>
                <a:cubicBezTo>
                  <a:pt x="534197" y="2386326"/>
                  <a:pt x="0" y="1852129"/>
                  <a:pt x="0" y="1193163"/>
                </a:cubicBezTo>
                <a:cubicBezTo>
                  <a:pt x="0" y="534197"/>
                  <a:pt x="534197" y="0"/>
                  <a:pt x="1193163" y="0"/>
                </a:cubicBezTo>
                <a:close/>
              </a:path>
            </a:pathLst>
          </a:cu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472ACB-232E-2522-6546-E55A6E6A1915}"/>
              </a:ext>
            </a:extLst>
          </p:cNvPr>
          <p:cNvSpPr txBox="1"/>
          <p:nvPr/>
        </p:nvSpPr>
        <p:spPr>
          <a:xfrm>
            <a:off x="2536983" y="1200876"/>
            <a:ext cx="4002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Strong nuclear force is stronger than electromagnetic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00C54-C5D4-A3DE-31E6-4F89FE0B3594}"/>
              </a:ext>
            </a:extLst>
          </p:cNvPr>
          <p:cNvSpPr txBox="1"/>
          <p:nvPr/>
        </p:nvSpPr>
        <p:spPr>
          <a:xfrm>
            <a:off x="2536982" y="2893375"/>
            <a:ext cx="40027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Electromagnetic force is stronger than gravitational force</a:t>
            </a:r>
          </a:p>
        </p:txBody>
      </p:sp>
      <p:pic>
        <p:nvPicPr>
          <p:cNvPr id="1026" name="Picture 2" descr="Image result for plastic scale attracting paper bits gif">
            <a:extLst>
              <a:ext uri="{FF2B5EF4-FFF2-40B4-BE49-F238E27FC236}">
                <a16:creationId xmlns:a16="http://schemas.microsoft.com/office/drawing/2014/main" id="{D25CD0F5-575F-EBB7-A1BC-C78C8C155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26" y="3020894"/>
            <a:ext cx="1584380" cy="1188286"/>
          </a:xfrm>
          <a:prstGeom prst="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93849B-E094-F0A4-1E8D-1E1742E2A61F}"/>
              </a:ext>
            </a:extLst>
          </p:cNvPr>
          <p:cNvSpPr txBox="1"/>
          <p:nvPr/>
        </p:nvSpPr>
        <p:spPr>
          <a:xfrm>
            <a:off x="6931756" y="1767917"/>
            <a:ext cx="3263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Strong nuclear force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79696F-6E55-18C0-E171-C69983CB1C46}"/>
              </a:ext>
            </a:extLst>
          </p:cNvPr>
          <p:cNvSpPr txBox="1"/>
          <p:nvPr/>
        </p:nvSpPr>
        <p:spPr>
          <a:xfrm>
            <a:off x="6931757" y="2228359"/>
            <a:ext cx="3741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Electromagnetic Force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531C30-770E-A418-F6A3-CD266D53E2CC}"/>
              </a:ext>
            </a:extLst>
          </p:cNvPr>
          <p:cNvSpPr txBox="1"/>
          <p:nvPr/>
        </p:nvSpPr>
        <p:spPr>
          <a:xfrm>
            <a:off x="6931757" y="2688801"/>
            <a:ext cx="3065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Week nuclear force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9246B5-0356-5CC0-5E17-CBD8B7524C63}"/>
              </a:ext>
            </a:extLst>
          </p:cNvPr>
          <p:cNvSpPr txBox="1"/>
          <p:nvPr/>
        </p:nvSpPr>
        <p:spPr>
          <a:xfrm>
            <a:off x="6931757" y="3149243"/>
            <a:ext cx="3065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Gravitational Force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A86FC4-E9EC-A659-8459-2BE3C7D817D3}"/>
                  </a:ext>
                </a:extLst>
              </p:cNvPr>
              <p:cNvSpPr txBox="1"/>
              <p:nvPr/>
            </p:nvSpPr>
            <p:spPr>
              <a:xfrm>
                <a:off x="10673523" y="1767917"/>
                <a:ext cx="13711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A86FC4-E9EC-A659-8459-2BE3C7D81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23" y="1767917"/>
                <a:ext cx="13711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2DCAAF-C2B5-5A08-991C-9482586A329B}"/>
                  </a:ext>
                </a:extLst>
              </p:cNvPr>
              <p:cNvSpPr txBox="1"/>
              <p:nvPr/>
            </p:nvSpPr>
            <p:spPr>
              <a:xfrm>
                <a:off x="10673523" y="2228359"/>
                <a:ext cx="13711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2DCAAF-C2B5-5A08-991C-9482586A3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23" y="2228359"/>
                <a:ext cx="137119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253821-385D-5878-EE91-E15632C173FD}"/>
                  </a:ext>
                </a:extLst>
              </p:cNvPr>
              <p:cNvSpPr txBox="1"/>
              <p:nvPr/>
            </p:nvSpPr>
            <p:spPr>
              <a:xfrm>
                <a:off x="10673523" y="2688801"/>
                <a:ext cx="13711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253821-385D-5878-EE91-E15632C17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23" y="2688801"/>
                <a:ext cx="137119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5DCEDA-E56C-D879-BBDD-EFB98BAD511C}"/>
                  </a:ext>
                </a:extLst>
              </p:cNvPr>
              <p:cNvSpPr txBox="1"/>
              <p:nvPr/>
            </p:nvSpPr>
            <p:spPr>
              <a:xfrm>
                <a:off x="10673523" y="3149243"/>
                <a:ext cx="13711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−39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5DCEDA-E56C-D879-BBDD-EFB98BAD5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523" y="3149243"/>
                <a:ext cx="137119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57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22" grpId="0"/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800"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8F16D9-EB65-4F11-9CD9-58377B437CF8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71af3243-3dd4-4a8d-8c0d-dd76da1f02a5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103</TotalTime>
  <Words>799</Words>
  <Application>Microsoft Office PowerPoint</Application>
  <PresentationFormat>Widescreen</PresentationFormat>
  <Paragraphs>221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-apple-system</vt:lpstr>
      <vt:lpstr>Arial</vt:lpstr>
      <vt:lpstr>Calibri</vt:lpstr>
      <vt:lpstr>Cambria</vt:lpstr>
      <vt:lpstr>Cambria Math</vt:lpstr>
      <vt:lpstr>Georgia</vt:lpstr>
      <vt:lpstr>Google Sans</vt:lpstr>
      <vt:lpstr>Noto Sans Symbols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PW MSO 464</cp:lastModifiedBy>
  <cp:revision>11</cp:revision>
  <dcterms:created xsi:type="dcterms:W3CDTF">2021-05-20T11:59:18Z</dcterms:created>
  <dcterms:modified xsi:type="dcterms:W3CDTF">2025-10-21T11:14:29Z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